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
  </p:notesMasterIdLst>
  <p:sldIdLst>
    <p:sldId id="256" r:id="rId2"/>
    <p:sldId id="272" r:id="rId3"/>
    <p:sldId id="257" r:id="rId4"/>
    <p:sldId id="276" r:id="rId5"/>
    <p:sldId id="283" r:id="rId6"/>
    <p:sldId id="284"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181"/>
    <p:restoredTop sz="96327"/>
  </p:normalViewPr>
  <p:slideViewPr>
    <p:cSldViewPr snapToGrid="0" snapToObjects="1">
      <p:cViewPr varScale="1">
        <p:scale>
          <a:sx n="142" d="100"/>
          <a:sy n="142" d="100"/>
        </p:scale>
        <p:origin x="192" y="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961E11-A2AF-3244-9DFE-CCD192E91CCF}" type="datetimeFigureOut">
              <a:rPr lang="en-US" smtClean="0"/>
              <a:t>8/1/22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3A71C9-F7EA-CC49-96B9-A2A67A60BD9E}" type="slidenum">
              <a:rPr lang="en-US" smtClean="0"/>
              <a:t>‹#›</a:t>
            </a:fld>
            <a:endParaRPr lang="en-US"/>
          </a:p>
        </p:txBody>
      </p:sp>
    </p:spTree>
    <p:extLst>
      <p:ext uri="{BB962C8B-B14F-4D97-AF65-F5344CB8AC3E}">
        <p14:creationId xmlns:p14="http://schemas.microsoft.com/office/powerpoint/2010/main" val="445423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05B5F8-A23E-C543-BE65-E24A6735046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3291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05B5F8-A23E-C543-BE65-E24A6735046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4935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05B5F8-A23E-C543-BE65-E24A6735046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7794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48A87A34-81AB-432B-8DAE-1953F412C126}" type="datetimeFigureOut">
              <a:rPr lang="en-US" dirty="0"/>
              <a:pPr/>
              <a:t>8/1/22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8/1/22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dirty="0"/>
              <a:t>8/1/22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dirty="0"/>
              <a:t>8/1/22</a:t>
            </a:fld>
            <a:endParaRPr lang="en-US" dirty="0"/>
          </a:p>
        </p:txBody>
      </p:sp>
      <p:sp>
        <p:nvSpPr>
          <p:cNvPr id="6" name="Footer Placeholder 5"/>
          <p:cNvSpPr>
            <a:spLocks noGrp="1"/>
          </p:cNvSpPr>
          <p:nvPr>
            <p:ph type="ftr" sz="quarter" idx="11"/>
          </p:nvPr>
        </p:nvSpPr>
        <p:spPr>
          <a:xfrm>
            <a:off x="804672" y="6227064"/>
            <a:ext cx="10588752" cy="320040"/>
          </a:xfrm>
        </p:spPr>
        <p:txBody>
          <a:bodyPr/>
          <a:lstStyle/>
          <a:p>
            <a:endParaRPr lang="en-US" dirty="0"/>
          </a:p>
        </p:txBody>
      </p:sp>
      <p:sp>
        <p:nvSpPr>
          <p:cNvPr id="7" name="Slide Number Placeholder 6"/>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48A87A34-81AB-432B-8DAE-1953F412C126}" type="datetimeFigureOut">
              <a:rPr lang="en-US" dirty="0"/>
              <a:t>8/1/22</a:t>
            </a:fld>
            <a:endParaRPr lang="en-US" dirty="0"/>
          </a:p>
        </p:txBody>
      </p:sp>
      <p:sp>
        <p:nvSpPr>
          <p:cNvPr id="8" name="Footer Placeholder 7"/>
          <p:cNvSpPr>
            <a:spLocks noGrp="1"/>
          </p:cNvSpPr>
          <p:nvPr>
            <p:ph type="ftr" sz="quarter" idx="11"/>
          </p:nvPr>
        </p:nvSpPr>
        <p:spPr>
          <a:xfrm>
            <a:off x="804672" y="6227064"/>
            <a:ext cx="10588752" cy="320040"/>
          </a:xfrm>
        </p:spPr>
        <p:txBody>
          <a:bodyPr/>
          <a:lstStyle/>
          <a:p>
            <a:endParaRPr lang="en-US" dirty="0"/>
          </a:p>
        </p:txBody>
      </p:sp>
      <p:sp>
        <p:nvSpPr>
          <p:cNvPr id="9" name="Slide Number Placeholder 8"/>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8/1/22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48A87A34-81AB-432B-8DAE-1953F412C126}" type="datetimeFigureOut">
              <a:rPr lang="en-US" dirty="0"/>
              <a:t>8/1/22</a:t>
            </a:fld>
            <a:endParaRPr lang="en-US" dirty="0"/>
          </a:p>
        </p:txBody>
      </p:sp>
      <p:sp>
        <p:nvSpPr>
          <p:cNvPr id="3" name="Footer Placeholder 2"/>
          <p:cNvSpPr>
            <a:spLocks noGrp="1"/>
          </p:cNvSpPr>
          <p:nvPr>
            <p:ph type="ftr" sz="quarter" idx="11"/>
          </p:nvPr>
        </p:nvSpPr>
        <p:spPr>
          <a:xfrm>
            <a:off x="804672" y="6227064"/>
            <a:ext cx="10588752" cy="320040"/>
          </a:xfrm>
        </p:spPr>
        <p:txBody>
          <a:bodyPr/>
          <a:lstStyle/>
          <a:p>
            <a:endParaRPr lang="en-US" dirty="0"/>
          </a:p>
        </p:txBody>
      </p:sp>
      <p:sp>
        <p:nvSpPr>
          <p:cNvPr id="4" name="Slide Number Placeholder 3"/>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dirty="0"/>
              <a:t>8/1/22</a:t>
            </a:fld>
            <a:endParaRPr lang="en-US" dirty="0"/>
          </a:p>
        </p:txBody>
      </p:sp>
      <p:sp>
        <p:nvSpPr>
          <p:cNvPr id="6" name="Footer Placeholder 5"/>
          <p:cNvSpPr>
            <a:spLocks noGrp="1"/>
          </p:cNvSpPr>
          <p:nvPr>
            <p:ph type="ftr" sz="quarter" idx="11"/>
          </p:nvPr>
        </p:nvSpPr>
        <p:spPr>
          <a:xfrm>
            <a:off x="804672" y="6227064"/>
            <a:ext cx="5942203" cy="320040"/>
          </a:xfrm>
        </p:spPr>
        <p:txBody>
          <a:bodyPr/>
          <a:lstStyle/>
          <a:p>
            <a:endParaRPr lang="en-US" dirty="0"/>
          </a:p>
        </p:txBody>
      </p:sp>
      <p:sp>
        <p:nvSpPr>
          <p:cNvPr id="7" name="Slide Number Placeholder 6"/>
          <p:cNvSpPr>
            <a:spLocks noGrp="1"/>
          </p:cNvSpPr>
          <p:nvPr>
            <p:ph type="sldNum" sz="quarter" idx="12"/>
          </p:nvPr>
        </p:nvSpPr>
        <p:spPr>
          <a:xfrm>
            <a:off x="5828377"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8/1/22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dirty="0"/>
              <a:t>8/1/22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AAAB0A5-7A88-2442-8C47-45852DBCFA85}"/>
              </a:ext>
            </a:extLst>
          </p:cNvPr>
          <p:cNvPicPr>
            <a:picLocks noChangeAspect="1"/>
          </p:cNvPicPr>
          <p:nvPr userDrawn="1"/>
        </p:nvPicPr>
        <p:blipFill>
          <a:blip r:embed="rId2"/>
          <a:stretch>
            <a:fillRect/>
          </a:stretch>
        </p:blipFill>
        <p:spPr>
          <a:xfrm>
            <a:off x="29817" y="-230670"/>
            <a:ext cx="738121" cy="7406640"/>
          </a:xfrm>
          <a:prstGeom prst="rect">
            <a:avLst/>
          </a:prstGeom>
        </p:spPr>
      </p:pic>
      <p:sp>
        <p:nvSpPr>
          <p:cNvPr id="14" name="Slide Number Placeholder 13">
            <a:extLst>
              <a:ext uri="{FF2B5EF4-FFF2-40B4-BE49-F238E27FC236}">
                <a16:creationId xmlns:a16="http://schemas.microsoft.com/office/drawing/2014/main" id="{479B4C1F-5A1F-964A-8210-EADD37C64E14}"/>
              </a:ext>
            </a:extLst>
          </p:cNvPr>
          <p:cNvSpPr>
            <a:spLocks noGrp="1"/>
          </p:cNvSpPr>
          <p:nvPr>
            <p:ph type="sldNum" sz="quarter" idx="10"/>
          </p:nvPr>
        </p:nvSpPr>
        <p:spPr/>
        <p:txBody>
          <a:bodyPr/>
          <a:lstStyle/>
          <a:p>
            <a:fld id="{2785879E-F879-EB4E-BB00-D936592386CB}" type="slidenum">
              <a:rPr lang="en-US" smtClean="0"/>
              <a:pPr/>
              <a:t>‹#›</a:t>
            </a:fld>
            <a:endParaRPr lang="en-US"/>
          </a:p>
        </p:txBody>
      </p:sp>
      <p:sp>
        <p:nvSpPr>
          <p:cNvPr id="16" name="Title 15">
            <a:extLst>
              <a:ext uri="{FF2B5EF4-FFF2-40B4-BE49-F238E27FC236}">
                <a16:creationId xmlns:a16="http://schemas.microsoft.com/office/drawing/2014/main" id="{1D1BE1E0-B0C5-DF41-9ED2-625E40BEBC64}"/>
              </a:ext>
            </a:extLst>
          </p:cNvPr>
          <p:cNvSpPr>
            <a:spLocks noGrp="1"/>
          </p:cNvSpPr>
          <p:nvPr>
            <p:ph type="title" hasCustomPrompt="1"/>
          </p:nvPr>
        </p:nvSpPr>
        <p:spPr/>
        <p:txBody>
          <a:bodyPr/>
          <a:lstStyle/>
          <a:p>
            <a:r>
              <a:rPr lang="en-US"/>
              <a:t>Content Slide</a:t>
            </a:r>
          </a:p>
        </p:txBody>
      </p:sp>
      <p:sp>
        <p:nvSpPr>
          <p:cNvPr id="20" name="Text Placeholder 19">
            <a:extLst>
              <a:ext uri="{FF2B5EF4-FFF2-40B4-BE49-F238E27FC236}">
                <a16:creationId xmlns:a16="http://schemas.microsoft.com/office/drawing/2014/main" id="{6CE4AC78-6603-C446-9BD6-6B57161D4558}"/>
              </a:ext>
            </a:extLst>
          </p:cNvPr>
          <p:cNvSpPr>
            <a:spLocks noGrp="1"/>
          </p:cNvSpPr>
          <p:nvPr>
            <p:ph type="body" sz="quarter" idx="11"/>
          </p:nvPr>
        </p:nvSpPr>
        <p:spPr>
          <a:xfrm>
            <a:off x="950026" y="1341438"/>
            <a:ext cx="10711749" cy="4703762"/>
          </a:xfrm>
        </p:spPr>
        <p:txBody>
          <a:bodyPr/>
          <a:lstStyle>
            <a:lvl1pPr indent="-182880">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136361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AAAB0A5-7A88-2442-8C47-45852DBCFA85}"/>
              </a:ext>
            </a:extLst>
          </p:cNvPr>
          <p:cNvPicPr>
            <a:picLocks noChangeAspect="1"/>
          </p:cNvPicPr>
          <p:nvPr userDrawn="1"/>
        </p:nvPicPr>
        <p:blipFill>
          <a:blip r:embed="rId2"/>
          <a:stretch>
            <a:fillRect/>
          </a:stretch>
        </p:blipFill>
        <p:spPr>
          <a:xfrm>
            <a:off x="29817" y="-230670"/>
            <a:ext cx="738121" cy="7406640"/>
          </a:xfrm>
          <a:prstGeom prst="rect">
            <a:avLst/>
          </a:prstGeom>
        </p:spPr>
      </p:pic>
      <p:sp>
        <p:nvSpPr>
          <p:cNvPr id="14" name="Slide Number Placeholder 13">
            <a:extLst>
              <a:ext uri="{FF2B5EF4-FFF2-40B4-BE49-F238E27FC236}">
                <a16:creationId xmlns:a16="http://schemas.microsoft.com/office/drawing/2014/main" id="{479B4C1F-5A1F-964A-8210-EADD37C64E14}"/>
              </a:ext>
            </a:extLst>
          </p:cNvPr>
          <p:cNvSpPr>
            <a:spLocks noGrp="1"/>
          </p:cNvSpPr>
          <p:nvPr>
            <p:ph type="sldNum" sz="quarter" idx="10"/>
          </p:nvPr>
        </p:nvSpPr>
        <p:spPr/>
        <p:txBody>
          <a:bodyPr/>
          <a:lstStyle/>
          <a:p>
            <a:fld id="{2785879E-F879-EB4E-BB00-D936592386CB}" type="slidenum">
              <a:rPr lang="en-US" smtClean="0"/>
              <a:pPr/>
              <a:t>‹#›</a:t>
            </a:fld>
            <a:endParaRPr lang="en-US"/>
          </a:p>
        </p:txBody>
      </p:sp>
      <p:sp>
        <p:nvSpPr>
          <p:cNvPr id="16" name="Title 15">
            <a:extLst>
              <a:ext uri="{FF2B5EF4-FFF2-40B4-BE49-F238E27FC236}">
                <a16:creationId xmlns:a16="http://schemas.microsoft.com/office/drawing/2014/main" id="{1D1BE1E0-B0C5-DF41-9ED2-625E40BEBC64}"/>
              </a:ext>
            </a:extLst>
          </p:cNvPr>
          <p:cNvSpPr>
            <a:spLocks noGrp="1"/>
          </p:cNvSpPr>
          <p:nvPr>
            <p:ph type="title" hasCustomPrompt="1"/>
          </p:nvPr>
        </p:nvSpPr>
        <p:spPr/>
        <p:txBody>
          <a:bodyPr/>
          <a:lstStyle/>
          <a:p>
            <a:r>
              <a:rPr lang="en-US"/>
              <a:t>Content Slide</a:t>
            </a:r>
          </a:p>
        </p:txBody>
      </p:sp>
      <p:sp>
        <p:nvSpPr>
          <p:cNvPr id="20" name="Text Placeholder 19">
            <a:extLst>
              <a:ext uri="{FF2B5EF4-FFF2-40B4-BE49-F238E27FC236}">
                <a16:creationId xmlns:a16="http://schemas.microsoft.com/office/drawing/2014/main" id="{6CE4AC78-6603-C446-9BD6-6B57161D4558}"/>
              </a:ext>
            </a:extLst>
          </p:cNvPr>
          <p:cNvSpPr>
            <a:spLocks noGrp="1"/>
          </p:cNvSpPr>
          <p:nvPr>
            <p:ph type="body" sz="quarter" idx="11"/>
          </p:nvPr>
        </p:nvSpPr>
        <p:spPr>
          <a:xfrm>
            <a:off x="950026" y="1341438"/>
            <a:ext cx="10711749" cy="4703762"/>
          </a:xfrm>
        </p:spPr>
        <p:txBody>
          <a:bodyPr/>
          <a:lstStyle>
            <a:lvl1pPr indent="-182880">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522677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AAAB0A5-7A88-2442-8C47-45852DBCFA85}"/>
              </a:ext>
            </a:extLst>
          </p:cNvPr>
          <p:cNvPicPr>
            <a:picLocks noChangeAspect="1"/>
          </p:cNvPicPr>
          <p:nvPr userDrawn="1"/>
        </p:nvPicPr>
        <p:blipFill>
          <a:blip r:embed="rId2"/>
          <a:stretch>
            <a:fillRect/>
          </a:stretch>
        </p:blipFill>
        <p:spPr>
          <a:xfrm>
            <a:off x="29817" y="-230670"/>
            <a:ext cx="738121" cy="7406640"/>
          </a:xfrm>
          <a:prstGeom prst="rect">
            <a:avLst/>
          </a:prstGeom>
        </p:spPr>
      </p:pic>
      <p:sp>
        <p:nvSpPr>
          <p:cNvPr id="14" name="Slide Number Placeholder 13">
            <a:extLst>
              <a:ext uri="{FF2B5EF4-FFF2-40B4-BE49-F238E27FC236}">
                <a16:creationId xmlns:a16="http://schemas.microsoft.com/office/drawing/2014/main" id="{479B4C1F-5A1F-964A-8210-EADD37C64E14}"/>
              </a:ext>
            </a:extLst>
          </p:cNvPr>
          <p:cNvSpPr>
            <a:spLocks noGrp="1"/>
          </p:cNvSpPr>
          <p:nvPr>
            <p:ph type="sldNum" sz="quarter" idx="10"/>
          </p:nvPr>
        </p:nvSpPr>
        <p:spPr/>
        <p:txBody>
          <a:bodyPr/>
          <a:lstStyle/>
          <a:p>
            <a:fld id="{2785879E-F879-EB4E-BB00-D936592386CB}" type="slidenum">
              <a:rPr lang="en-US" smtClean="0"/>
              <a:pPr/>
              <a:t>‹#›</a:t>
            </a:fld>
            <a:endParaRPr lang="en-US"/>
          </a:p>
        </p:txBody>
      </p:sp>
      <p:sp>
        <p:nvSpPr>
          <p:cNvPr id="16" name="Title 15">
            <a:extLst>
              <a:ext uri="{FF2B5EF4-FFF2-40B4-BE49-F238E27FC236}">
                <a16:creationId xmlns:a16="http://schemas.microsoft.com/office/drawing/2014/main" id="{1D1BE1E0-B0C5-DF41-9ED2-625E40BEBC64}"/>
              </a:ext>
            </a:extLst>
          </p:cNvPr>
          <p:cNvSpPr>
            <a:spLocks noGrp="1"/>
          </p:cNvSpPr>
          <p:nvPr>
            <p:ph type="title" hasCustomPrompt="1"/>
          </p:nvPr>
        </p:nvSpPr>
        <p:spPr/>
        <p:txBody>
          <a:bodyPr/>
          <a:lstStyle/>
          <a:p>
            <a:r>
              <a:rPr lang="en-US"/>
              <a:t>Content Slide</a:t>
            </a:r>
          </a:p>
        </p:txBody>
      </p:sp>
      <p:sp>
        <p:nvSpPr>
          <p:cNvPr id="20" name="Text Placeholder 19">
            <a:extLst>
              <a:ext uri="{FF2B5EF4-FFF2-40B4-BE49-F238E27FC236}">
                <a16:creationId xmlns:a16="http://schemas.microsoft.com/office/drawing/2014/main" id="{6CE4AC78-6603-C446-9BD6-6B57161D4558}"/>
              </a:ext>
            </a:extLst>
          </p:cNvPr>
          <p:cNvSpPr>
            <a:spLocks noGrp="1"/>
          </p:cNvSpPr>
          <p:nvPr>
            <p:ph type="body" sz="quarter" idx="11"/>
          </p:nvPr>
        </p:nvSpPr>
        <p:spPr>
          <a:xfrm>
            <a:off x="950026" y="1341438"/>
            <a:ext cx="10711749" cy="4703762"/>
          </a:xfrm>
        </p:spPr>
        <p:txBody>
          <a:bodyPr/>
          <a:lstStyle>
            <a:lvl1pPr indent="-182880">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60785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48A87A34-81AB-432B-8DAE-1953F412C126}" type="datetimeFigureOut">
              <a:rPr lang="en-US" dirty="0"/>
              <a:pPr/>
              <a:t>8/1/22</a:t>
            </a:fld>
            <a:endParaRPr lang="en-US" dirty="0"/>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tiff"/><Relationship Id="rId13" Type="http://schemas.openxmlformats.org/officeDocument/2006/relationships/image" Target="../media/image13.png"/><Relationship Id="rId3" Type="http://schemas.openxmlformats.org/officeDocument/2006/relationships/image" Target="../media/image3.jpe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C550C-63AC-B62A-1182-04AB0AAF9ACD}"/>
              </a:ext>
            </a:extLst>
          </p:cNvPr>
          <p:cNvSpPr>
            <a:spLocks noGrp="1"/>
          </p:cNvSpPr>
          <p:nvPr>
            <p:ph type="ctrTitle"/>
          </p:nvPr>
        </p:nvSpPr>
        <p:spPr/>
        <p:txBody>
          <a:bodyPr/>
          <a:lstStyle/>
          <a:p>
            <a:r>
              <a:rPr lang="en-US" dirty="0"/>
              <a:t>Axon</a:t>
            </a:r>
          </a:p>
        </p:txBody>
      </p:sp>
      <p:sp>
        <p:nvSpPr>
          <p:cNvPr id="3" name="Subtitle 2">
            <a:extLst>
              <a:ext uri="{FF2B5EF4-FFF2-40B4-BE49-F238E27FC236}">
                <a16:creationId xmlns:a16="http://schemas.microsoft.com/office/drawing/2014/main" id="{CD91D2BB-59FC-82D8-0C56-66735FC55D4F}"/>
              </a:ext>
            </a:extLst>
          </p:cNvPr>
          <p:cNvSpPr>
            <a:spLocks noGrp="1"/>
          </p:cNvSpPr>
          <p:nvPr>
            <p:ph type="subTitle" idx="1"/>
          </p:nvPr>
        </p:nvSpPr>
        <p:spPr/>
        <p:txBody>
          <a:bodyPr/>
          <a:lstStyle/>
          <a:p>
            <a:endParaRPr lang="en-US" dirty="0"/>
          </a:p>
        </p:txBody>
      </p:sp>
      <p:pic>
        <p:nvPicPr>
          <p:cNvPr id="6" name="Picture 5">
            <a:extLst>
              <a:ext uri="{FF2B5EF4-FFF2-40B4-BE49-F238E27FC236}">
                <a16:creationId xmlns:a16="http://schemas.microsoft.com/office/drawing/2014/main" id="{4B33C2F2-5071-927B-C845-C2EBEE47059B}"/>
              </a:ext>
            </a:extLst>
          </p:cNvPr>
          <p:cNvPicPr>
            <a:picLocks noChangeAspect="1"/>
          </p:cNvPicPr>
          <p:nvPr/>
        </p:nvPicPr>
        <p:blipFill>
          <a:blip r:embed="rId2"/>
          <a:stretch>
            <a:fillRect/>
          </a:stretch>
        </p:blipFill>
        <p:spPr>
          <a:xfrm>
            <a:off x="1602202" y="80762"/>
            <a:ext cx="8943877" cy="3153349"/>
          </a:xfrm>
          <a:prstGeom prst="rect">
            <a:avLst/>
          </a:prstGeom>
        </p:spPr>
      </p:pic>
    </p:spTree>
    <p:extLst>
      <p:ext uri="{BB962C8B-B14F-4D97-AF65-F5344CB8AC3E}">
        <p14:creationId xmlns:p14="http://schemas.microsoft.com/office/powerpoint/2010/main" val="1020182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3832225" y="26971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 name="TextBox 4"/>
          <p:cNvSpPr txBox="1"/>
          <p:nvPr/>
        </p:nvSpPr>
        <p:spPr>
          <a:xfrm>
            <a:off x="838200" y="1045115"/>
            <a:ext cx="11037277" cy="1138773"/>
          </a:xfrm>
          <a:prstGeom prst="rect">
            <a:avLst/>
          </a:prstGeom>
          <a:noFill/>
        </p:spPr>
        <p:txBody>
          <a:bodyPr wrap="square" rtlCol="0">
            <a:spAutoFit/>
          </a:bodyPr>
          <a:lstStyle/>
          <a:p>
            <a:r>
              <a:rPr lang="en-US" sz="1400" dirty="0"/>
              <a:t>Axon is a platform aggregation layer that provides datasets and key real time fulfillment metrics to tenants and consumers to drive Fulfillment operations. </a:t>
            </a:r>
          </a:p>
          <a:p>
            <a:endParaRPr lang="en-US" sz="1400" dirty="0"/>
          </a:p>
          <a:p>
            <a:pPr marL="742950" lvl="1" indent="-285750">
              <a:buFont typeface="Arial" panose="020B0604020202020204" pitchFamily="34" charset="0"/>
              <a:buChar char="•"/>
            </a:pPr>
            <a:r>
              <a:rPr lang="en-US" sz="1400" dirty="0"/>
              <a:t>Axon consumes data from multiple sources to enable specific views or use cases for store level and aggregated data points. </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9" name="Title 1">
            <a:extLst>
              <a:ext uri="{FF2B5EF4-FFF2-40B4-BE49-F238E27FC236}">
                <a16:creationId xmlns:a16="http://schemas.microsoft.com/office/drawing/2014/main" id="{C815DAE8-1AB0-5548-932C-3B207D575474}"/>
              </a:ext>
            </a:extLst>
          </p:cNvPr>
          <p:cNvSpPr>
            <a:spLocks noGrp="1"/>
          </p:cNvSpPr>
          <p:nvPr>
            <p:ph type="title"/>
          </p:nvPr>
        </p:nvSpPr>
        <p:spPr>
          <a:xfrm>
            <a:off x="838200" y="531925"/>
            <a:ext cx="10823712" cy="430005"/>
          </a:xfrm>
        </p:spPr>
        <p:txBody>
          <a:bodyPr>
            <a:normAutofit fontScale="90000"/>
          </a:bodyPr>
          <a:lstStyle/>
          <a:p>
            <a:r>
              <a:rPr lang="en-US" dirty="0"/>
              <a:t>What is Axon?</a:t>
            </a:r>
          </a:p>
        </p:txBody>
      </p:sp>
      <p:grpSp>
        <p:nvGrpSpPr>
          <p:cNvPr id="11" name="Group 10"/>
          <p:cNvGrpSpPr/>
          <p:nvPr/>
        </p:nvGrpSpPr>
        <p:grpSpPr>
          <a:xfrm>
            <a:off x="947548" y="2136729"/>
            <a:ext cx="10395877" cy="4575380"/>
            <a:chOff x="947548" y="2136729"/>
            <a:chExt cx="10395877" cy="4575380"/>
          </a:xfrm>
        </p:grpSpPr>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57742" y="3751866"/>
              <a:ext cx="2384628" cy="1162129"/>
            </a:xfrm>
            <a:prstGeom prst="rect">
              <a:avLst/>
            </a:prstGeom>
          </p:spPr>
        </p:pic>
        <p:cxnSp>
          <p:nvCxnSpPr>
            <p:cNvPr id="8" name="Straight Arrow Connector 7"/>
            <p:cNvCxnSpPr/>
            <p:nvPr/>
          </p:nvCxnSpPr>
          <p:spPr>
            <a:xfrm flipV="1">
              <a:off x="7742565" y="3274883"/>
              <a:ext cx="1137797" cy="49353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7736703" y="4013263"/>
              <a:ext cx="2462374" cy="16084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7743539" y="4722947"/>
              <a:ext cx="2592653" cy="61044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0434533" y="3461557"/>
              <a:ext cx="786667" cy="978665"/>
              <a:chOff x="9741205" y="2708351"/>
              <a:chExt cx="1154593" cy="1478328"/>
            </a:xfrm>
          </p:grpSpPr>
          <p:pic>
            <p:nvPicPr>
              <p:cNvPr id="20" name="Picture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741205" y="2708351"/>
                <a:ext cx="1071964" cy="1071964"/>
              </a:xfrm>
              <a:prstGeom prst="rect">
                <a:avLst/>
              </a:prstGeom>
            </p:spPr>
          </p:pic>
          <p:sp>
            <p:nvSpPr>
              <p:cNvPr id="21" name="TextBox 20"/>
              <p:cNvSpPr txBox="1"/>
              <p:nvPr/>
            </p:nvSpPr>
            <p:spPr>
              <a:xfrm>
                <a:off x="9741205" y="3791503"/>
                <a:ext cx="1154593" cy="395176"/>
              </a:xfrm>
              <a:prstGeom prst="rect">
                <a:avLst/>
              </a:prstGeom>
              <a:noFill/>
            </p:spPr>
            <p:txBody>
              <a:bodyPr wrap="square" rtlCol="0">
                <a:spAutoFit/>
              </a:bodyPr>
              <a:lstStyle/>
              <a:p>
                <a:pPr algn="ctr"/>
                <a:r>
                  <a:rPr lang="en-US" sz="1100" dirty="0"/>
                  <a:t>Houston</a:t>
                </a:r>
              </a:p>
            </p:txBody>
          </p:sp>
        </p:grpSp>
        <p:grpSp>
          <p:nvGrpSpPr>
            <p:cNvPr id="25" name="Group 24"/>
            <p:cNvGrpSpPr/>
            <p:nvPr/>
          </p:nvGrpSpPr>
          <p:grpSpPr>
            <a:xfrm>
              <a:off x="9049386" y="2688869"/>
              <a:ext cx="773723" cy="1045727"/>
              <a:chOff x="9611907" y="686605"/>
              <a:chExt cx="1078600" cy="1558120"/>
            </a:xfrm>
          </p:grpSpPr>
          <p:pic>
            <p:nvPicPr>
              <p:cNvPr id="26" name="Picture 5" descr="A picture containing text, clock, gauge, close&#10;&#10;Description automatically generated">
                <a:extLst>
                  <a:ext uri="{FF2B5EF4-FFF2-40B4-BE49-F238E27FC236}">
                    <a16:creationId xmlns:a16="http://schemas.microsoft.com/office/drawing/2014/main" id="{3E06F00C-6584-4C7C-90EA-AA92A410EFDB}"/>
                  </a:ext>
                </a:extLst>
              </p:cNvPr>
              <p:cNvPicPr>
                <a:picLocks noChangeAspect="1"/>
              </p:cNvPicPr>
              <p:nvPr/>
            </p:nvPicPr>
            <p:blipFill>
              <a:blip r:embed="rId5"/>
              <a:stretch>
                <a:fillRect/>
              </a:stretch>
            </p:blipFill>
            <p:spPr>
              <a:xfrm>
                <a:off x="9611907" y="686605"/>
                <a:ext cx="1078600" cy="1071964"/>
              </a:xfrm>
              <a:prstGeom prst="rect">
                <a:avLst/>
              </a:prstGeom>
            </p:spPr>
          </p:pic>
          <p:sp>
            <p:nvSpPr>
              <p:cNvPr id="27" name="TextBox 26">
                <a:extLst>
                  <a:ext uri="{FF2B5EF4-FFF2-40B4-BE49-F238E27FC236}">
                    <a16:creationId xmlns:a16="http://schemas.microsoft.com/office/drawing/2014/main" id="{CB6117AC-C50F-4D93-894E-C587CD0F9688}"/>
                  </a:ext>
                </a:extLst>
              </p:cNvPr>
              <p:cNvSpPr txBox="1"/>
              <p:nvPr/>
            </p:nvSpPr>
            <p:spPr>
              <a:xfrm>
                <a:off x="9703587" y="1823884"/>
                <a:ext cx="895241" cy="4208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100" dirty="0"/>
                  <a:t>MPM</a:t>
                </a:r>
              </a:p>
            </p:txBody>
          </p:sp>
        </p:grpSp>
        <p:grpSp>
          <p:nvGrpSpPr>
            <p:cNvPr id="32" name="Group 31"/>
            <p:cNvGrpSpPr/>
            <p:nvPr/>
          </p:nvGrpSpPr>
          <p:grpSpPr>
            <a:xfrm>
              <a:off x="3419359" y="2255013"/>
              <a:ext cx="741289" cy="922959"/>
              <a:chOff x="1338300" y="3135758"/>
              <a:chExt cx="982431" cy="1371050"/>
            </a:xfrm>
          </p:grpSpPr>
          <p:pic>
            <p:nvPicPr>
              <p:cNvPr id="33" name="Picture 32">
                <a:extLst>
                  <a:ext uri="{FF2B5EF4-FFF2-40B4-BE49-F238E27FC236}">
                    <a16:creationId xmlns:a16="http://schemas.microsoft.com/office/drawing/2014/main" id="{2D54D7D4-CFB8-1A44-89DD-5D2E7E19622F}"/>
                  </a:ext>
                </a:extLst>
              </p:cNvPr>
              <p:cNvPicPr>
                <a:picLocks noChangeAspect="1"/>
              </p:cNvPicPr>
              <p:nvPr/>
            </p:nvPicPr>
            <p:blipFill>
              <a:blip r:embed="rId6"/>
              <a:stretch>
                <a:fillRect/>
              </a:stretch>
            </p:blipFill>
            <p:spPr>
              <a:xfrm>
                <a:off x="1338300" y="3135758"/>
                <a:ext cx="982431" cy="982430"/>
              </a:xfrm>
              <a:prstGeom prst="rect">
                <a:avLst/>
              </a:prstGeom>
            </p:spPr>
          </p:pic>
          <p:sp>
            <p:nvSpPr>
              <p:cNvPr id="34" name="TextBox 33">
                <a:extLst>
                  <a:ext uri="{FF2B5EF4-FFF2-40B4-BE49-F238E27FC236}">
                    <a16:creationId xmlns:a16="http://schemas.microsoft.com/office/drawing/2014/main" id="{CB6117AC-C50F-4D93-894E-C587CD0F9688}"/>
                  </a:ext>
                </a:extLst>
              </p:cNvPr>
              <p:cNvSpPr txBox="1"/>
              <p:nvPr/>
            </p:nvSpPr>
            <p:spPr>
              <a:xfrm>
                <a:off x="1410426" y="4118188"/>
                <a:ext cx="895241" cy="3886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100" dirty="0"/>
                  <a:t>ePick</a:t>
                </a:r>
              </a:p>
            </p:txBody>
          </p:sp>
        </p:grpSp>
        <p:pic>
          <p:nvPicPr>
            <p:cNvPr id="35" name="Picture 34"/>
            <p:cNvPicPr>
              <a:picLocks noChangeAspect="1"/>
            </p:cNvPicPr>
            <p:nvPr/>
          </p:nvPicPr>
          <p:blipFill rotWithShape="1">
            <a:blip r:embed="rId7">
              <a:extLst>
                <a:ext uri="{28A0092B-C50C-407E-A947-70E740481C1C}">
                  <a14:useLocalDpi xmlns:a14="http://schemas.microsoft.com/office/drawing/2010/main" val="0"/>
                </a:ext>
              </a:extLst>
            </a:blip>
            <a:srcRect t="21120" b="21460"/>
            <a:stretch/>
          </p:blipFill>
          <p:spPr>
            <a:xfrm>
              <a:off x="1504872" y="2136729"/>
              <a:ext cx="1368994" cy="786066"/>
            </a:xfrm>
            <a:prstGeom prst="rect">
              <a:avLst/>
            </a:prstGeom>
          </p:spPr>
        </p:pic>
        <p:grpSp>
          <p:nvGrpSpPr>
            <p:cNvPr id="36" name="Group 35"/>
            <p:cNvGrpSpPr/>
            <p:nvPr/>
          </p:nvGrpSpPr>
          <p:grpSpPr>
            <a:xfrm>
              <a:off x="957927" y="5139620"/>
              <a:ext cx="1223622" cy="968930"/>
              <a:chOff x="13548888" y="3558628"/>
              <a:chExt cx="1223622" cy="968930"/>
            </a:xfrm>
          </p:grpSpPr>
          <p:pic>
            <p:nvPicPr>
              <p:cNvPr id="37" name="Picture 36">
                <a:extLst>
                  <a:ext uri="{FF2B5EF4-FFF2-40B4-BE49-F238E27FC236}">
                    <a16:creationId xmlns:a16="http://schemas.microsoft.com/office/drawing/2014/main" id="{2126E487-F0F2-2148-AE16-000DC0033155}"/>
                  </a:ext>
                </a:extLst>
              </p:cNvPr>
              <p:cNvPicPr>
                <a:picLocks noChangeAspect="1"/>
              </p:cNvPicPr>
              <p:nvPr/>
            </p:nvPicPr>
            <p:blipFill>
              <a:blip r:embed="rId8"/>
              <a:stretch>
                <a:fillRect/>
              </a:stretch>
            </p:blipFill>
            <p:spPr>
              <a:xfrm>
                <a:off x="13803383" y="3558628"/>
                <a:ext cx="728500" cy="728500"/>
              </a:xfrm>
              <a:prstGeom prst="rect">
                <a:avLst/>
              </a:prstGeom>
            </p:spPr>
          </p:pic>
          <p:sp>
            <p:nvSpPr>
              <p:cNvPr id="38" name="TextBox 37">
                <a:extLst>
                  <a:ext uri="{FF2B5EF4-FFF2-40B4-BE49-F238E27FC236}">
                    <a16:creationId xmlns:a16="http://schemas.microsoft.com/office/drawing/2014/main" id="{CB6117AC-C50F-4D93-894E-C587CD0F9688}"/>
                  </a:ext>
                </a:extLst>
              </p:cNvPr>
              <p:cNvSpPr txBox="1"/>
              <p:nvPr/>
            </p:nvSpPr>
            <p:spPr>
              <a:xfrm>
                <a:off x="13548888" y="4265948"/>
                <a:ext cx="1223622"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100" dirty="0"/>
                  <a:t>SPACE</a:t>
                </a:r>
              </a:p>
            </p:txBody>
          </p:sp>
        </p:grpSp>
        <p:pic>
          <p:nvPicPr>
            <p:cNvPr id="40" name="Picture 39"/>
            <p:cNvPicPr>
              <a:picLocks noChangeAspect="1"/>
            </p:cNvPicPr>
            <p:nvPr/>
          </p:nvPicPr>
          <p:blipFill rotWithShape="1">
            <a:blip r:embed="rId9"/>
            <a:srcRect t="8654" b="10577"/>
            <a:stretch/>
          </p:blipFill>
          <p:spPr>
            <a:xfrm>
              <a:off x="2481954" y="6273683"/>
              <a:ext cx="2397858" cy="399841"/>
            </a:xfrm>
            <a:prstGeom prst="rect">
              <a:avLst/>
            </a:prstGeom>
          </p:spPr>
        </p:pic>
        <p:grpSp>
          <p:nvGrpSpPr>
            <p:cNvPr id="45" name="Group 44"/>
            <p:cNvGrpSpPr/>
            <p:nvPr/>
          </p:nvGrpSpPr>
          <p:grpSpPr>
            <a:xfrm>
              <a:off x="2803676" y="5296386"/>
              <a:ext cx="1007855" cy="782380"/>
              <a:chOff x="2902356" y="4611819"/>
              <a:chExt cx="1007855" cy="782380"/>
            </a:xfrm>
          </p:grpSpPr>
          <p:pic>
            <p:nvPicPr>
              <p:cNvPr id="41" name="Picture 40"/>
              <p:cNvPicPr>
                <a:picLocks noChangeAspect="1"/>
              </p:cNvPicPr>
              <p:nvPr/>
            </p:nvPicPr>
            <p:blipFill rotWithShape="1">
              <a:blip r:embed="rId10"/>
              <a:srcRect t="7994"/>
              <a:stretch/>
            </p:blipFill>
            <p:spPr>
              <a:xfrm>
                <a:off x="2976231" y="4611819"/>
                <a:ext cx="855994" cy="609427"/>
              </a:xfrm>
              <a:prstGeom prst="rect">
                <a:avLst/>
              </a:prstGeom>
            </p:spPr>
          </p:pic>
          <p:sp>
            <p:nvSpPr>
              <p:cNvPr id="44" name="TextBox 43">
                <a:extLst>
                  <a:ext uri="{FF2B5EF4-FFF2-40B4-BE49-F238E27FC236}">
                    <a16:creationId xmlns:a16="http://schemas.microsoft.com/office/drawing/2014/main" id="{CB6117AC-C50F-4D93-894E-C587CD0F9688}"/>
                  </a:ext>
                </a:extLst>
              </p:cNvPr>
              <p:cNvSpPr txBox="1"/>
              <p:nvPr/>
            </p:nvSpPr>
            <p:spPr>
              <a:xfrm>
                <a:off x="2902356" y="5132589"/>
                <a:ext cx="1007855"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100" dirty="0"/>
                  <a:t>Greenfield</a:t>
                </a:r>
              </a:p>
            </p:txBody>
          </p:sp>
        </p:grpSp>
        <p:sp>
          <p:nvSpPr>
            <p:cNvPr id="46" name="Rectangle 45"/>
            <p:cNvSpPr/>
            <p:nvPr/>
          </p:nvSpPr>
          <p:spPr>
            <a:xfrm>
              <a:off x="4751376" y="3553550"/>
              <a:ext cx="2997359" cy="1705707"/>
            </a:xfrm>
            <a:prstGeom prst="rect">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Arrow Connector 51"/>
            <p:cNvCxnSpPr/>
            <p:nvPr/>
          </p:nvCxnSpPr>
          <p:spPr>
            <a:xfrm>
              <a:off x="7749612" y="5051785"/>
              <a:ext cx="1013388" cy="812421"/>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flipH="1" flipV="1">
              <a:off x="4236332" y="2905210"/>
              <a:ext cx="514168" cy="76624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flipH="1" flipV="1">
              <a:off x="2494773" y="2855217"/>
              <a:ext cx="2261321" cy="101867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a:off x="3156912" y="4543063"/>
              <a:ext cx="1593587" cy="216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flipH="1">
              <a:off x="2063700" y="4888322"/>
              <a:ext cx="2687677" cy="49485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flipH="1">
              <a:off x="3632748" y="5062444"/>
              <a:ext cx="1118629" cy="43289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flipH="1">
              <a:off x="3731415" y="5184197"/>
              <a:ext cx="1031994" cy="103891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2" name="Group 71"/>
            <p:cNvGrpSpPr/>
            <p:nvPr/>
          </p:nvGrpSpPr>
          <p:grpSpPr>
            <a:xfrm>
              <a:off x="947548" y="3270295"/>
              <a:ext cx="1087416" cy="1100415"/>
              <a:chOff x="9366924" y="4606956"/>
              <a:chExt cx="1637490" cy="1630557"/>
            </a:xfrm>
          </p:grpSpPr>
          <p:pic>
            <p:nvPicPr>
              <p:cNvPr id="73" name="Picture 9" descr="A picture containing graphical user interface&#10;&#10;Description automatically generated">
                <a:extLst>
                  <a:ext uri="{FF2B5EF4-FFF2-40B4-BE49-F238E27FC236}">
                    <a16:creationId xmlns:a16="http://schemas.microsoft.com/office/drawing/2014/main" id="{6995267B-593B-4031-B3E8-811FD93AF5FC}"/>
                  </a:ext>
                </a:extLst>
              </p:cNvPr>
              <p:cNvPicPr>
                <a:picLocks noChangeAspect="1"/>
              </p:cNvPicPr>
              <p:nvPr/>
            </p:nvPicPr>
            <p:blipFill>
              <a:blip r:embed="rId11"/>
              <a:stretch>
                <a:fillRect/>
              </a:stretch>
            </p:blipFill>
            <p:spPr>
              <a:xfrm>
                <a:off x="9637573" y="4606956"/>
                <a:ext cx="1120613" cy="983079"/>
              </a:xfrm>
              <a:prstGeom prst="rect">
                <a:avLst/>
              </a:prstGeom>
            </p:spPr>
          </p:pic>
          <p:sp>
            <p:nvSpPr>
              <p:cNvPr id="74" name="TextBox 73">
                <a:extLst>
                  <a:ext uri="{FF2B5EF4-FFF2-40B4-BE49-F238E27FC236}">
                    <a16:creationId xmlns:a16="http://schemas.microsoft.com/office/drawing/2014/main" id="{5ED2731B-2453-4DE4-BD5B-2C3425734FAF}"/>
                  </a:ext>
                </a:extLst>
              </p:cNvPr>
              <p:cNvSpPr txBox="1"/>
              <p:nvPr/>
            </p:nvSpPr>
            <p:spPr>
              <a:xfrm>
                <a:off x="9366924" y="5599040"/>
                <a:ext cx="1637490" cy="6384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100" dirty="0"/>
                  <a:t>Workload Prioritization</a:t>
                </a:r>
                <a:endParaRPr lang="en-US" sz="1400" dirty="0"/>
              </a:p>
            </p:txBody>
          </p:sp>
        </p:grpSp>
        <p:cxnSp>
          <p:nvCxnSpPr>
            <p:cNvPr id="79" name="Straight Connector 78"/>
            <p:cNvCxnSpPr/>
            <p:nvPr/>
          </p:nvCxnSpPr>
          <p:spPr>
            <a:xfrm flipH="1" flipV="1">
              <a:off x="2017378" y="3533845"/>
              <a:ext cx="2733121" cy="59169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1922855" y="4082387"/>
              <a:ext cx="1506416" cy="969398"/>
              <a:chOff x="1812264" y="3831401"/>
              <a:chExt cx="1506416" cy="969398"/>
            </a:xfrm>
          </p:grpSpPr>
          <p:sp>
            <p:nvSpPr>
              <p:cNvPr id="58" name="TextBox 57"/>
              <p:cNvSpPr txBox="1"/>
              <p:nvPr/>
            </p:nvSpPr>
            <p:spPr>
              <a:xfrm>
                <a:off x="1812264" y="4539189"/>
                <a:ext cx="1506416" cy="261610"/>
              </a:xfrm>
              <a:prstGeom prst="rect">
                <a:avLst/>
              </a:prstGeom>
              <a:noFill/>
            </p:spPr>
            <p:txBody>
              <a:bodyPr wrap="square" rtlCol="0">
                <a:spAutoFit/>
              </a:bodyPr>
              <a:lstStyle/>
              <a:p>
                <a:pPr algn="ctr"/>
                <a:r>
                  <a:rPr lang="en-US" sz="1100" dirty="0"/>
                  <a:t>gPack</a:t>
                </a:r>
              </a:p>
            </p:txBody>
          </p:sp>
          <p:pic>
            <p:nvPicPr>
              <p:cNvPr id="2" name="Picture 1"/>
              <p:cNvPicPr>
                <a:picLocks noChangeAspect="1"/>
              </p:cNvPicPr>
              <p:nvPr/>
            </p:nvPicPr>
            <p:blipFill>
              <a:blip r:embed="rId12"/>
              <a:stretch>
                <a:fillRect/>
              </a:stretch>
            </p:blipFill>
            <p:spPr>
              <a:xfrm>
                <a:off x="2183346" y="3831401"/>
                <a:ext cx="730586" cy="728522"/>
              </a:xfrm>
              <a:prstGeom prst="rect">
                <a:avLst/>
              </a:prstGeom>
            </p:spPr>
          </p:pic>
        </p:grpSp>
        <p:grpSp>
          <p:nvGrpSpPr>
            <p:cNvPr id="7" name="Group 6"/>
            <p:cNvGrpSpPr/>
            <p:nvPr/>
          </p:nvGrpSpPr>
          <p:grpSpPr>
            <a:xfrm>
              <a:off x="10256009" y="4830581"/>
              <a:ext cx="1087416" cy="1003833"/>
              <a:chOff x="10284158" y="4834254"/>
              <a:chExt cx="1087416" cy="1003833"/>
            </a:xfrm>
          </p:grpSpPr>
          <p:sp>
            <p:nvSpPr>
              <p:cNvPr id="24" name="TextBox 23">
                <a:extLst>
                  <a:ext uri="{FF2B5EF4-FFF2-40B4-BE49-F238E27FC236}">
                    <a16:creationId xmlns:a16="http://schemas.microsoft.com/office/drawing/2014/main" id="{5ED2731B-2453-4DE4-BD5B-2C3425734FAF}"/>
                  </a:ext>
                </a:extLst>
              </p:cNvPr>
              <p:cNvSpPr txBox="1"/>
              <p:nvPr/>
            </p:nvSpPr>
            <p:spPr>
              <a:xfrm>
                <a:off x="10284158" y="5576477"/>
                <a:ext cx="1087416"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100" dirty="0"/>
                  <a:t>myDay</a:t>
                </a:r>
                <a:endParaRPr lang="en-US" sz="1400" dirty="0"/>
              </a:p>
            </p:txBody>
          </p:sp>
          <p:pic>
            <p:nvPicPr>
              <p:cNvPr id="4" name="Picture 3"/>
              <p:cNvPicPr>
                <a:picLocks noChangeAspect="1"/>
              </p:cNvPicPr>
              <p:nvPr/>
            </p:nvPicPr>
            <p:blipFill>
              <a:blip r:embed="rId13"/>
              <a:stretch>
                <a:fillRect/>
              </a:stretch>
            </p:blipFill>
            <p:spPr>
              <a:xfrm>
                <a:off x="10458864" y="4834254"/>
                <a:ext cx="730369" cy="748859"/>
              </a:xfrm>
              <a:prstGeom prst="rect">
                <a:avLst/>
              </a:prstGeom>
            </p:spPr>
          </p:pic>
        </p:grpSp>
        <p:grpSp>
          <p:nvGrpSpPr>
            <p:cNvPr id="23" name="Group 22"/>
            <p:cNvGrpSpPr/>
            <p:nvPr/>
          </p:nvGrpSpPr>
          <p:grpSpPr>
            <a:xfrm>
              <a:off x="8508618" y="5601099"/>
              <a:ext cx="1506416" cy="1111010"/>
              <a:chOff x="8462320" y="5398643"/>
              <a:chExt cx="1506416" cy="1111010"/>
            </a:xfrm>
          </p:grpSpPr>
          <p:sp>
            <p:nvSpPr>
              <p:cNvPr id="56" name="TextBox 55"/>
              <p:cNvSpPr txBox="1"/>
              <p:nvPr/>
            </p:nvSpPr>
            <p:spPr>
              <a:xfrm>
                <a:off x="8462320" y="6078766"/>
                <a:ext cx="1506416" cy="430887"/>
              </a:xfrm>
              <a:prstGeom prst="rect">
                <a:avLst/>
              </a:prstGeom>
              <a:noFill/>
            </p:spPr>
            <p:txBody>
              <a:bodyPr wrap="square" rtlCol="0">
                <a:spAutoFit/>
              </a:bodyPr>
              <a:lstStyle/>
              <a:p>
                <a:pPr algn="ctr"/>
                <a:r>
                  <a:rPr lang="en-US" sz="1100" dirty="0"/>
                  <a:t>Capacity Management</a:t>
                </a:r>
              </a:p>
            </p:txBody>
          </p:sp>
          <p:pic>
            <p:nvPicPr>
              <p:cNvPr id="53" name="Picture 52">
                <a:extLst>
                  <a:ext uri="{FF2B5EF4-FFF2-40B4-BE49-F238E27FC236}">
                    <a16:creationId xmlns:a16="http://schemas.microsoft.com/office/drawing/2014/main" id="{A08F76EB-F2FE-8144-93CE-7C2C3486482E}"/>
                  </a:ext>
                </a:extLst>
              </p:cNvPr>
              <p:cNvPicPr>
                <a:picLocks noChangeAspect="1"/>
              </p:cNvPicPr>
              <p:nvPr/>
            </p:nvPicPr>
            <p:blipFill>
              <a:blip r:embed="rId14"/>
              <a:stretch>
                <a:fillRect/>
              </a:stretch>
            </p:blipFill>
            <p:spPr>
              <a:xfrm>
                <a:off x="8822369" y="5398643"/>
                <a:ext cx="687135" cy="680123"/>
              </a:xfrm>
              <a:prstGeom prst="rect">
                <a:avLst/>
              </a:prstGeom>
            </p:spPr>
          </p:pic>
        </p:grpSp>
      </p:grpSp>
    </p:spTree>
    <p:extLst>
      <p:ext uri="{BB962C8B-B14F-4D97-AF65-F5344CB8AC3E}">
        <p14:creationId xmlns:p14="http://schemas.microsoft.com/office/powerpoint/2010/main" val="3146151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84DB7353-7D7A-431B-A5B6-A3845E6F2B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14" name="Freeform 5">
              <a:extLst>
                <a:ext uri="{FF2B5EF4-FFF2-40B4-BE49-F238E27FC236}">
                  <a16:creationId xmlns:a16="http://schemas.microsoft.com/office/drawing/2014/main" id="{9E8D15D6-6183-4BE1-A315-C7EC9C1A5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 name="Freeform 6">
              <a:extLst>
                <a:ext uri="{FF2B5EF4-FFF2-40B4-BE49-F238E27FC236}">
                  <a16:creationId xmlns:a16="http://schemas.microsoft.com/office/drawing/2014/main" id="{82A253FA-4E60-4B4D-94B0-93ECFCF30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6" name="Freeform 7">
              <a:extLst>
                <a:ext uri="{FF2B5EF4-FFF2-40B4-BE49-F238E27FC236}">
                  <a16:creationId xmlns:a16="http://schemas.microsoft.com/office/drawing/2014/main" id="{E1B39AD1-11BD-457B-822C-A873607F41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8">
              <a:extLst>
                <a:ext uri="{FF2B5EF4-FFF2-40B4-BE49-F238E27FC236}">
                  <a16:creationId xmlns:a16="http://schemas.microsoft.com/office/drawing/2014/main" id="{CC286005-78D5-4BE4-AA8B-75CDC07E78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9">
              <a:extLst>
                <a:ext uri="{FF2B5EF4-FFF2-40B4-BE49-F238E27FC236}">
                  <a16:creationId xmlns:a16="http://schemas.microsoft.com/office/drawing/2014/main" id="{09E4A22D-7E83-4F24-97FE-931A93CAC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0">
              <a:extLst>
                <a:ext uri="{FF2B5EF4-FFF2-40B4-BE49-F238E27FC236}">
                  <a16:creationId xmlns:a16="http://schemas.microsoft.com/office/drawing/2014/main" id="{4351E96B-8DD4-4D5E-A9F0-C47F5F3378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1">
              <a:extLst>
                <a:ext uri="{FF2B5EF4-FFF2-40B4-BE49-F238E27FC236}">
                  <a16:creationId xmlns:a16="http://schemas.microsoft.com/office/drawing/2014/main" id="{BFF78610-2475-4756-9EC8-5DA7D8902D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2">
              <a:extLst>
                <a:ext uri="{FF2B5EF4-FFF2-40B4-BE49-F238E27FC236}">
                  <a16:creationId xmlns:a16="http://schemas.microsoft.com/office/drawing/2014/main" id="{C7ACAE44-681D-4CBC-B2AB-E5131DF5A8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3">
              <a:extLst>
                <a:ext uri="{FF2B5EF4-FFF2-40B4-BE49-F238E27FC236}">
                  <a16:creationId xmlns:a16="http://schemas.microsoft.com/office/drawing/2014/main" id="{CA22E4A0-73AA-4722-9C16-F3AF9A33EC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3" name="Freeform 14">
              <a:extLst>
                <a:ext uri="{FF2B5EF4-FFF2-40B4-BE49-F238E27FC236}">
                  <a16:creationId xmlns:a16="http://schemas.microsoft.com/office/drawing/2014/main" id="{BB36E626-EBEB-41C0-B224-8DB049DB4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4" name="Freeform 15">
              <a:extLst>
                <a:ext uri="{FF2B5EF4-FFF2-40B4-BE49-F238E27FC236}">
                  <a16:creationId xmlns:a16="http://schemas.microsoft.com/office/drawing/2014/main" id="{D603DEC5-BED4-4DB6-A253-F61CC36742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5" name="Freeform 16">
              <a:extLst>
                <a:ext uri="{FF2B5EF4-FFF2-40B4-BE49-F238E27FC236}">
                  <a16:creationId xmlns:a16="http://schemas.microsoft.com/office/drawing/2014/main" id="{86AE9DE6-CA9A-479B-A0FB-0E1BAC7A6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6" name="Freeform 17">
              <a:extLst>
                <a:ext uri="{FF2B5EF4-FFF2-40B4-BE49-F238E27FC236}">
                  <a16:creationId xmlns:a16="http://schemas.microsoft.com/office/drawing/2014/main" id="{16CB8DC8-E75F-4574-A290-AAB7031BE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7" name="Freeform 18">
              <a:extLst>
                <a:ext uri="{FF2B5EF4-FFF2-40B4-BE49-F238E27FC236}">
                  <a16:creationId xmlns:a16="http://schemas.microsoft.com/office/drawing/2014/main" id="{1CA657E1-3A52-4C23-AA47-EBB2D5C414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8" name="Freeform 19">
              <a:extLst>
                <a:ext uri="{FF2B5EF4-FFF2-40B4-BE49-F238E27FC236}">
                  <a16:creationId xmlns:a16="http://schemas.microsoft.com/office/drawing/2014/main" id="{ED4F701B-2A93-464F-A673-54EED5C4C4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0">
              <a:extLst>
                <a:ext uri="{FF2B5EF4-FFF2-40B4-BE49-F238E27FC236}">
                  <a16:creationId xmlns:a16="http://schemas.microsoft.com/office/drawing/2014/main" id="{9977C34F-F6C9-4749-B201-7B928802D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1">
              <a:extLst>
                <a:ext uri="{FF2B5EF4-FFF2-40B4-BE49-F238E27FC236}">
                  <a16:creationId xmlns:a16="http://schemas.microsoft.com/office/drawing/2014/main" id="{3A913E6B-DBE9-4291-A34C-36069ECB8E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2">
              <a:extLst>
                <a:ext uri="{FF2B5EF4-FFF2-40B4-BE49-F238E27FC236}">
                  <a16:creationId xmlns:a16="http://schemas.microsoft.com/office/drawing/2014/main" id="{7D415C04-AB5C-4B76-9E49-EEBAEE64D0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32" name="Freeform 23">
              <a:extLst>
                <a:ext uri="{FF2B5EF4-FFF2-40B4-BE49-F238E27FC236}">
                  <a16:creationId xmlns:a16="http://schemas.microsoft.com/office/drawing/2014/main" id="{151FDC11-E872-4EAE-A597-822F9FE170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34" name="Group 33">
            <a:extLst>
              <a:ext uri="{FF2B5EF4-FFF2-40B4-BE49-F238E27FC236}">
                <a16:creationId xmlns:a16="http://schemas.microsoft.com/office/drawing/2014/main" id="{1B24766B-81CA-44C7-BF11-77A12BA424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69293" y="1186483"/>
            <a:ext cx="8848345" cy="4477933"/>
            <a:chOff x="1669293" y="1186483"/>
            <a:chExt cx="8848345" cy="4477933"/>
          </a:xfrm>
        </p:grpSpPr>
        <p:sp>
          <p:nvSpPr>
            <p:cNvPr id="35" name="Rectangle 34">
              <a:extLst>
                <a:ext uri="{FF2B5EF4-FFF2-40B4-BE49-F238E27FC236}">
                  <a16:creationId xmlns:a16="http://schemas.microsoft.com/office/drawing/2014/main" id="{1A2F9962-DEB8-461C-8B4C-C0ED0D8A7B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6" name="Isosceles Triangle 35">
              <a:extLst>
                <a:ext uri="{FF2B5EF4-FFF2-40B4-BE49-F238E27FC236}">
                  <a16:creationId xmlns:a16="http://schemas.microsoft.com/office/drawing/2014/main" id="{C0672E08-EB09-4B8E-8522-24BBC2CFFD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7" name="Rectangle 36">
              <a:extLst>
                <a:ext uri="{FF2B5EF4-FFF2-40B4-BE49-F238E27FC236}">
                  <a16:creationId xmlns:a16="http://schemas.microsoft.com/office/drawing/2014/main" id="{3447AB64-F3EC-4A1F-BFD4-F0F9DB3DAD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useBgFill="1">
        <p:nvSpPr>
          <p:cNvPr id="39" name="Rectangle 38">
            <a:extLst>
              <a:ext uri="{FF2B5EF4-FFF2-40B4-BE49-F238E27FC236}">
                <a16:creationId xmlns:a16="http://schemas.microsoft.com/office/drawing/2014/main" id="{10CE3618-1D7A-4256-B2AF-9DB692996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D91A9185-A7D5-460B-98BC-0BF2EBD3EE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42" name="Freeform 5">
              <a:extLst>
                <a:ext uri="{FF2B5EF4-FFF2-40B4-BE49-F238E27FC236}">
                  <a16:creationId xmlns:a16="http://schemas.microsoft.com/office/drawing/2014/main" id="{8AFC1764-6516-4F77-BF30-B8ADB3C9F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6">
              <a:extLst>
                <a:ext uri="{FF2B5EF4-FFF2-40B4-BE49-F238E27FC236}">
                  <a16:creationId xmlns:a16="http://schemas.microsoft.com/office/drawing/2014/main" id="{FCAFF9F9-F806-47EC-BCAC-9921E719F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accent1">
                  <a:alpha val="18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44" name="Freeform 7">
              <a:extLst>
                <a:ext uri="{FF2B5EF4-FFF2-40B4-BE49-F238E27FC236}">
                  <a16:creationId xmlns:a16="http://schemas.microsoft.com/office/drawing/2014/main" id="{09D92491-36BD-4861-BA54-DD88E60898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accent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8">
              <a:extLst>
                <a:ext uri="{FF2B5EF4-FFF2-40B4-BE49-F238E27FC236}">
                  <a16:creationId xmlns:a16="http://schemas.microsoft.com/office/drawing/2014/main" id="{23740E15-AB86-4E5C-A137-07E0DDC03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accent1">
                  <a:alpha val="11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9">
              <a:extLst>
                <a:ext uri="{FF2B5EF4-FFF2-40B4-BE49-F238E27FC236}">
                  <a16:creationId xmlns:a16="http://schemas.microsoft.com/office/drawing/2014/main" id="{BE097852-1F54-4EF0-A1BE-561272FCD6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0">
              <a:extLst>
                <a:ext uri="{FF2B5EF4-FFF2-40B4-BE49-F238E27FC236}">
                  <a16:creationId xmlns:a16="http://schemas.microsoft.com/office/drawing/2014/main" id="{5C2DF1F9-21CC-430E-84C8-356C73C6FD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accent1">
                  <a:alpha val="8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1">
              <a:extLst>
                <a:ext uri="{FF2B5EF4-FFF2-40B4-BE49-F238E27FC236}">
                  <a16:creationId xmlns:a16="http://schemas.microsoft.com/office/drawing/2014/main" id="{7F11B45B-3EDE-4B6A-903B-0AE6E9DD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accent1">
                  <a:alpha val="7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2">
              <a:extLst>
                <a:ext uri="{FF2B5EF4-FFF2-40B4-BE49-F238E27FC236}">
                  <a16:creationId xmlns:a16="http://schemas.microsoft.com/office/drawing/2014/main" id="{F77FDDC5-477E-420D-B98F-42ABA24772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accent1">
                  <a:alpha val="8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3">
              <a:extLst>
                <a:ext uri="{FF2B5EF4-FFF2-40B4-BE49-F238E27FC236}">
                  <a16:creationId xmlns:a16="http://schemas.microsoft.com/office/drawing/2014/main" id="{A92C0474-B573-45C5-84C5-194CE1715F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accent1">
                  <a:alpha val="6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1" name="Freeform 14">
              <a:extLst>
                <a:ext uri="{FF2B5EF4-FFF2-40B4-BE49-F238E27FC236}">
                  <a16:creationId xmlns:a16="http://schemas.microsoft.com/office/drawing/2014/main" id="{2FBC62F8-64D0-4025-99AE-A04E291D9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accent1">
                  <a:alpha val="6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2" name="Freeform 15">
              <a:extLst>
                <a:ext uri="{FF2B5EF4-FFF2-40B4-BE49-F238E27FC236}">
                  <a16:creationId xmlns:a16="http://schemas.microsoft.com/office/drawing/2014/main" id="{7632F945-80B5-4575-A538-29495BF8F2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accent1">
                  <a:alpha val="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3" name="Freeform 16">
              <a:extLst>
                <a:ext uri="{FF2B5EF4-FFF2-40B4-BE49-F238E27FC236}">
                  <a16:creationId xmlns:a16="http://schemas.microsoft.com/office/drawing/2014/main" id="{5562CC17-43D4-4E57-AE08-83952EE59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accent1">
                  <a:alpha val="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17">
              <a:extLst>
                <a:ext uri="{FF2B5EF4-FFF2-40B4-BE49-F238E27FC236}">
                  <a16:creationId xmlns:a16="http://schemas.microsoft.com/office/drawing/2014/main" id="{E1D78CFE-04CA-4101-AFCF-196940B2D1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accent1">
                  <a:alpha val="4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18">
              <a:extLst>
                <a:ext uri="{FF2B5EF4-FFF2-40B4-BE49-F238E27FC236}">
                  <a16:creationId xmlns:a16="http://schemas.microsoft.com/office/drawing/2014/main" id="{41F2A149-A64E-4690-B049-18C156A8E2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accent1">
                  <a:alpha val="3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19">
              <a:extLst>
                <a:ext uri="{FF2B5EF4-FFF2-40B4-BE49-F238E27FC236}">
                  <a16:creationId xmlns:a16="http://schemas.microsoft.com/office/drawing/2014/main" id="{D9313C72-D62D-4416-A6AE-7EB7D6B54A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accent1">
                  <a:alpha val="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0">
              <a:extLst>
                <a:ext uri="{FF2B5EF4-FFF2-40B4-BE49-F238E27FC236}">
                  <a16:creationId xmlns:a16="http://schemas.microsoft.com/office/drawing/2014/main" id="{77B03BEA-76E5-4ECB-B9BB-D89D27509E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accent1">
                  <a:alpha val="4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1">
              <a:extLst>
                <a:ext uri="{FF2B5EF4-FFF2-40B4-BE49-F238E27FC236}">
                  <a16:creationId xmlns:a16="http://schemas.microsoft.com/office/drawing/2014/main" id="{6AF6BECE-416D-4C3A-AD6F-68B08F3CA7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accent1">
                  <a:alpha val="4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2">
              <a:extLst>
                <a:ext uri="{FF2B5EF4-FFF2-40B4-BE49-F238E27FC236}">
                  <a16:creationId xmlns:a16="http://schemas.microsoft.com/office/drawing/2014/main" id="{B9197E2A-A098-480D-A2A6-3F3B889EDA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accent1">
                  <a:alpha val="4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60" name="Freeform 23">
              <a:extLst>
                <a:ext uri="{FF2B5EF4-FFF2-40B4-BE49-F238E27FC236}">
                  <a16:creationId xmlns:a16="http://schemas.microsoft.com/office/drawing/2014/main" id="{5A493EDB-6C9E-483F-86A6-0F473E5908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accent1">
                  <a:alpha val="3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62" name="Isosceles Triangle 61">
            <a:extLst>
              <a:ext uri="{FF2B5EF4-FFF2-40B4-BE49-F238E27FC236}">
                <a16:creationId xmlns:a16="http://schemas.microsoft.com/office/drawing/2014/main" id="{3F39476B-1A6D-47CB-AC7A-FB87EF0033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490253" y="3276595"/>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3" name="TextBox 32">
            <a:extLst>
              <a:ext uri="{FF2B5EF4-FFF2-40B4-BE49-F238E27FC236}">
                <a16:creationId xmlns:a16="http://schemas.microsoft.com/office/drawing/2014/main" id="{A2236F16-6C63-467B-51D2-D3B2F417EE86}"/>
              </a:ext>
            </a:extLst>
          </p:cNvPr>
          <p:cNvSpPr txBox="1"/>
          <p:nvPr/>
        </p:nvSpPr>
        <p:spPr>
          <a:xfrm>
            <a:off x="222449" y="231646"/>
            <a:ext cx="11875190" cy="1754326"/>
          </a:xfrm>
          <a:prstGeom prst="rect">
            <a:avLst/>
          </a:prstGeom>
          <a:noFill/>
        </p:spPr>
        <p:txBody>
          <a:bodyPr wrap="square" rtlCol="0">
            <a:spAutoFit/>
          </a:bodyPr>
          <a:lstStyle/>
          <a:p>
            <a:r>
              <a:rPr lang="en-US" dirty="0"/>
              <a:t>Axon’s Objective: </a:t>
            </a:r>
          </a:p>
          <a:p>
            <a:r>
              <a:rPr lang="en-US" dirty="0"/>
              <a:t>To monitor store fulfillment events and create real-time metrics and reporting that enables different parts of the store fulfillment process to make adjustments in order to fulfill guest orders effectively and on time.</a:t>
            </a:r>
          </a:p>
          <a:p>
            <a:endParaRPr lang="en-US" dirty="0"/>
          </a:p>
          <a:p>
            <a:endParaRPr lang="en-US" dirty="0"/>
          </a:p>
          <a:p>
            <a:endParaRPr lang="en-US" dirty="0"/>
          </a:p>
        </p:txBody>
      </p:sp>
      <p:sp>
        <p:nvSpPr>
          <p:cNvPr id="38" name="TextBox 37">
            <a:extLst>
              <a:ext uri="{FF2B5EF4-FFF2-40B4-BE49-F238E27FC236}">
                <a16:creationId xmlns:a16="http://schemas.microsoft.com/office/drawing/2014/main" id="{A770A44A-DC81-965F-7C3F-1A6C724B1892}"/>
              </a:ext>
            </a:extLst>
          </p:cNvPr>
          <p:cNvSpPr txBox="1"/>
          <p:nvPr/>
        </p:nvSpPr>
        <p:spPr>
          <a:xfrm>
            <a:off x="293266" y="1589196"/>
            <a:ext cx="3626069" cy="738664"/>
          </a:xfrm>
          <a:prstGeom prst="rect">
            <a:avLst/>
          </a:prstGeom>
          <a:noFill/>
        </p:spPr>
        <p:txBody>
          <a:bodyPr wrap="square" rtlCol="0">
            <a:spAutoFit/>
          </a:bodyPr>
          <a:lstStyle/>
          <a:p>
            <a:r>
              <a:rPr lang="en-US" sz="2400" b="1" u="sng" dirty="0"/>
              <a:t>Supported Projects</a:t>
            </a:r>
          </a:p>
          <a:p>
            <a:endParaRPr lang="en-US" dirty="0"/>
          </a:p>
        </p:txBody>
      </p:sp>
      <p:graphicFrame>
        <p:nvGraphicFramePr>
          <p:cNvPr id="1024" name="Table 1023">
            <a:extLst>
              <a:ext uri="{FF2B5EF4-FFF2-40B4-BE49-F238E27FC236}">
                <a16:creationId xmlns:a16="http://schemas.microsoft.com/office/drawing/2014/main" id="{24DCD19B-FA2C-F848-9902-549690F27ACA}"/>
              </a:ext>
            </a:extLst>
          </p:cNvPr>
          <p:cNvGraphicFramePr>
            <a:graphicFrameLocks noGrp="1"/>
          </p:cNvGraphicFramePr>
          <p:nvPr>
            <p:extLst>
              <p:ext uri="{D42A27DB-BD31-4B8C-83A1-F6EECF244321}">
                <p14:modId xmlns:p14="http://schemas.microsoft.com/office/powerpoint/2010/main" val="2783996196"/>
              </p:ext>
            </p:extLst>
          </p:nvPr>
        </p:nvGraphicFramePr>
        <p:xfrm>
          <a:off x="5691439" y="2175973"/>
          <a:ext cx="6397316" cy="3312648"/>
        </p:xfrm>
        <a:graphic>
          <a:graphicData uri="http://schemas.openxmlformats.org/drawingml/2006/table">
            <a:tbl>
              <a:tblPr/>
              <a:tblGrid>
                <a:gridCol w="3198658">
                  <a:extLst>
                    <a:ext uri="{9D8B030D-6E8A-4147-A177-3AD203B41FA5}">
                      <a16:colId xmlns:a16="http://schemas.microsoft.com/office/drawing/2014/main" val="3267911980"/>
                    </a:ext>
                  </a:extLst>
                </a:gridCol>
                <a:gridCol w="3198658">
                  <a:extLst>
                    <a:ext uri="{9D8B030D-6E8A-4147-A177-3AD203B41FA5}">
                      <a16:colId xmlns:a16="http://schemas.microsoft.com/office/drawing/2014/main" val="695960252"/>
                    </a:ext>
                  </a:extLst>
                </a:gridCol>
              </a:tblGrid>
              <a:tr h="310486">
                <a:tc>
                  <a:txBody>
                    <a:bodyPr/>
                    <a:lstStyle/>
                    <a:p>
                      <a:r>
                        <a:rPr lang="en-US" b="1">
                          <a:effectLst/>
                          <a:latin typeface="Helvetica Neue" panose="02000503000000020004" pitchFamily="2" charset="0"/>
                        </a:rPr>
                        <a:t>Components</a:t>
                      </a:r>
                      <a:endParaRPr lang="en-US">
                        <a:effectLst/>
                        <a:latin typeface="Helvetica Neue" panose="02000503000000020004" pitchFamily="2" charset="0"/>
                      </a:endParaRPr>
                    </a:p>
                  </a:txBody>
                  <a:tcPr marL="47625" marR="47625" marT="9525" marB="9525">
                    <a:lnL w="9525" cap="flat" cmpd="sng" algn="ctr">
                      <a:solidFill>
                        <a:srgbClr val="9A9A9A"/>
                      </a:solidFill>
                      <a:prstDash val="solid"/>
                      <a:round/>
                      <a:headEnd type="none" w="med" len="med"/>
                      <a:tailEnd type="none" w="med" len="med"/>
                    </a:lnL>
                    <a:lnR w="9525" cap="flat" cmpd="sng" algn="ctr">
                      <a:solidFill>
                        <a:srgbClr val="9A9A9A"/>
                      </a:solidFill>
                      <a:prstDash val="solid"/>
                      <a:round/>
                      <a:headEnd type="none" w="med" len="med"/>
                      <a:tailEnd type="none" w="med" len="med"/>
                    </a:ln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r>
                        <a:rPr lang="en-US" b="1">
                          <a:effectLst/>
                          <a:latin typeface="Helvetica Neue" panose="02000503000000020004" pitchFamily="2" charset="0"/>
                        </a:rPr>
                        <a:t>Technologies</a:t>
                      </a:r>
                      <a:endParaRPr lang="en-US">
                        <a:effectLst/>
                        <a:latin typeface="Helvetica Neue" panose="02000503000000020004" pitchFamily="2" charset="0"/>
                      </a:endParaRPr>
                    </a:p>
                  </a:txBody>
                  <a:tcPr marL="47625" marR="47625" marT="9525" marB="9525">
                    <a:lnL w="9525" cap="flat" cmpd="sng" algn="ctr">
                      <a:solidFill>
                        <a:srgbClr val="9A9A9A"/>
                      </a:solidFill>
                      <a:prstDash val="solid"/>
                      <a:round/>
                      <a:headEnd type="none" w="med" len="med"/>
                      <a:tailEnd type="none" w="med" len="med"/>
                    </a:lnL>
                    <a:lnR w="9525" cap="flat" cmpd="sng" algn="ctr">
                      <a:solidFill>
                        <a:srgbClr val="9A9A9A"/>
                      </a:solidFill>
                      <a:prstDash val="solid"/>
                      <a:round/>
                      <a:headEnd type="none" w="med" len="med"/>
                      <a:tailEnd type="none" w="med" len="med"/>
                    </a:ln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450975934"/>
                  </a:ext>
                </a:extLst>
              </a:tr>
              <a:tr h="600811">
                <a:tc>
                  <a:txBody>
                    <a:bodyPr/>
                    <a:lstStyle/>
                    <a:p>
                      <a:r>
                        <a:rPr lang="en-US" dirty="0">
                          <a:effectLst/>
                          <a:latin typeface="Helvetica Neue" panose="02000503000000020004" pitchFamily="2" charset="0"/>
                        </a:rPr>
                        <a:t>Computational Frameworks</a:t>
                      </a:r>
                    </a:p>
                  </a:txBody>
                  <a:tcPr marL="47625" marR="47625" marT="9525" marB="9525">
                    <a:lnL w="9525" cap="flat" cmpd="sng" algn="ctr">
                      <a:solidFill>
                        <a:srgbClr val="9A9A9A"/>
                      </a:solidFill>
                      <a:prstDash val="solid"/>
                      <a:round/>
                      <a:headEnd type="none" w="med" len="med"/>
                      <a:tailEnd type="none" w="med" len="med"/>
                    </a:lnL>
                    <a:lnR w="9525" cap="flat" cmpd="sng" algn="ctr">
                      <a:solidFill>
                        <a:srgbClr val="9A9A9A"/>
                      </a:solidFill>
                      <a:prstDash val="solid"/>
                      <a:round/>
                      <a:headEnd type="none" w="med" len="med"/>
                      <a:tailEnd type="none" w="med" len="med"/>
                    </a:ln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r>
                        <a:rPr lang="en-US" dirty="0">
                          <a:effectLst/>
                          <a:latin typeface="Helvetica Neue" panose="02000503000000020004" pitchFamily="2" charset="0"/>
                        </a:rPr>
                        <a:t>Kafka Streams, Spring, Micronaut, Node JS</a:t>
                      </a:r>
                    </a:p>
                  </a:txBody>
                  <a:tcPr marL="47625" marR="47625" marT="9525" marB="9525">
                    <a:lnL w="9525" cap="flat" cmpd="sng" algn="ctr">
                      <a:solidFill>
                        <a:srgbClr val="9A9A9A"/>
                      </a:solidFill>
                      <a:prstDash val="solid"/>
                      <a:round/>
                      <a:headEnd type="none" w="med" len="med"/>
                      <a:tailEnd type="none" w="med" len="med"/>
                    </a:lnL>
                    <a:lnR w="9525" cap="flat" cmpd="sng" algn="ctr">
                      <a:solidFill>
                        <a:srgbClr val="9A9A9A"/>
                      </a:solidFill>
                      <a:prstDash val="solid"/>
                      <a:round/>
                      <a:headEnd type="none" w="med" len="med"/>
                      <a:tailEnd type="none" w="med" len="med"/>
                    </a:ln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2870393633"/>
                  </a:ext>
                </a:extLst>
              </a:tr>
              <a:tr h="600811">
                <a:tc>
                  <a:txBody>
                    <a:bodyPr/>
                    <a:lstStyle/>
                    <a:p>
                      <a:r>
                        <a:rPr lang="en-US" dirty="0">
                          <a:effectLst/>
                          <a:latin typeface="Helvetica Neue" panose="02000503000000020004" pitchFamily="2" charset="0"/>
                        </a:rPr>
                        <a:t>Database</a:t>
                      </a:r>
                    </a:p>
                  </a:txBody>
                  <a:tcPr marL="47625" marR="47625" marT="9525" marB="9525">
                    <a:lnL w="9525" cap="flat" cmpd="sng" algn="ctr">
                      <a:solidFill>
                        <a:srgbClr val="9A9A9A"/>
                      </a:solidFill>
                      <a:prstDash val="solid"/>
                      <a:round/>
                      <a:headEnd type="none" w="med" len="med"/>
                      <a:tailEnd type="none" w="med" len="med"/>
                    </a:lnL>
                    <a:lnR w="9525" cap="flat" cmpd="sng" algn="ctr">
                      <a:solidFill>
                        <a:srgbClr val="9A9A9A"/>
                      </a:solidFill>
                      <a:prstDash val="solid"/>
                      <a:round/>
                      <a:headEnd type="none" w="med" len="med"/>
                      <a:tailEnd type="none" w="med" len="med"/>
                    </a:ln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r>
                        <a:rPr lang="en-US" dirty="0">
                          <a:effectLst/>
                          <a:latin typeface="Helvetica Neue" panose="02000503000000020004" pitchFamily="2" charset="0"/>
                        </a:rPr>
                        <a:t>PostgreSQL</a:t>
                      </a:r>
                    </a:p>
                  </a:txBody>
                  <a:tcPr marL="47625" marR="47625" marT="9525" marB="9525">
                    <a:lnL w="9525" cap="flat" cmpd="sng" algn="ctr">
                      <a:solidFill>
                        <a:srgbClr val="9A9A9A"/>
                      </a:solidFill>
                      <a:prstDash val="solid"/>
                      <a:round/>
                      <a:headEnd type="none" w="med" len="med"/>
                      <a:tailEnd type="none" w="med" len="med"/>
                    </a:lnL>
                    <a:lnR w="9525" cap="flat" cmpd="sng" algn="ctr">
                      <a:solidFill>
                        <a:srgbClr val="9A9A9A"/>
                      </a:solidFill>
                      <a:prstDash val="solid"/>
                      <a:round/>
                      <a:headEnd type="none" w="med" len="med"/>
                      <a:tailEnd type="none" w="med" len="med"/>
                    </a:ln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94975797"/>
                  </a:ext>
                </a:extLst>
              </a:tr>
              <a:tr h="600811">
                <a:tc>
                  <a:txBody>
                    <a:bodyPr/>
                    <a:lstStyle/>
                    <a:p>
                      <a:r>
                        <a:rPr lang="en-US" dirty="0">
                          <a:effectLst/>
                          <a:latin typeface="Helvetica Neue" panose="02000503000000020004" pitchFamily="2" charset="0"/>
                        </a:rPr>
                        <a:t>Languages</a:t>
                      </a:r>
                    </a:p>
                  </a:txBody>
                  <a:tcPr marL="47625" marR="47625" marT="9525" marB="9525">
                    <a:lnL w="9525" cap="flat" cmpd="sng" algn="ctr">
                      <a:solidFill>
                        <a:srgbClr val="9A9A9A"/>
                      </a:solidFill>
                      <a:prstDash val="solid"/>
                      <a:round/>
                      <a:headEnd type="none" w="med" len="med"/>
                      <a:tailEnd type="none" w="med" len="med"/>
                    </a:lnL>
                    <a:lnR w="9525" cap="flat" cmpd="sng" algn="ctr">
                      <a:solidFill>
                        <a:srgbClr val="9A9A9A"/>
                      </a:solidFill>
                      <a:prstDash val="solid"/>
                      <a:round/>
                      <a:headEnd type="none" w="med" len="med"/>
                      <a:tailEnd type="none" w="med" len="med"/>
                    </a:ln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r>
                        <a:rPr lang="en-US" dirty="0">
                          <a:effectLst/>
                          <a:latin typeface="Helvetica Neue" panose="02000503000000020004" pitchFamily="2" charset="0"/>
                        </a:rPr>
                        <a:t>Java, Kotlin, JavaScript, Groovy, Python</a:t>
                      </a:r>
                    </a:p>
                  </a:txBody>
                  <a:tcPr marL="47625" marR="47625" marT="9525" marB="9525">
                    <a:lnL w="9525" cap="flat" cmpd="sng" algn="ctr">
                      <a:solidFill>
                        <a:srgbClr val="9A9A9A"/>
                      </a:solidFill>
                      <a:prstDash val="solid"/>
                      <a:round/>
                      <a:headEnd type="none" w="med" len="med"/>
                      <a:tailEnd type="none" w="med" len="med"/>
                    </a:lnL>
                    <a:lnR w="9525" cap="flat" cmpd="sng" algn="ctr">
                      <a:solidFill>
                        <a:srgbClr val="9A9A9A"/>
                      </a:solidFill>
                      <a:prstDash val="solid"/>
                      <a:round/>
                      <a:headEnd type="none" w="med" len="med"/>
                      <a:tailEnd type="none" w="med" len="med"/>
                    </a:ln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1677366997"/>
                  </a:ext>
                </a:extLst>
              </a:tr>
              <a:tr h="310486">
                <a:tc>
                  <a:txBody>
                    <a:bodyPr/>
                    <a:lstStyle/>
                    <a:p>
                      <a:r>
                        <a:rPr lang="en-US">
                          <a:effectLst/>
                          <a:latin typeface="Helvetica Neue" panose="02000503000000020004" pitchFamily="2" charset="0"/>
                        </a:rPr>
                        <a:t>Testing</a:t>
                      </a:r>
                    </a:p>
                  </a:txBody>
                  <a:tcPr marL="47625" marR="47625" marT="9525" marB="9525">
                    <a:lnL w="9525" cap="flat" cmpd="sng" algn="ctr">
                      <a:solidFill>
                        <a:srgbClr val="9A9A9A"/>
                      </a:solidFill>
                      <a:prstDash val="solid"/>
                      <a:round/>
                      <a:headEnd type="none" w="med" len="med"/>
                      <a:tailEnd type="none" w="med" len="med"/>
                    </a:lnL>
                    <a:lnR w="9525" cap="flat" cmpd="sng" algn="ctr">
                      <a:solidFill>
                        <a:srgbClr val="9A9A9A"/>
                      </a:solidFill>
                      <a:prstDash val="solid"/>
                      <a:round/>
                      <a:headEnd type="none" w="med" len="med"/>
                      <a:tailEnd type="none" w="med" len="med"/>
                    </a:ln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r>
                        <a:rPr lang="en-US" dirty="0" err="1">
                          <a:effectLst/>
                          <a:latin typeface="Helvetica Neue" panose="02000503000000020004" pitchFamily="2" charset="0"/>
                        </a:rPr>
                        <a:t>Kotest</a:t>
                      </a:r>
                      <a:r>
                        <a:rPr lang="en-US" dirty="0">
                          <a:effectLst/>
                          <a:latin typeface="Helvetica Neue" panose="02000503000000020004" pitchFamily="2" charset="0"/>
                        </a:rPr>
                        <a:t>, Spock</a:t>
                      </a:r>
                    </a:p>
                  </a:txBody>
                  <a:tcPr marL="47625" marR="47625" marT="9525" marB="9525">
                    <a:lnL w="9525" cap="flat" cmpd="sng" algn="ctr">
                      <a:solidFill>
                        <a:srgbClr val="9A9A9A"/>
                      </a:solidFill>
                      <a:prstDash val="solid"/>
                      <a:round/>
                      <a:headEnd type="none" w="med" len="med"/>
                      <a:tailEnd type="none" w="med" len="med"/>
                    </a:lnL>
                    <a:lnR w="9525" cap="flat" cmpd="sng" algn="ctr">
                      <a:solidFill>
                        <a:srgbClr val="9A9A9A"/>
                      </a:solidFill>
                      <a:prstDash val="solid"/>
                      <a:round/>
                      <a:headEnd type="none" w="med" len="med"/>
                      <a:tailEnd type="none" w="med" len="med"/>
                    </a:ln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637974036"/>
                  </a:ext>
                </a:extLst>
              </a:tr>
              <a:tr h="889243">
                <a:tc>
                  <a:txBody>
                    <a:bodyPr/>
                    <a:lstStyle/>
                    <a:p>
                      <a:r>
                        <a:rPr lang="en-US">
                          <a:effectLst/>
                          <a:latin typeface="Helvetica Neue" panose="02000503000000020004" pitchFamily="2" charset="0"/>
                        </a:rPr>
                        <a:t>Deployment</a:t>
                      </a:r>
                    </a:p>
                  </a:txBody>
                  <a:tcPr marL="47625" marR="47625" marT="9525" marB="9525">
                    <a:lnL w="9525" cap="flat" cmpd="sng" algn="ctr">
                      <a:solidFill>
                        <a:srgbClr val="9A9A9A"/>
                      </a:solidFill>
                      <a:prstDash val="solid"/>
                      <a:round/>
                      <a:headEnd type="none" w="med" len="med"/>
                      <a:tailEnd type="none" w="med" len="med"/>
                    </a:lnL>
                    <a:lnR w="9525" cap="flat" cmpd="sng" algn="ctr">
                      <a:solidFill>
                        <a:srgbClr val="9A9A9A"/>
                      </a:solidFill>
                      <a:prstDash val="solid"/>
                      <a:round/>
                      <a:headEnd type="none" w="med" len="med"/>
                      <a:tailEnd type="none" w="med" len="med"/>
                    </a:ln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r>
                        <a:rPr lang="en-US" dirty="0">
                          <a:effectLst/>
                          <a:latin typeface="Helvetica Neue" panose="02000503000000020004" pitchFamily="2" charset="0"/>
                        </a:rPr>
                        <a:t> VELA, </a:t>
                      </a:r>
                    </a:p>
                    <a:p>
                      <a:r>
                        <a:rPr lang="en-US" dirty="0">
                          <a:effectLst/>
                          <a:latin typeface="Helvetica Neue" panose="02000503000000020004" pitchFamily="2" charset="0"/>
                        </a:rPr>
                        <a:t>Target Application Platform (TAP)</a:t>
                      </a:r>
                    </a:p>
                  </a:txBody>
                  <a:tcPr marL="47625" marR="47625" marT="9525" marB="9525">
                    <a:lnL w="9525" cap="flat" cmpd="sng" algn="ctr">
                      <a:solidFill>
                        <a:srgbClr val="9A9A9A"/>
                      </a:solidFill>
                      <a:prstDash val="solid"/>
                      <a:round/>
                      <a:headEnd type="none" w="med" len="med"/>
                      <a:tailEnd type="none" w="med" len="med"/>
                    </a:lnL>
                    <a:lnR w="9525" cap="flat" cmpd="sng" algn="ctr">
                      <a:solidFill>
                        <a:srgbClr val="9A9A9A"/>
                      </a:solidFill>
                      <a:prstDash val="solid"/>
                      <a:round/>
                      <a:headEnd type="none" w="med" len="med"/>
                      <a:tailEnd type="none" w="med" len="med"/>
                    </a:ln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405978122"/>
                  </a:ext>
                </a:extLst>
              </a:tr>
            </a:tbl>
          </a:graphicData>
        </a:graphic>
      </p:graphicFrame>
      <p:sp>
        <p:nvSpPr>
          <p:cNvPr id="1025" name="TextBox 1024">
            <a:extLst>
              <a:ext uri="{FF2B5EF4-FFF2-40B4-BE49-F238E27FC236}">
                <a16:creationId xmlns:a16="http://schemas.microsoft.com/office/drawing/2014/main" id="{97A947C0-ABBD-47C6-7F6A-53C5EB1E8725}"/>
              </a:ext>
            </a:extLst>
          </p:cNvPr>
          <p:cNvSpPr txBox="1"/>
          <p:nvPr/>
        </p:nvSpPr>
        <p:spPr>
          <a:xfrm>
            <a:off x="7487621" y="1661225"/>
            <a:ext cx="3894835" cy="738664"/>
          </a:xfrm>
          <a:prstGeom prst="rect">
            <a:avLst/>
          </a:prstGeom>
          <a:noFill/>
        </p:spPr>
        <p:txBody>
          <a:bodyPr wrap="square" rtlCol="0">
            <a:spAutoFit/>
          </a:bodyPr>
          <a:lstStyle/>
          <a:p>
            <a:r>
              <a:rPr lang="en-US" sz="2400" b="1" u="sng" dirty="0"/>
              <a:t>Technology Stack</a:t>
            </a:r>
            <a:endParaRPr lang="en-US" sz="2400" dirty="0"/>
          </a:p>
          <a:p>
            <a:endParaRPr lang="en-US" dirty="0"/>
          </a:p>
        </p:txBody>
      </p:sp>
      <p:graphicFrame>
        <p:nvGraphicFramePr>
          <p:cNvPr id="1027" name="Table 1028">
            <a:extLst>
              <a:ext uri="{FF2B5EF4-FFF2-40B4-BE49-F238E27FC236}">
                <a16:creationId xmlns:a16="http://schemas.microsoft.com/office/drawing/2014/main" id="{CD57046F-5B83-6EE1-8DC0-046F9E8B03C3}"/>
              </a:ext>
            </a:extLst>
          </p:cNvPr>
          <p:cNvGraphicFramePr>
            <a:graphicFrameLocks noGrp="1"/>
          </p:cNvGraphicFramePr>
          <p:nvPr>
            <p:extLst>
              <p:ext uri="{D42A27DB-BD31-4B8C-83A1-F6EECF244321}">
                <p14:modId xmlns:p14="http://schemas.microsoft.com/office/powerpoint/2010/main" val="3262583648"/>
              </p:ext>
            </p:extLst>
          </p:nvPr>
        </p:nvGraphicFramePr>
        <p:xfrm>
          <a:off x="75674" y="2150747"/>
          <a:ext cx="5049302" cy="2993083"/>
        </p:xfrm>
        <a:graphic>
          <a:graphicData uri="http://schemas.openxmlformats.org/drawingml/2006/table">
            <a:tbl>
              <a:tblPr firstRow="1" bandRow="1">
                <a:tableStyleId>{073A0DAA-6AF3-43AB-8588-CEC1D06C72B9}</a:tableStyleId>
              </a:tblPr>
              <a:tblGrid>
                <a:gridCol w="2524651">
                  <a:extLst>
                    <a:ext uri="{9D8B030D-6E8A-4147-A177-3AD203B41FA5}">
                      <a16:colId xmlns:a16="http://schemas.microsoft.com/office/drawing/2014/main" val="4265693276"/>
                    </a:ext>
                  </a:extLst>
                </a:gridCol>
                <a:gridCol w="2524651">
                  <a:extLst>
                    <a:ext uri="{9D8B030D-6E8A-4147-A177-3AD203B41FA5}">
                      <a16:colId xmlns:a16="http://schemas.microsoft.com/office/drawing/2014/main" val="1569091814"/>
                    </a:ext>
                  </a:extLst>
                </a:gridCol>
              </a:tblGrid>
              <a:tr h="488908">
                <a:tc>
                  <a:txBody>
                    <a:bodyPr/>
                    <a:lstStyle/>
                    <a:p>
                      <a:r>
                        <a:rPr lang="en-US" dirty="0"/>
                        <a:t>Name</a:t>
                      </a:r>
                    </a:p>
                  </a:txBody>
                  <a:tcPr/>
                </a:tc>
                <a:tc>
                  <a:txBody>
                    <a:bodyPr/>
                    <a:lstStyle/>
                    <a:p>
                      <a:r>
                        <a:rPr lang="en-US" dirty="0"/>
                        <a:t>Description</a:t>
                      </a:r>
                    </a:p>
                  </a:txBody>
                  <a:tcPr/>
                </a:tc>
                <a:extLst>
                  <a:ext uri="{0D108BD9-81ED-4DB2-BD59-A6C34878D82A}">
                    <a16:rowId xmlns:a16="http://schemas.microsoft.com/office/drawing/2014/main" val="2269733222"/>
                  </a:ext>
                </a:extLst>
              </a:tr>
              <a:tr h="683172">
                <a:tc>
                  <a:txBody>
                    <a:bodyPr/>
                    <a:lstStyle/>
                    <a:p>
                      <a:r>
                        <a:rPr lang="en-US" sz="1600" dirty="0"/>
                        <a:t>MPM – My Performance Mobile</a:t>
                      </a:r>
                    </a:p>
                  </a:txBody>
                  <a:tcPr/>
                </a:tc>
                <a:tc>
                  <a:txBody>
                    <a:bodyPr/>
                    <a:lstStyle/>
                    <a:p>
                      <a:r>
                        <a:rPr lang="en-US" sz="1600" dirty="0"/>
                        <a:t>Mobile app that reports real time data for stores.</a:t>
                      </a:r>
                    </a:p>
                  </a:txBody>
                  <a:tcPr/>
                </a:tc>
                <a:extLst>
                  <a:ext uri="{0D108BD9-81ED-4DB2-BD59-A6C34878D82A}">
                    <a16:rowId xmlns:a16="http://schemas.microsoft.com/office/drawing/2014/main" val="2882756188"/>
                  </a:ext>
                </a:extLst>
              </a:tr>
              <a:tr h="7283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Houston</a:t>
                      </a:r>
                      <a:endParaRPr lang="en-US" sz="1600" b="0" i="0" kern="1200" dirty="0">
                        <a:solidFill>
                          <a:schemeClr val="dk1"/>
                        </a:solidFill>
                        <a:effectLst/>
                        <a:latin typeface="+mn-lt"/>
                        <a:ea typeface="+mn-ea"/>
                        <a:cs typeface="+mn-cs"/>
                      </a:endParaRPr>
                    </a:p>
                    <a:p>
                      <a:endParaRPr lang="en-US" sz="1600" dirty="0"/>
                    </a:p>
                  </a:txBody>
                  <a:tcPr/>
                </a:tc>
                <a:tc>
                  <a:txBody>
                    <a:bodyPr/>
                    <a:lstStyle/>
                    <a:p>
                      <a:r>
                        <a:rPr lang="en-US" sz="1600" dirty="0"/>
                        <a:t>Web platform representing store operations</a:t>
                      </a:r>
                    </a:p>
                  </a:txBody>
                  <a:tcPr/>
                </a:tc>
                <a:extLst>
                  <a:ext uri="{0D108BD9-81ED-4DB2-BD59-A6C34878D82A}">
                    <a16:rowId xmlns:a16="http://schemas.microsoft.com/office/drawing/2014/main" val="642285244"/>
                  </a:ext>
                </a:extLst>
              </a:tr>
              <a:tr h="998043">
                <a:tc>
                  <a:txBody>
                    <a:bodyPr/>
                    <a:lstStyle/>
                    <a:p>
                      <a:r>
                        <a:rPr lang="en-US" sz="1600" dirty="0"/>
                        <a:t>My Day fulfillment</a:t>
                      </a:r>
                    </a:p>
                  </a:txBody>
                  <a:tcPr/>
                </a:tc>
                <a:tc>
                  <a:txBody>
                    <a:bodyPr/>
                    <a:lstStyle/>
                    <a:p>
                      <a:r>
                        <a:rPr lang="en-US" sz="1600" dirty="0"/>
                        <a:t>Mobile app to report worked progress for stores</a:t>
                      </a:r>
                    </a:p>
                  </a:txBody>
                  <a:tcPr/>
                </a:tc>
                <a:extLst>
                  <a:ext uri="{0D108BD9-81ED-4DB2-BD59-A6C34878D82A}">
                    <a16:rowId xmlns:a16="http://schemas.microsoft.com/office/drawing/2014/main" val="3206162842"/>
                  </a:ext>
                </a:extLst>
              </a:tr>
            </a:tbl>
          </a:graphicData>
        </a:graphic>
      </p:graphicFrame>
      <p:pic>
        <p:nvPicPr>
          <p:cNvPr id="76" name="Picture 75">
            <a:extLst>
              <a:ext uri="{FF2B5EF4-FFF2-40B4-BE49-F238E27FC236}">
                <a16:creationId xmlns:a16="http://schemas.microsoft.com/office/drawing/2014/main" id="{8F9A2210-10A3-A7DA-DD7B-8A61005E96C2}"/>
              </a:ext>
            </a:extLst>
          </p:cNvPr>
          <p:cNvPicPr>
            <a:picLocks noChangeAspect="1"/>
          </p:cNvPicPr>
          <p:nvPr/>
        </p:nvPicPr>
        <p:blipFill>
          <a:blip r:embed="rId2"/>
          <a:stretch>
            <a:fillRect/>
          </a:stretch>
        </p:blipFill>
        <p:spPr>
          <a:xfrm>
            <a:off x="105578" y="5195347"/>
            <a:ext cx="4799569" cy="1692187"/>
          </a:xfrm>
          <a:prstGeom prst="rect">
            <a:avLst/>
          </a:prstGeom>
        </p:spPr>
      </p:pic>
    </p:spTree>
    <p:extLst>
      <p:ext uri="{BB962C8B-B14F-4D97-AF65-F5344CB8AC3E}">
        <p14:creationId xmlns:p14="http://schemas.microsoft.com/office/powerpoint/2010/main" val="429490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3832225" y="26971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pic>
        <p:nvPicPr>
          <p:cNvPr id="11" name="Picture 4">
            <a:extLst>
              <a:ext uri="{FF2B5EF4-FFF2-40B4-BE49-F238E27FC236}">
                <a16:creationId xmlns:a16="http://schemas.microsoft.com/office/drawing/2014/main" id="{BDEB2446-07A2-4617-BDB9-FBAC72A15CC0}"/>
              </a:ext>
            </a:extLst>
          </p:cNvPr>
          <p:cNvPicPr>
            <a:picLocks noChangeAspect="1"/>
          </p:cNvPicPr>
          <p:nvPr/>
        </p:nvPicPr>
        <p:blipFill>
          <a:blip r:embed="rId3"/>
          <a:srcRect l="6926" r="6926"/>
          <a:stretch>
            <a:fillRect/>
          </a:stretch>
        </p:blipFill>
        <p:spPr>
          <a:xfrm>
            <a:off x="4324881" y="1562745"/>
            <a:ext cx="1400196" cy="1400196"/>
          </a:xfrm>
          <a:prstGeom prst="roundRect">
            <a:avLst/>
          </a:prstGeom>
          <a:effectLst>
            <a:outerShdw blurRad="63500" sx="101153" sy="101153" algn="ctr" rotWithShape="0">
              <a:prstClr val="black">
                <a:alpha val="9412"/>
              </a:prstClr>
            </a:outerShdw>
            <a:softEdge rad="0"/>
          </a:effectLst>
        </p:spPr>
      </p:pic>
      <p:pic>
        <p:nvPicPr>
          <p:cNvPr id="12" name="Picture 4">
            <a:extLst>
              <a:ext uri="{FF2B5EF4-FFF2-40B4-BE49-F238E27FC236}">
                <a16:creationId xmlns:a16="http://schemas.microsoft.com/office/drawing/2014/main" id="{23B10E1A-D880-4533-9548-EC44C2C332E6}"/>
              </a:ext>
            </a:extLst>
          </p:cNvPr>
          <p:cNvPicPr>
            <a:picLocks noChangeAspect="1"/>
          </p:cNvPicPr>
          <p:nvPr/>
        </p:nvPicPr>
        <p:blipFill>
          <a:blip r:embed="rId4"/>
          <a:srcRect t="6162" b="6162"/>
          <a:stretch>
            <a:fillRect/>
          </a:stretch>
        </p:blipFill>
        <p:spPr>
          <a:xfrm>
            <a:off x="6791540" y="4046597"/>
            <a:ext cx="1394826" cy="1394826"/>
          </a:xfrm>
          <a:prstGeom prst="roundRect">
            <a:avLst/>
          </a:prstGeom>
          <a:effectLst>
            <a:outerShdw blurRad="63500" sx="101153" sy="101153" algn="ctr" rotWithShape="0">
              <a:prstClr val="black">
                <a:alpha val="9412"/>
              </a:prstClr>
            </a:outerShdw>
            <a:softEdge rad="0"/>
          </a:effectLst>
        </p:spPr>
      </p:pic>
      <p:pic>
        <p:nvPicPr>
          <p:cNvPr id="13" name="Picture 4">
            <a:extLst>
              <a:ext uri="{FF2B5EF4-FFF2-40B4-BE49-F238E27FC236}">
                <a16:creationId xmlns:a16="http://schemas.microsoft.com/office/drawing/2014/main" id="{02983EF0-D556-4532-8DF8-81A3A6AA20AA}"/>
              </a:ext>
            </a:extLst>
          </p:cNvPr>
          <p:cNvPicPr>
            <a:picLocks noChangeAspect="1"/>
          </p:cNvPicPr>
          <p:nvPr/>
        </p:nvPicPr>
        <p:blipFill>
          <a:blip r:embed="rId5"/>
          <a:srcRect l="5479" r="5479"/>
          <a:stretch>
            <a:fillRect/>
          </a:stretch>
        </p:blipFill>
        <p:spPr>
          <a:xfrm>
            <a:off x="6791540" y="1562745"/>
            <a:ext cx="1394826" cy="1394826"/>
          </a:xfrm>
          <a:prstGeom prst="roundRect">
            <a:avLst/>
          </a:prstGeom>
          <a:effectLst>
            <a:outerShdw blurRad="63500" sx="101153" sy="101153" algn="ctr" rotWithShape="0">
              <a:prstClr val="black">
                <a:alpha val="9412"/>
              </a:prstClr>
            </a:outerShdw>
            <a:softEdge rad="0"/>
          </a:effectLst>
        </p:spPr>
      </p:pic>
      <p:pic>
        <p:nvPicPr>
          <p:cNvPr id="15" name="Picture 4">
            <a:extLst>
              <a:ext uri="{FF2B5EF4-FFF2-40B4-BE49-F238E27FC236}">
                <a16:creationId xmlns:a16="http://schemas.microsoft.com/office/drawing/2014/main" id="{D1CFC954-6E26-4F9E-A699-3FA8948389F7}"/>
              </a:ext>
            </a:extLst>
          </p:cNvPr>
          <p:cNvPicPr>
            <a:picLocks noChangeAspect="1"/>
          </p:cNvPicPr>
          <p:nvPr/>
        </p:nvPicPr>
        <p:blipFill>
          <a:blip r:embed="rId6"/>
          <a:srcRect l="7492" r="7492"/>
          <a:stretch>
            <a:fillRect/>
          </a:stretch>
        </p:blipFill>
        <p:spPr>
          <a:xfrm>
            <a:off x="1814704" y="4048587"/>
            <a:ext cx="1398206" cy="1398206"/>
          </a:xfrm>
          <a:prstGeom prst="roundRect">
            <a:avLst/>
          </a:prstGeom>
          <a:ln>
            <a:noFill/>
          </a:ln>
          <a:effectLst>
            <a:outerShdw blurRad="63500" sx="101153" sy="101153" algn="ctr" rotWithShape="0">
              <a:prstClr val="black">
                <a:alpha val="9412"/>
              </a:prstClr>
            </a:outerShdw>
            <a:softEdge rad="0"/>
          </a:effectLst>
        </p:spPr>
      </p:pic>
      <p:pic>
        <p:nvPicPr>
          <p:cNvPr id="22" name="Picture 4">
            <a:extLst>
              <a:ext uri="{FF2B5EF4-FFF2-40B4-BE49-F238E27FC236}">
                <a16:creationId xmlns:a16="http://schemas.microsoft.com/office/drawing/2014/main" id="{A9A94910-6B43-4A01-8656-CD4F72FEA27D}"/>
              </a:ext>
            </a:extLst>
          </p:cNvPr>
          <p:cNvPicPr>
            <a:picLocks noChangeAspect="1"/>
          </p:cNvPicPr>
          <p:nvPr/>
        </p:nvPicPr>
        <p:blipFill>
          <a:blip r:embed="rId7"/>
          <a:srcRect t="13165" b="13165"/>
          <a:stretch>
            <a:fillRect/>
          </a:stretch>
        </p:blipFill>
        <p:spPr>
          <a:xfrm>
            <a:off x="4332738" y="4046597"/>
            <a:ext cx="1400196" cy="1400196"/>
          </a:xfrm>
          <a:prstGeom prst="roundRect">
            <a:avLst/>
          </a:prstGeom>
          <a:effectLst>
            <a:outerShdw blurRad="63500" sx="101153" sy="101153" algn="ctr" rotWithShape="0">
              <a:prstClr val="black">
                <a:alpha val="9412"/>
              </a:prstClr>
            </a:outerShdw>
            <a:softEdge rad="0"/>
          </a:effectLst>
        </p:spPr>
      </p:pic>
      <p:grpSp>
        <p:nvGrpSpPr>
          <p:cNvPr id="9" name="Group 8"/>
          <p:cNvGrpSpPr/>
          <p:nvPr/>
        </p:nvGrpSpPr>
        <p:grpSpPr>
          <a:xfrm>
            <a:off x="1813736" y="1562745"/>
            <a:ext cx="1444682" cy="1790119"/>
            <a:chOff x="5963406" y="3701823"/>
            <a:chExt cx="1444682" cy="1790119"/>
          </a:xfrm>
        </p:grpSpPr>
        <p:pic>
          <p:nvPicPr>
            <p:cNvPr id="7" name="Picture 6"/>
            <p:cNvPicPr>
              <a:picLocks noChangeAspect="1"/>
            </p:cNvPicPr>
            <p:nvPr/>
          </p:nvPicPr>
          <p:blipFill rotWithShape="1">
            <a:blip r:embed="rId8" cstate="print">
              <a:extLst>
                <a:ext uri="{28A0092B-C50C-407E-A947-70E740481C1C}">
                  <a14:useLocalDpi xmlns:a14="http://schemas.microsoft.com/office/drawing/2010/main" val="0"/>
                </a:ext>
              </a:extLst>
            </a:blip>
            <a:srcRect b="15252"/>
            <a:stretch/>
          </p:blipFill>
          <p:spPr>
            <a:xfrm>
              <a:off x="5963406" y="3701823"/>
              <a:ext cx="1400142" cy="139482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5963406" y="5096649"/>
              <a:ext cx="1444682" cy="39529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9297369" y="4046597"/>
            <a:ext cx="1444682" cy="1794632"/>
            <a:chOff x="7465800" y="3675143"/>
            <a:chExt cx="1444682" cy="1794632"/>
          </a:xfrm>
        </p:grpSpPr>
        <p:pic>
          <p:nvPicPr>
            <p:cNvPr id="2050" name="Picture 2" descr="Profile photo for Eric.W.Jensen"/>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493488" y="3675143"/>
              <a:ext cx="1394826" cy="139482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6" name="Rectangle 25"/>
            <p:cNvSpPr/>
            <p:nvPr/>
          </p:nvSpPr>
          <p:spPr>
            <a:xfrm>
              <a:off x="7465800" y="5074482"/>
              <a:ext cx="1444682" cy="39529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TextBox 23"/>
          <p:cNvSpPr txBox="1"/>
          <p:nvPr/>
        </p:nvSpPr>
        <p:spPr>
          <a:xfrm>
            <a:off x="1506174" y="3005509"/>
            <a:ext cx="2059806" cy="584775"/>
          </a:xfrm>
          <a:prstGeom prst="rect">
            <a:avLst/>
          </a:prstGeom>
          <a:noFill/>
        </p:spPr>
        <p:txBody>
          <a:bodyPr wrap="square" rtlCol="0">
            <a:spAutoFit/>
          </a:bodyPr>
          <a:lstStyle/>
          <a:p>
            <a:pPr algn="ctr"/>
            <a:r>
              <a:rPr lang="en-US" sz="1600" b="1" dirty="0"/>
              <a:t>Ali Obler</a:t>
            </a:r>
          </a:p>
          <a:p>
            <a:pPr algn="ctr"/>
            <a:r>
              <a:rPr lang="en-US" sz="1600" dirty="0"/>
              <a:t>Lead Product Owner</a:t>
            </a:r>
          </a:p>
        </p:txBody>
      </p:sp>
      <p:sp>
        <p:nvSpPr>
          <p:cNvPr id="31" name="TextBox 30"/>
          <p:cNvSpPr txBox="1"/>
          <p:nvPr/>
        </p:nvSpPr>
        <p:spPr>
          <a:xfrm>
            <a:off x="3832226" y="2957571"/>
            <a:ext cx="2510822" cy="584775"/>
          </a:xfrm>
          <a:prstGeom prst="rect">
            <a:avLst/>
          </a:prstGeom>
          <a:noFill/>
        </p:spPr>
        <p:txBody>
          <a:bodyPr wrap="square" rtlCol="0">
            <a:spAutoFit/>
          </a:bodyPr>
          <a:lstStyle/>
          <a:p>
            <a:pPr algn="ctr"/>
            <a:r>
              <a:rPr lang="en-US" sz="1600" b="1" dirty="0"/>
              <a:t>Angeli Corral</a:t>
            </a:r>
          </a:p>
          <a:p>
            <a:pPr algn="ctr"/>
            <a:r>
              <a:rPr lang="en-US" sz="1600" dirty="0"/>
              <a:t>Sr. Engineering Manager</a:t>
            </a:r>
          </a:p>
        </p:txBody>
      </p:sp>
      <p:sp>
        <p:nvSpPr>
          <p:cNvPr id="32" name="TextBox 31"/>
          <p:cNvSpPr txBox="1"/>
          <p:nvPr/>
        </p:nvSpPr>
        <p:spPr>
          <a:xfrm>
            <a:off x="6459050" y="2993111"/>
            <a:ext cx="2059806" cy="584775"/>
          </a:xfrm>
          <a:prstGeom prst="rect">
            <a:avLst/>
          </a:prstGeom>
          <a:noFill/>
        </p:spPr>
        <p:txBody>
          <a:bodyPr wrap="square" rtlCol="0">
            <a:spAutoFit/>
          </a:bodyPr>
          <a:lstStyle/>
          <a:p>
            <a:pPr algn="ctr"/>
            <a:r>
              <a:rPr lang="en-US" sz="1600" b="1" dirty="0"/>
              <a:t>Baskar Natarajan</a:t>
            </a:r>
          </a:p>
          <a:p>
            <a:pPr algn="ctr"/>
            <a:r>
              <a:rPr lang="en-US" sz="1600" dirty="0"/>
              <a:t>Lead Engineer</a:t>
            </a:r>
          </a:p>
        </p:txBody>
      </p:sp>
      <p:sp>
        <p:nvSpPr>
          <p:cNvPr id="34" name="TextBox 33"/>
          <p:cNvSpPr txBox="1"/>
          <p:nvPr/>
        </p:nvSpPr>
        <p:spPr>
          <a:xfrm>
            <a:off x="1506174" y="5518738"/>
            <a:ext cx="2059806" cy="584775"/>
          </a:xfrm>
          <a:prstGeom prst="rect">
            <a:avLst/>
          </a:prstGeom>
          <a:noFill/>
        </p:spPr>
        <p:txBody>
          <a:bodyPr wrap="square" rtlCol="0">
            <a:spAutoFit/>
          </a:bodyPr>
          <a:lstStyle/>
          <a:p>
            <a:pPr algn="ctr"/>
            <a:r>
              <a:rPr lang="en-US" sz="1600" b="1" dirty="0"/>
              <a:t>Abdul Ashwood</a:t>
            </a:r>
          </a:p>
          <a:p>
            <a:pPr algn="ctr"/>
            <a:r>
              <a:rPr lang="en-US" sz="1600" dirty="0"/>
              <a:t>Engineer</a:t>
            </a:r>
          </a:p>
        </p:txBody>
      </p:sp>
      <p:sp>
        <p:nvSpPr>
          <p:cNvPr id="35" name="TextBox 34"/>
          <p:cNvSpPr txBox="1"/>
          <p:nvPr/>
        </p:nvSpPr>
        <p:spPr>
          <a:xfrm>
            <a:off x="4043290" y="5518738"/>
            <a:ext cx="2059806" cy="584775"/>
          </a:xfrm>
          <a:prstGeom prst="rect">
            <a:avLst/>
          </a:prstGeom>
          <a:noFill/>
        </p:spPr>
        <p:txBody>
          <a:bodyPr wrap="square" rtlCol="0">
            <a:spAutoFit/>
          </a:bodyPr>
          <a:lstStyle/>
          <a:p>
            <a:pPr algn="ctr"/>
            <a:r>
              <a:rPr lang="en-US" sz="1600" b="1" dirty="0"/>
              <a:t>Jack Morgan</a:t>
            </a:r>
          </a:p>
          <a:p>
            <a:pPr algn="ctr"/>
            <a:r>
              <a:rPr lang="en-US" sz="1600" dirty="0"/>
              <a:t>Sr. Engineer</a:t>
            </a:r>
          </a:p>
        </p:txBody>
      </p:sp>
      <p:sp>
        <p:nvSpPr>
          <p:cNvPr id="36" name="TextBox 35"/>
          <p:cNvSpPr txBox="1"/>
          <p:nvPr/>
        </p:nvSpPr>
        <p:spPr>
          <a:xfrm>
            <a:off x="6580406" y="5518737"/>
            <a:ext cx="2059806" cy="584775"/>
          </a:xfrm>
          <a:prstGeom prst="rect">
            <a:avLst/>
          </a:prstGeom>
          <a:noFill/>
        </p:spPr>
        <p:txBody>
          <a:bodyPr wrap="square" rtlCol="0">
            <a:spAutoFit/>
          </a:bodyPr>
          <a:lstStyle/>
          <a:p>
            <a:pPr algn="ctr"/>
            <a:r>
              <a:rPr lang="en-US" sz="1600" b="1" dirty="0"/>
              <a:t>Nancy Selvam</a:t>
            </a:r>
          </a:p>
          <a:p>
            <a:pPr algn="ctr"/>
            <a:r>
              <a:rPr lang="en-US" sz="1600" dirty="0"/>
              <a:t>Engineer</a:t>
            </a:r>
          </a:p>
        </p:txBody>
      </p:sp>
      <p:sp>
        <p:nvSpPr>
          <p:cNvPr id="37" name="TextBox 36"/>
          <p:cNvSpPr txBox="1"/>
          <p:nvPr/>
        </p:nvSpPr>
        <p:spPr>
          <a:xfrm>
            <a:off x="8965738" y="5518737"/>
            <a:ext cx="2059806" cy="584775"/>
          </a:xfrm>
          <a:prstGeom prst="rect">
            <a:avLst/>
          </a:prstGeom>
          <a:noFill/>
        </p:spPr>
        <p:txBody>
          <a:bodyPr wrap="square" rtlCol="0">
            <a:spAutoFit/>
          </a:bodyPr>
          <a:lstStyle/>
          <a:p>
            <a:pPr algn="ctr"/>
            <a:r>
              <a:rPr lang="en-US" sz="1600" b="1" dirty="0"/>
              <a:t>Eric Jensen</a:t>
            </a:r>
          </a:p>
          <a:p>
            <a:pPr algn="ctr"/>
            <a:r>
              <a:rPr lang="en-US" sz="1600" dirty="0"/>
              <a:t>TLP</a:t>
            </a:r>
          </a:p>
        </p:txBody>
      </p:sp>
      <p:sp>
        <p:nvSpPr>
          <p:cNvPr id="25" name="Title 1">
            <a:extLst>
              <a:ext uri="{FF2B5EF4-FFF2-40B4-BE49-F238E27FC236}">
                <a16:creationId xmlns:a16="http://schemas.microsoft.com/office/drawing/2014/main" id="{C815DAE8-1AB0-5548-932C-3B207D575474}"/>
              </a:ext>
            </a:extLst>
          </p:cNvPr>
          <p:cNvSpPr>
            <a:spLocks noGrp="1"/>
          </p:cNvSpPr>
          <p:nvPr>
            <p:ph type="title"/>
          </p:nvPr>
        </p:nvSpPr>
        <p:spPr>
          <a:xfrm>
            <a:off x="838200" y="531925"/>
            <a:ext cx="10823712" cy="430005"/>
          </a:xfrm>
        </p:spPr>
        <p:txBody>
          <a:bodyPr>
            <a:normAutofit fontScale="90000"/>
          </a:bodyPr>
          <a:lstStyle/>
          <a:p>
            <a:r>
              <a:rPr lang="en-US" dirty="0"/>
              <a:t>Meet the Axon team</a:t>
            </a:r>
          </a:p>
        </p:txBody>
      </p:sp>
    </p:spTree>
    <p:extLst>
      <p:ext uri="{BB962C8B-B14F-4D97-AF65-F5344CB8AC3E}">
        <p14:creationId xmlns:p14="http://schemas.microsoft.com/office/powerpoint/2010/main" val="3389424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3832225" y="26971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8" name="Title 1">
            <a:extLst>
              <a:ext uri="{FF2B5EF4-FFF2-40B4-BE49-F238E27FC236}">
                <a16:creationId xmlns:a16="http://schemas.microsoft.com/office/drawing/2014/main" id="{C815DAE8-1AB0-5548-932C-3B207D575474}"/>
              </a:ext>
            </a:extLst>
          </p:cNvPr>
          <p:cNvSpPr>
            <a:spLocks noGrp="1"/>
          </p:cNvSpPr>
          <p:nvPr>
            <p:ph type="title"/>
          </p:nvPr>
        </p:nvSpPr>
        <p:spPr>
          <a:xfrm>
            <a:off x="838200" y="531925"/>
            <a:ext cx="10823712" cy="430005"/>
          </a:xfrm>
        </p:spPr>
        <p:txBody>
          <a:bodyPr>
            <a:normAutofit fontScale="90000"/>
          </a:bodyPr>
          <a:lstStyle/>
          <a:p>
            <a:r>
              <a:rPr lang="en-US" dirty="0"/>
              <a:t>Why is Axon important?</a:t>
            </a:r>
          </a:p>
        </p:txBody>
      </p:sp>
      <p:grpSp>
        <p:nvGrpSpPr>
          <p:cNvPr id="15" name="Group 14"/>
          <p:cNvGrpSpPr/>
          <p:nvPr/>
        </p:nvGrpSpPr>
        <p:grpSpPr>
          <a:xfrm>
            <a:off x="543744" y="1277602"/>
            <a:ext cx="2756891" cy="1852215"/>
            <a:chOff x="726387" y="1340440"/>
            <a:chExt cx="2756891" cy="1852215"/>
          </a:xfrm>
        </p:grpSpPr>
        <p:pic>
          <p:nvPicPr>
            <p:cNvPr id="9" name="Picture 8"/>
            <p:cNvPicPr>
              <a:picLocks noChangeAspect="1"/>
            </p:cNvPicPr>
            <p:nvPr/>
          </p:nvPicPr>
          <p:blipFill>
            <a:blip r:embed="rId3"/>
            <a:stretch>
              <a:fillRect/>
            </a:stretch>
          </p:blipFill>
          <p:spPr>
            <a:xfrm>
              <a:off x="1496266" y="1340440"/>
              <a:ext cx="1190625" cy="1267440"/>
            </a:xfrm>
            <a:prstGeom prst="rect">
              <a:avLst/>
            </a:prstGeom>
          </p:spPr>
        </p:pic>
        <p:sp>
          <p:nvSpPr>
            <p:cNvPr id="11" name="TextBox 10"/>
            <p:cNvSpPr txBox="1"/>
            <p:nvPr/>
          </p:nvSpPr>
          <p:spPr>
            <a:xfrm>
              <a:off x="726387" y="2607880"/>
              <a:ext cx="2756891" cy="584775"/>
            </a:xfrm>
            <a:prstGeom prst="rect">
              <a:avLst/>
            </a:prstGeom>
            <a:noFill/>
            <a:ln>
              <a:noFill/>
            </a:ln>
          </p:spPr>
          <p:txBody>
            <a:bodyPr wrap="square" rtlCol="0">
              <a:spAutoFit/>
            </a:bodyPr>
            <a:lstStyle/>
            <a:p>
              <a:pPr algn="ctr"/>
              <a:r>
                <a:rPr lang="en-US" sz="1600" b="1" dirty="0">
                  <a:solidFill>
                    <a:srgbClr val="CC1E25"/>
                  </a:solidFill>
                </a:rPr>
                <a:t>Ensures Data</a:t>
              </a:r>
            </a:p>
            <a:p>
              <a:pPr algn="ctr"/>
              <a:r>
                <a:rPr lang="en-US" sz="1600" b="1" dirty="0">
                  <a:solidFill>
                    <a:srgbClr val="CC1E25"/>
                  </a:solidFill>
                </a:rPr>
                <a:t> Alignment</a:t>
              </a:r>
            </a:p>
          </p:txBody>
        </p:sp>
      </p:grpSp>
      <p:grpSp>
        <p:nvGrpSpPr>
          <p:cNvPr id="16" name="Group 15"/>
          <p:cNvGrpSpPr/>
          <p:nvPr/>
        </p:nvGrpSpPr>
        <p:grpSpPr>
          <a:xfrm>
            <a:off x="3498121" y="1277041"/>
            <a:ext cx="2756891" cy="1852776"/>
            <a:chOff x="3371648" y="1342382"/>
            <a:chExt cx="2756891" cy="1852776"/>
          </a:xfrm>
        </p:grpSpPr>
        <p:pic>
          <p:nvPicPr>
            <p:cNvPr id="10" name="Picture 9"/>
            <p:cNvPicPr>
              <a:picLocks noChangeAspect="1"/>
            </p:cNvPicPr>
            <p:nvPr/>
          </p:nvPicPr>
          <p:blipFill>
            <a:blip r:embed="rId4"/>
            <a:stretch>
              <a:fillRect/>
            </a:stretch>
          </p:blipFill>
          <p:spPr>
            <a:xfrm>
              <a:off x="4142910" y="1342382"/>
              <a:ext cx="1214368" cy="1265499"/>
            </a:xfrm>
            <a:prstGeom prst="rect">
              <a:avLst/>
            </a:prstGeom>
          </p:spPr>
        </p:pic>
        <p:sp>
          <p:nvSpPr>
            <p:cNvPr id="12" name="TextBox 11"/>
            <p:cNvSpPr txBox="1"/>
            <p:nvPr/>
          </p:nvSpPr>
          <p:spPr>
            <a:xfrm>
              <a:off x="3371648" y="2610383"/>
              <a:ext cx="2756891" cy="584775"/>
            </a:xfrm>
            <a:prstGeom prst="rect">
              <a:avLst/>
            </a:prstGeom>
            <a:noFill/>
          </p:spPr>
          <p:txBody>
            <a:bodyPr wrap="square" rtlCol="0">
              <a:spAutoFit/>
            </a:bodyPr>
            <a:lstStyle/>
            <a:p>
              <a:pPr algn="ctr"/>
              <a:r>
                <a:rPr lang="en-US" sz="1600" b="1" dirty="0">
                  <a:solidFill>
                    <a:srgbClr val="CC1E25"/>
                  </a:solidFill>
                </a:rPr>
                <a:t>Provides Consistent</a:t>
              </a:r>
            </a:p>
            <a:p>
              <a:pPr algn="ctr"/>
              <a:r>
                <a:rPr lang="en-US" sz="1600" b="1" dirty="0">
                  <a:solidFill>
                    <a:srgbClr val="CC1E25"/>
                  </a:solidFill>
                </a:rPr>
                <a:t>Stability</a:t>
              </a:r>
            </a:p>
          </p:txBody>
        </p:sp>
      </p:grpSp>
      <p:grpSp>
        <p:nvGrpSpPr>
          <p:cNvPr id="17" name="Group 16"/>
          <p:cNvGrpSpPr/>
          <p:nvPr/>
        </p:nvGrpSpPr>
        <p:grpSpPr>
          <a:xfrm>
            <a:off x="6363199" y="1281820"/>
            <a:ext cx="2756891" cy="1847997"/>
            <a:chOff x="6155559" y="1344659"/>
            <a:chExt cx="2756891" cy="1847997"/>
          </a:xfrm>
        </p:grpSpPr>
        <p:pic>
          <p:nvPicPr>
            <p:cNvPr id="3" name="Picture 2"/>
            <p:cNvPicPr>
              <a:picLocks noChangeAspect="1"/>
            </p:cNvPicPr>
            <p:nvPr/>
          </p:nvPicPr>
          <p:blipFill>
            <a:blip r:embed="rId5"/>
            <a:stretch>
              <a:fillRect/>
            </a:stretch>
          </p:blipFill>
          <p:spPr>
            <a:xfrm>
              <a:off x="6898242" y="1344659"/>
              <a:ext cx="1355892" cy="1265499"/>
            </a:xfrm>
            <a:prstGeom prst="rect">
              <a:avLst/>
            </a:prstGeom>
          </p:spPr>
        </p:pic>
        <p:sp>
          <p:nvSpPr>
            <p:cNvPr id="13" name="TextBox 12"/>
            <p:cNvSpPr txBox="1"/>
            <p:nvPr/>
          </p:nvSpPr>
          <p:spPr>
            <a:xfrm>
              <a:off x="6155559" y="2607881"/>
              <a:ext cx="2756891" cy="584775"/>
            </a:xfrm>
            <a:prstGeom prst="rect">
              <a:avLst/>
            </a:prstGeom>
            <a:noFill/>
          </p:spPr>
          <p:txBody>
            <a:bodyPr wrap="square" rtlCol="0">
              <a:spAutoFit/>
            </a:bodyPr>
            <a:lstStyle/>
            <a:p>
              <a:pPr algn="ctr"/>
              <a:r>
                <a:rPr lang="en-US" sz="1600" b="1" dirty="0">
                  <a:solidFill>
                    <a:srgbClr val="CC1E25"/>
                  </a:solidFill>
                </a:rPr>
                <a:t>Unlocks Future </a:t>
              </a:r>
            </a:p>
            <a:p>
              <a:pPr algn="ctr"/>
              <a:r>
                <a:rPr lang="en-US" sz="1600" b="1" dirty="0">
                  <a:solidFill>
                    <a:srgbClr val="CC1E25"/>
                  </a:solidFill>
                </a:rPr>
                <a:t>Use Cases</a:t>
              </a:r>
            </a:p>
          </p:txBody>
        </p:sp>
      </p:grpSp>
      <p:grpSp>
        <p:nvGrpSpPr>
          <p:cNvPr id="18" name="Group 17"/>
          <p:cNvGrpSpPr/>
          <p:nvPr/>
        </p:nvGrpSpPr>
        <p:grpSpPr>
          <a:xfrm>
            <a:off x="8919126" y="1278684"/>
            <a:ext cx="3419757" cy="1850273"/>
            <a:chOff x="8688280" y="1342382"/>
            <a:chExt cx="3419757" cy="1850273"/>
          </a:xfrm>
        </p:grpSpPr>
        <p:pic>
          <p:nvPicPr>
            <p:cNvPr id="4" name="Picture 3"/>
            <p:cNvPicPr>
              <a:picLocks noChangeAspect="1"/>
            </p:cNvPicPr>
            <p:nvPr/>
          </p:nvPicPr>
          <p:blipFill>
            <a:blip r:embed="rId6"/>
            <a:stretch>
              <a:fillRect/>
            </a:stretch>
          </p:blipFill>
          <p:spPr>
            <a:xfrm>
              <a:off x="9682153" y="1342382"/>
              <a:ext cx="1432012" cy="1265499"/>
            </a:xfrm>
            <a:prstGeom prst="rect">
              <a:avLst/>
            </a:prstGeom>
          </p:spPr>
        </p:pic>
        <p:sp>
          <p:nvSpPr>
            <p:cNvPr id="14" name="TextBox 13"/>
            <p:cNvSpPr txBox="1"/>
            <p:nvPr/>
          </p:nvSpPr>
          <p:spPr>
            <a:xfrm>
              <a:off x="8688280" y="2607880"/>
              <a:ext cx="3419757" cy="584775"/>
            </a:xfrm>
            <a:prstGeom prst="rect">
              <a:avLst/>
            </a:prstGeom>
            <a:noFill/>
          </p:spPr>
          <p:txBody>
            <a:bodyPr wrap="square" rtlCol="0">
              <a:spAutoFit/>
            </a:bodyPr>
            <a:lstStyle/>
            <a:p>
              <a:pPr algn="ctr"/>
              <a:r>
                <a:rPr lang="en-US" sz="1600" b="1" dirty="0">
                  <a:solidFill>
                    <a:srgbClr val="CC1E25"/>
                  </a:solidFill>
                </a:rPr>
                <a:t>Can Expand to </a:t>
              </a:r>
            </a:p>
            <a:p>
              <a:pPr algn="ctr"/>
              <a:r>
                <a:rPr lang="en-US" sz="1600" b="1" dirty="0">
                  <a:solidFill>
                    <a:srgbClr val="CC1E25"/>
                  </a:solidFill>
                </a:rPr>
                <a:t>Additional Nodes</a:t>
              </a:r>
            </a:p>
          </p:txBody>
        </p:sp>
      </p:grpSp>
      <p:sp>
        <p:nvSpPr>
          <p:cNvPr id="19" name="TextBox 18"/>
          <p:cNvSpPr txBox="1"/>
          <p:nvPr/>
        </p:nvSpPr>
        <p:spPr>
          <a:xfrm>
            <a:off x="655557" y="3207900"/>
            <a:ext cx="2848708" cy="2123658"/>
          </a:xfrm>
          <a:prstGeom prst="rect">
            <a:avLst/>
          </a:prstGeom>
          <a:noFill/>
        </p:spPr>
        <p:txBody>
          <a:bodyPr wrap="square" rtlCol="0">
            <a:spAutoFit/>
          </a:bodyPr>
          <a:lstStyle/>
          <a:p>
            <a:pPr marL="285750" indent="-285750">
              <a:buFont typeface="Arial" panose="020B0604020202020204" pitchFamily="34" charset="0"/>
              <a:buChar char="•"/>
            </a:pPr>
            <a:r>
              <a:rPr lang="en-US" sz="1200" dirty="0"/>
              <a:t>Axon alleviates metric discrepancies when comparing multiple fulfillment applications by providing core data to multiple sources. </a:t>
            </a:r>
          </a:p>
          <a:p>
            <a:endParaRPr lang="en-US" sz="1200" dirty="0"/>
          </a:p>
          <a:p>
            <a:pPr marL="285750" indent="-285750">
              <a:buFont typeface="Arial" panose="020B0604020202020204" pitchFamily="34" charset="0"/>
              <a:buChar char="•"/>
            </a:pPr>
            <a:r>
              <a:rPr lang="en-US" sz="1200" dirty="0"/>
              <a:t>Axon is able to organize data in a centralized location to ensure logic and patterns do not have to be repeated. </a:t>
            </a:r>
          </a:p>
          <a:p>
            <a:endParaRPr lang="en-US" sz="1200" dirty="0"/>
          </a:p>
        </p:txBody>
      </p:sp>
      <p:sp>
        <p:nvSpPr>
          <p:cNvPr id="20" name="TextBox 19"/>
          <p:cNvSpPr txBox="1"/>
          <p:nvPr/>
        </p:nvSpPr>
        <p:spPr>
          <a:xfrm>
            <a:off x="3498121" y="3207900"/>
            <a:ext cx="2848708" cy="1754326"/>
          </a:xfrm>
          <a:prstGeom prst="rect">
            <a:avLst/>
          </a:prstGeom>
          <a:noFill/>
        </p:spPr>
        <p:txBody>
          <a:bodyPr wrap="square" rtlCol="0">
            <a:spAutoFit/>
          </a:bodyPr>
          <a:lstStyle/>
          <a:p>
            <a:pPr marL="285750" indent="-285750">
              <a:buFont typeface="Arial" panose="020B0604020202020204" pitchFamily="34" charset="0"/>
              <a:buChar char="•"/>
            </a:pPr>
            <a:r>
              <a:rPr lang="en-US" sz="1200" dirty="0"/>
              <a:t>Built on tried and tested patterns with high availability, durability and reliable caching and fallbacks. </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Axon can act as a layer to protect stores from upstream failures that can cause disruption and/or failures.</a:t>
            </a:r>
          </a:p>
          <a:p>
            <a:pPr marL="285750" indent="-285750">
              <a:buFont typeface="Arial" panose="020B0604020202020204" pitchFamily="34" charset="0"/>
              <a:buChar char="•"/>
            </a:pPr>
            <a:endParaRPr lang="en-US" sz="1200" dirty="0"/>
          </a:p>
        </p:txBody>
      </p:sp>
      <p:sp>
        <p:nvSpPr>
          <p:cNvPr id="21" name="TextBox 20"/>
          <p:cNvSpPr txBox="1"/>
          <p:nvPr/>
        </p:nvSpPr>
        <p:spPr>
          <a:xfrm>
            <a:off x="6459117" y="3207900"/>
            <a:ext cx="2848708" cy="2492990"/>
          </a:xfrm>
          <a:prstGeom prst="rect">
            <a:avLst/>
          </a:prstGeom>
          <a:noFill/>
        </p:spPr>
        <p:txBody>
          <a:bodyPr wrap="square" rtlCol="0">
            <a:spAutoFit/>
          </a:bodyPr>
          <a:lstStyle/>
          <a:p>
            <a:pPr marL="285750" indent="-285750">
              <a:buFont typeface="Arial" panose="020B0604020202020204" pitchFamily="34" charset="0"/>
              <a:buChar char="•"/>
            </a:pPr>
            <a:r>
              <a:rPr lang="en-US" sz="1200" dirty="0"/>
              <a:t>Tenants and consumers will be able to focus on iterating and improving their algorithms without worrying about where to gather their data from, the accuracy of the data and the stability of the data. </a:t>
            </a:r>
          </a:p>
          <a:p>
            <a:endParaRPr lang="en-US" sz="1200" dirty="0"/>
          </a:p>
          <a:p>
            <a:pPr marL="285750" indent="-285750">
              <a:buFont typeface="Arial" panose="020B0604020202020204" pitchFamily="34" charset="0"/>
              <a:buChar char="•"/>
            </a:pPr>
            <a:r>
              <a:rPr lang="en-US" sz="1200" dirty="0"/>
              <a:t>Different tenants and personas may be interested in different data points and metrics. Axon can join different datasets from multiple sources to quickly present a story in real time.</a:t>
            </a:r>
          </a:p>
        </p:txBody>
      </p:sp>
      <p:sp>
        <p:nvSpPr>
          <p:cNvPr id="22" name="TextBox 21"/>
          <p:cNvSpPr txBox="1"/>
          <p:nvPr/>
        </p:nvSpPr>
        <p:spPr>
          <a:xfrm>
            <a:off x="9430225" y="3207040"/>
            <a:ext cx="2848708" cy="830997"/>
          </a:xfrm>
          <a:prstGeom prst="rect">
            <a:avLst/>
          </a:prstGeom>
          <a:noFill/>
        </p:spPr>
        <p:txBody>
          <a:bodyPr wrap="square" rtlCol="0">
            <a:spAutoFit/>
          </a:bodyPr>
          <a:lstStyle/>
          <a:p>
            <a:pPr marL="285750" indent="-285750">
              <a:buFont typeface="Arial" panose="020B0604020202020204" pitchFamily="34" charset="0"/>
              <a:buChar char="•"/>
            </a:pPr>
            <a:r>
              <a:rPr lang="en-US" sz="1200" dirty="0"/>
              <a:t>Axon’s data and patterns can become portable if a contract is established and abstracted. </a:t>
            </a:r>
          </a:p>
          <a:p>
            <a:endParaRPr lang="en-US" sz="1200" dirty="0"/>
          </a:p>
        </p:txBody>
      </p:sp>
    </p:spTree>
    <p:extLst>
      <p:ext uri="{BB962C8B-B14F-4D97-AF65-F5344CB8AC3E}">
        <p14:creationId xmlns:p14="http://schemas.microsoft.com/office/powerpoint/2010/main" val="2295476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chat or text message&#10;&#10;Description automatically generated">
            <a:extLst>
              <a:ext uri="{FF2B5EF4-FFF2-40B4-BE49-F238E27FC236}">
                <a16:creationId xmlns:a16="http://schemas.microsoft.com/office/drawing/2014/main" id="{F8016363-A439-3B00-65CA-213753EAE9A9}"/>
              </a:ext>
            </a:extLst>
          </p:cNvPr>
          <p:cNvPicPr>
            <a:picLocks noChangeAspect="1"/>
          </p:cNvPicPr>
          <p:nvPr/>
        </p:nvPicPr>
        <p:blipFill>
          <a:blip r:embed="rId2"/>
          <a:stretch>
            <a:fillRect/>
          </a:stretch>
        </p:blipFill>
        <p:spPr>
          <a:xfrm>
            <a:off x="136877" y="878212"/>
            <a:ext cx="2777773" cy="5979788"/>
          </a:xfrm>
          <a:prstGeom prst="rect">
            <a:avLst/>
          </a:prstGeom>
        </p:spPr>
      </p:pic>
      <p:pic>
        <p:nvPicPr>
          <p:cNvPr id="5" name="Picture 4" descr="Graphical user interface, application, table&#10;&#10;Description automatically generated">
            <a:extLst>
              <a:ext uri="{FF2B5EF4-FFF2-40B4-BE49-F238E27FC236}">
                <a16:creationId xmlns:a16="http://schemas.microsoft.com/office/drawing/2014/main" id="{542383B3-B46D-3EAE-3B45-C6733E12634B}"/>
              </a:ext>
            </a:extLst>
          </p:cNvPr>
          <p:cNvPicPr>
            <a:picLocks noChangeAspect="1"/>
          </p:cNvPicPr>
          <p:nvPr/>
        </p:nvPicPr>
        <p:blipFill>
          <a:blip r:embed="rId3"/>
          <a:stretch>
            <a:fillRect/>
          </a:stretch>
        </p:blipFill>
        <p:spPr>
          <a:xfrm>
            <a:off x="3170999" y="2305050"/>
            <a:ext cx="9021001" cy="4347657"/>
          </a:xfrm>
          <a:prstGeom prst="rect">
            <a:avLst/>
          </a:prstGeom>
        </p:spPr>
      </p:pic>
    </p:spTree>
    <p:extLst>
      <p:ext uri="{BB962C8B-B14F-4D97-AF65-F5344CB8AC3E}">
        <p14:creationId xmlns:p14="http://schemas.microsoft.com/office/powerpoint/2010/main" val="2389677733"/>
      </p:ext>
    </p:extLst>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Atlas</Template>
  <TotalTime>6052</TotalTime>
  <Words>394</Words>
  <Application>Microsoft Macintosh PowerPoint</Application>
  <PresentationFormat>Widescreen</PresentationFormat>
  <Paragraphs>80</Paragraphs>
  <Slides>6</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Arial</vt:lpstr>
      <vt:lpstr>Calibri</vt:lpstr>
      <vt:lpstr>Calibri Light</vt:lpstr>
      <vt:lpstr>Helvetica Neue</vt:lpstr>
      <vt:lpstr>Rockwell</vt:lpstr>
      <vt:lpstr>Times New Roman</vt:lpstr>
      <vt:lpstr>Wingdings</vt:lpstr>
      <vt:lpstr>Atlas</vt:lpstr>
      <vt:lpstr>Axon</vt:lpstr>
      <vt:lpstr>What is Axon?</vt:lpstr>
      <vt:lpstr>PowerPoint Presentation</vt:lpstr>
      <vt:lpstr>Meet the Axon team</vt:lpstr>
      <vt:lpstr>Why is Axon important?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Axon</dc:title>
  <dc:creator>Abdul.Ashwood</dc:creator>
  <cp:lastModifiedBy>Abdul.Ashwood</cp:lastModifiedBy>
  <cp:revision>3</cp:revision>
  <dcterms:created xsi:type="dcterms:W3CDTF">2022-07-25T17:52:31Z</dcterms:created>
  <dcterms:modified xsi:type="dcterms:W3CDTF">2022-08-01T15:36:26Z</dcterms:modified>
</cp:coreProperties>
</file>