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omments/modernComment_208_D54561A1.xml" ContentType="application/vnd.ms-powerpoint.comment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21C_2AE65A11.xml" ContentType="application/vnd.ms-powerpoint.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modernComment_23F_50F66932.xml" ContentType="application/vnd.ms-powerpoint.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modernComment_2B6_C5145CFC.xml" ContentType="application/vnd.ms-powerpoint.comment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omments/modernComment_244_40A730E0.xml" ContentType="application/vnd.ms-powerpoint.comments+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3"/>
  </p:notesMasterIdLst>
  <p:sldIdLst>
    <p:sldId id="262" r:id="rId5"/>
    <p:sldId id="520" r:id="rId6"/>
    <p:sldId id="573" r:id="rId7"/>
    <p:sldId id="578" r:id="rId8"/>
    <p:sldId id="540" r:id="rId9"/>
    <p:sldId id="574" r:id="rId10"/>
    <p:sldId id="575" r:id="rId11"/>
    <p:sldId id="576" r:id="rId12"/>
    <p:sldId id="577" r:id="rId13"/>
    <p:sldId id="694" r:id="rId14"/>
    <p:sldId id="579" r:id="rId15"/>
    <p:sldId id="581" r:id="rId16"/>
    <p:sldId id="582" r:id="rId17"/>
    <p:sldId id="583" r:id="rId18"/>
    <p:sldId id="815" r:id="rId19"/>
    <p:sldId id="580" r:id="rId20"/>
    <p:sldId id="813" r:id="rId21"/>
    <p:sldId id="814"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C9E1623-FFA9-6B84-CE8D-34CDBD61C34A}" name="Lara.Jessen" initials="LJ" userId="S::Lara.Jessen@target.com::767a1bac-f6ea-4592-8e3e-fa946c4a3838" providerId="AD"/>
  <p188:author id="{6C9A23CD-9939-1872-9118-930BC1D118C7}" name="Julie.Coffman" initials="" userId="S::Julie.Coffman@target.com::eec50feb-9786-4164-a3be-a52c806956d6" providerId="AD"/>
  <p188:author id="{875EF1F9-B320-49E6-985D-AC2B59064BD4}" name="Ryan.Svoboda" initials="Ry" userId="S::ryan.svoboda@target.com::729185cd-7948-420b-858e-1ec262f7ff61"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A7CFC9-11E0-A41B-CB5C-E8FD29004FC7}" v="3" dt="2025-05-15T14:24:23.7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13" autoAdjust="0"/>
    <p:restoredTop sz="87211"/>
  </p:normalViewPr>
  <p:slideViewPr>
    <p:cSldViewPr snapToGrid="0">
      <p:cViewPr varScale="1">
        <p:scale>
          <a:sx n="97" d="100"/>
          <a:sy n="97" d="100"/>
        </p:scale>
        <p:origin x="216" y="4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 Id="rId30"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lie.Coffman" userId="eec50feb-9786-4164-a3be-a52c806956d6" providerId="ADAL" clId="{C998746C-32CE-F849-BB3F-D68A22F38DE7}"/>
    <pc:docChg chg="undo custSel addSld delSld modSld sldOrd">
      <pc:chgData name="Julie.Coffman" userId="eec50feb-9786-4164-a3be-a52c806956d6" providerId="ADAL" clId="{C998746C-32CE-F849-BB3F-D68A22F38DE7}" dt="2025-05-01T20:02:17.294" v="8522" actId="20577"/>
      <pc:docMkLst>
        <pc:docMk/>
      </pc:docMkLst>
      <pc:sldChg chg="del">
        <pc:chgData name="Julie.Coffman" userId="eec50feb-9786-4164-a3be-a52c806956d6" providerId="ADAL" clId="{C998746C-32CE-F849-BB3F-D68A22F38DE7}" dt="2025-04-21T16:08:00.337" v="879" actId="2696"/>
        <pc:sldMkLst>
          <pc:docMk/>
          <pc:sldMk cId="109857222" sldId="256"/>
        </pc:sldMkLst>
      </pc:sldChg>
      <pc:sldChg chg="modSp add mod">
        <pc:chgData name="Julie.Coffman" userId="eec50feb-9786-4164-a3be-a52c806956d6" providerId="ADAL" clId="{C998746C-32CE-F849-BB3F-D68A22F38DE7}" dt="2025-04-22T14:29:24.319" v="1858" actId="1076"/>
        <pc:sldMkLst>
          <pc:docMk/>
          <pc:sldMk cId="2984774955" sldId="262"/>
        </pc:sldMkLst>
        <pc:spChg chg="mod">
          <ac:chgData name="Julie.Coffman" userId="eec50feb-9786-4164-a3be-a52c806956d6" providerId="ADAL" clId="{C998746C-32CE-F849-BB3F-D68A22F38DE7}" dt="2025-04-22T14:29:20.205" v="1857" actId="1076"/>
          <ac:spMkLst>
            <pc:docMk/>
            <pc:sldMk cId="2984774955" sldId="262"/>
            <ac:spMk id="4" creationId="{A37F5804-C7AD-4444-AD7E-2043A7FA8A27}"/>
          </ac:spMkLst>
        </pc:spChg>
        <pc:spChg chg="mod">
          <ac:chgData name="Julie.Coffman" userId="eec50feb-9786-4164-a3be-a52c806956d6" providerId="ADAL" clId="{C998746C-32CE-F849-BB3F-D68A22F38DE7}" dt="2025-04-22T14:29:24.319" v="1858" actId="1076"/>
          <ac:spMkLst>
            <pc:docMk/>
            <pc:sldMk cId="2984774955" sldId="262"/>
            <ac:spMk id="5" creationId="{216F4752-48B4-764D-B47A-18AB0873AD22}"/>
          </ac:spMkLst>
        </pc:spChg>
        <pc:spChg chg="mod">
          <ac:chgData name="Julie.Coffman" userId="eec50feb-9786-4164-a3be-a52c806956d6" providerId="ADAL" clId="{C998746C-32CE-F849-BB3F-D68A22F38DE7}" dt="2025-04-14T15:31:38.763" v="80" actId="20577"/>
          <ac:spMkLst>
            <pc:docMk/>
            <pc:sldMk cId="2984774955" sldId="262"/>
            <ac:spMk id="6" creationId="{2A738429-AA52-F296-F4DF-09D913C0DCA7}"/>
          </ac:spMkLst>
        </pc:spChg>
        <pc:spChg chg="mod">
          <ac:chgData name="Julie.Coffman" userId="eec50feb-9786-4164-a3be-a52c806956d6" providerId="ADAL" clId="{C998746C-32CE-F849-BB3F-D68A22F38DE7}" dt="2025-04-14T15:31:48.466" v="81" actId="1076"/>
          <ac:spMkLst>
            <pc:docMk/>
            <pc:sldMk cId="2984774955" sldId="262"/>
            <ac:spMk id="8" creationId="{5D51AD8C-75EF-63D2-EA79-138B76131FE1}"/>
          </ac:spMkLst>
        </pc:spChg>
      </pc:sldChg>
      <pc:sldChg chg="addSp modSp add mod">
        <pc:chgData name="Julie.Coffman" userId="eec50feb-9786-4164-a3be-a52c806956d6" providerId="ADAL" clId="{C998746C-32CE-F849-BB3F-D68A22F38DE7}" dt="2025-04-28T21:22:47.812" v="6649" actId="255"/>
        <pc:sldMkLst>
          <pc:docMk/>
          <pc:sldMk cId="3578093985" sldId="520"/>
        </pc:sldMkLst>
        <pc:spChg chg="mod">
          <ac:chgData name="Julie.Coffman" userId="eec50feb-9786-4164-a3be-a52c806956d6" providerId="ADAL" clId="{C998746C-32CE-F849-BB3F-D68A22F38DE7}" dt="2025-04-28T21:21:10.317" v="6636" actId="21"/>
          <ac:spMkLst>
            <pc:docMk/>
            <pc:sldMk cId="3578093985" sldId="520"/>
            <ac:spMk id="2" creationId="{D8D070E2-9C68-0DA7-4294-7FD93AF9B913}"/>
          </ac:spMkLst>
        </pc:spChg>
        <pc:spChg chg="mod">
          <ac:chgData name="Julie.Coffman" userId="eec50feb-9786-4164-a3be-a52c806956d6" providerId="ADAL" clId="{C998746C-32CE-F849-BB3F-D68A22F38DE7}" dt="2025-04-14T15:44:44.801" v="465" actId="20577"/>
          <ac:spMkLst>
            <pc:docMk/>
            <pc:sldMk cId="3578093985" sldId="520"/>
            <ac:spMk id="3" creationId="{82AD66A2-59C2-572A-2821-A0128E95D2B6}"/>
          </ac:spMkLst>
        </pc:spChg>
        <pc:spChg chg="mod">
          <ac:chgData name="Julie.Coffman" userId="eec50feb-9786-4164-a3be-a52c806956d6" providerId="ADAL" clId="{C998746C-32CE-F849-BB3F-D68A22F38DE7}" dt="2025-04-14T15:40:11.934" v="97" actId="20577"/>
          <ac:spMkLst>
            <pc:docMk/>
            <pc:sldMk cId="3578093985" sldId="520"/>
            <ac:spMk id="5" creationId="{551460A5-7394-3CF2-D5B6-CFD7BDE07E31}"/>
          </ac:spMkLst>
        </pc:spChg>
        <pc:spChg chg="mod">
          <ac:chgData name="Julie.Coffman" userId="eec50feb-9786-4164-a3be-a52c806956d6" providerId="ADAL" clId="{C998746C-32CE-F849-BB3F-D68A22F38DE7}" dt="2025-04-28T21:21:27.366" v="6640" actId="20577"/>
          <ac:spMkLst>
            <pc:docMk/>
            <pc:sldMk cId="3578093985" sldId="520"/>
            <ac:spMk id="6" creationId="{D793D2D5-4E4C-71F1-33A6-D52B5E1F3D53}"/>
          </ac:spMkLst>
        </pc:spChg>
        <pc:spChg chg="mod">
          <ac:chgData name="Julie.Coffman" userId="eec50feb-9786-4164-a3be-a52c806956d6" providerId="ADAL" clId="{C998746C-32CE-F849-BB3F-D68A22F38DE7}" dt="2025-04-21T16:08:26.773" v="882" actId="20577"/>
          <ac:spMkLst>
            <pc:docMk/>
            <pc:sldMk cId="3578093985" sldId="520"/>
            <ac:spMk id="7" creationId="{93C19FA9-15F7-4771-FFF5-F1F0FB6EAC56}"/>
          </ac:spMkLst>
        </pc:spChg>
        <pc:spChg chg="add mod">
          <ac:chgData name="Julie.Coffman" userId="eec50feb-9786-4164-a3be-a52c806956d6" providerId="ADAL" clId="{C998746C-32CE-F849-BB3F-D68A22F38DE7}" dt="2025-04-28T21:22:47.812" v="6649" actId="255"/>
          <ac:spMkLst>
            <pc:docMk/>
            <pc:sldMk cId="3578093985" sldId="520"/>
            <ac:spMk id="8" creationId="{E5B66F8E-8BB8-6FA4-578B-1E2740B4821E}"/>
          </ac:spMkLst>
        </pc:spChg>
        <pc:spChg chg="mod">
          <ac:chgData name="Julie.Coffman" userId="eec50feb-9786-4164-a3be-a52c806956d6" providerId="ADAL" clId="{C998746C-32CE-F849-BB3F-D68A22F38DE7}" dt="2025-04-28T21:21:41.753" v="6644" actId="20577"/>
          <ac:spMkLst>
            <pc:docMk/>
            <pc:sldMk cId="3578093985" sldId="520"/>
            <ac:spMk id="14" creationId="{C495063B-3A10-C5B0-9317-FB2E694FC5B3}"/>
          </ac:spMkLst>
        </pc:spChg>
        <pc:spChg chg="mod">
          <ac:chgData name="Julie.Coffman" userId="eec50feb-9786-4164-a3be-a52c806956d6" providerId="ADAL" clId="{C998746C-32CE-F849-BB3F-D68A22F38DE7}" dt="2025-04-14T15:41:12.661" v="225" actId="20577"/>
          <ac:spMkLst>
            <pc:docMk/>
            <pc:sldMk cId="3578093985" sldId="520"/>
            <ac:spMk id="16" creationId="{69302CB2-010F-6AC3-0371-35DDBCB27DDB}"/>
          </ac:spMkLst>
        </pc:spChg>
      </pc:sldChg>
      <pc:sldChg chg="addSp delSp modSp add mod modCm">
        <pc:chgData name="Julie.Coffman" userId="eec50feb-9786-4164-a3be-a52c806956d6" providerId="ADAL" clId="{C998746C-32CE-F849-BB3F-D68A22F38DE7}" dt="2025-04-29T13:46:44.881" v="6659" actId="20577"/>
        <pc:sldMkLst>
          <pc:docMk/>
          <pc:sldMk cId="719739409" sldId="540"/>
        </pc:sldMkLst>
        <pc:spChg chg="mod">
          <ac:chgData name="Julie.Coffman" userId="eec50feb-9786-4164-a3be-a52c806956d6" providerId="ADAL" clId="{C998746C-32CE-F849-BB3F-D68A22F38DE7}" dt="2025-04-29T13:46:44.881" v="6659" actId="20577"/>
          <ac:spMkLst>
            <pc:docMk/>
            <pc:sldMk cId="719739409" sldId="540"/>
            <ac:spMk id="6" creationId="{35CE0822-594D-DC35-9521-08D90AA23877}"/>
          </ac:spMkLst>
        </pc:spChg>
        <pc:spChg chg="mod">
          <ac:chgData name="Julie.Coffman" userId="eec50feb-9786-4164-a3be-a52c806956d6" providerId="ADAL" clId="{C998746C-32CE-F849-BB3F-D68A22F38DE7}" dt="2025-04-21T16:12:17.622" v="1023" actId="113"/>
          <ac:spMkLst>
            <pc:docMk/>
            <pc:sldMk cId="719739409" sldId="540"/>
            <ac:spMk id="7" creationId="{3E6CE51C-5378-2B0F-1FC1-ECB1352B7688}"/>
          </ac:spMkLst>
        </pc:spChg>
        <pc:extLst>
          <p:ext xmlns:p="http://schemas.openxmlformats.org/presentationml/2006/main" uri="{D6D511B9-2390-475A-947B-AFAB55BFBCF1}">
            <pc226:cmChg xmlns:pc226="http://schemas.microsoft.com/office/powerpoint/2022/06/main/command" chg="mod">
              <pc226:chgData name="Julie.Coffman" userId="eec50feb-9786-4164-a3be-a52c806956d6" providerId="ADAL" clId="{C998746C-32CE-F849-BB3F-D68A22F38DE7}" dt="2025-04-29T13:46:44.881" v="6659" actId="20577"/>
              <pc2:cmMkLst xmlns:pc2="http://schemas.microsoft.com/office/powerpoint/2019/9/main/command">
                <pc:docMk/>
                <pc:sldMk cId="719739409" sldId="540"/>
                <pc2:cmMk id="{5E0ACAC0-A5BA-4A4A-B29B-575AB412635C}"/>
              </pc2:cmMkLst>
            </pc226:cmChg>
          </p:ext>
        </pc:extLst>
      </pc:sldChg>
      <pc:sldChg chg="addSp delSp modSp add mod modNotesTx">
        <pc:chgData name="Julie.Coffman" userId="eec50feb-9786-4164-a3be-a52c806956d6" providerId="ADAL" clId="{C998746C-32CE-F849-BB3F-D68A22F38DE7}" dt="2025-04-28T15:11:13.935" v="4200" actId="20577"/>
        <pc:sldMkLst>
          <pc:docMk/>
          <pc:sldMk cId="1237727912" sldId="573"/>
        </pc:sldMkLst>
        <pc:spChg chg="add mod">
          <ac:chgData name="Julie.Coffman" userId="eec50feb-9786-4164-a3be-a52c806956d6" providerId="ADAL" clId="{C998746C-32CE-F849-BB3F-D68A22F38DE7}" dt="2025-04-14T15:55:58.957" v="836" actId="1076"/>
          <ac:spMkLst>
            <pc:docMk/>
            <pc:sldMk cId="1237727912" sldId="573"/>
            <ac:spMk id="6" creationId="{8D633313-B154-2FEA-510E-3D6502138ED7}"/>
          </ac:spMkLst>
        </pc:spChg>
        <pc:spChg chg="add mod">
          <ac:chgData name="Julie.Coffman" userId="eec50feb-9786-4164-a3be-a52c806956d6" providerId="ADAL" clId="{C998746C-32CE-F849-BB3F-D68A22F38DE7}" dt="2025-04-14T15:55:58.957" v="836" actId="1076"/>
          <ac:spMkLst>
            <pc:docMk/>
            <pc:sldMk cId="1237727912" sldId="573"/>
            <ac:spMk id="7" creationId="{685FCA95-1633-16CA-06BA-26AA450C2380}"/>
          </ac:spMkLst>
        </pc:spChg>
        <pc:spChg chg="mod">
          <ac:chgData name="Julie.Coffman" userId="eec50feb-9786-4164-a3be-a52c806956d6" providerId="ADAL" clId="{C998746C-32CE-F849-BB3F-D68A22F38DE7}" dt="2025-04-14T15:55:31.019" v="832" actId="20577"/>
          <ac:spMkLst>
            <pc:docMk/>
            <pc:sldMk cId="1237727912" sldId="573"/>
            <ac:spMk id="9" creationId="{FF9F614C-82F0-8456-AC45-9BA2A3931792}"/>
          </ac:spMkLst>
        </pc:spChg>
        <pc:spChg chg="add mod">
          <ac:chgData name="Julie.Coffman" userId="eec50feb-9786-4164-a3be-a52c806956d6" providerId="ADAL" clId="{C998746C-32CE-F849-BB3F-D68A22F38DE7}" dt="2025-04-14T15:55:58.957" v="836" actId="1076"/>
          <ac:spMkLst>
            <pc:docMk/>
            <pc:sldMk cId="1237727912" sldId="573"/>
            <ac:spMk id="10" creationId="{47CA3A2C-98BE-12D2-A16D-3DA956E63693}"/>
          </ac:spMkLst>
        </pc:spChg>
        <pc:spChg chg="add mod">
          <ac:chgData name="Julie.Coffman" userId="eec50feb-9786-4164-a3be-a52c806956d6" providerId="ADAL" clId="{C998746C-32CE-F849-BB3F-D68A22F38DE7}" dt="2025-04-16T20:22:15.632" v="878" actId="20577"/>
          <ac:spMkLst>
            <pc:docMk/>
            <pc:sldMk cId="1237727912" sldId="573"/>
            <ac:spMk id="11" creationId="{4EC60D2D-9A31-0E0A-D3F7-4FC7BCACB904}"/>
          </ac:spMkLst>
        </pc:spChg>
        <pc:picChg chg="add mod">
          <ac:chgData name="Julie.Coffman" userId="eec50feb-9786-4164-a3be-a52c806956d6" providerId="ADAL" clId="{C998746C-32CE-F849-BB3F-D68A22F38DE7}" dt="2025-04-14T15:54:21.178" v="812" actId="1076"/>
          <ac:picMkLst>
            <pc:docMk/>
            <pc:sldMk cId="1237727912" sldId="573"/>
            <ac:picMk id="1029" creationId="{FB544FB1-8A78-7BA3-043C-DD2EA5ECB0B5}"/>
          </ac:picMkLst>
        </pc:picChg>
        <pc:picChg chg="add mod">
          <ac:chgData name="Julie.Coffman" userId="eec50feb-9786-4164-a3be-a52c806956d6" providerId="ADAL" clId="{C998746C-32CE-F849-BB3F-D68A22F38DE7}" dt="2025-04-14T16:02:35.169" v="863" actId="14100"/>
          <ac:picMkLst>
            <pc:docMk/>
            <pc:sldMk cId="1237727912" sldId="573"/>
            <ac:picMk id="1031" creationId="{7BF94D80-6572-BEC1-5424-77CCA4287F0D}"/>
          </ac:picMkLst>
        </pc:picChg>
      </pc:sldChg>
      <pc:sldChg chg="addSp modSp add mod ord modNotesTx">
        <pc:chgData name="Julie.Coffman" userId="eec50feb-9786-4164-a3be-a52c806956d6" providerId="ADAL" clId="{C998746C-32CE-F849-BB3F-D68A22F38DE7}" dt="2025-05-01T20:00:32.859" v="8456" actId="20577"/>
        <pc:sldMkLst>
          <pc:docMk/>
          <pc:sldMk cId="222980676" sldId="574"/>
        </pc:sldMkLst>
        <pc:spChg chg="add mod">
          <ac:chgData name="Julie.Coffman" userId="eec50feb-9786-4164-a3be-a52c806956d6" providerId="ADAL" clId="{C998746C-32CE-F849-BB3F-D68A22F38DE7}" dt="2025-05-01T20:00:32.859" v="8456" actId="20577"/>
          <ac:spMkLst>
            <pc:docMk/>
            <pc:sldMk cId="222980676" sldId="574"/>
            <ac:spMk id="2" creationId="{787EDE5E-81FD-7290-BDBA-67972480CA72}"/>
          </ac:spMkLst>
        </pc:spChg>
        <pc:spChg chg="mod">
          <ac:chgData name="Julie.Coffman" userId="eec50feb-9786-4164-a3be-a52c806956d6" providerId="ADAL" clId="{C998746C-32CE-F849-BB3F-D68A22F38DE7}" dt="2025-04-29T21:17:51.621" v="7179" actId="14100"/>
          <ac:spMkLst>
            <pc:docMk/>
            <pc:sldMk cId="222980676" sldId="574"/>
            <ac:spMk id="6" creationId="{8CFDEFBF-E6C3-E62E-168C-BB27DBD2E44A}"/>
          </ac:spMkLst>
        </pc:spChg>
        <pc:spChg chg="mod">
          <ac:chgData name="Julie.Coffman" userId="eec50feb-9786-4164-a3be-a52c806956d6" providerId="ADAL" clId="{C998746C-32CE-F849-BB3F-D68A22F38DE7}" dt="2025-04-21T16:18:15.568" v="1387" actId="20577"/>
          <ac:spMkLst>
            <pc:docMk/>
            <pc:sldMk cId="222980676" sldId="574"/>
            <ac:spMk id="7" creationId="{A08E2412-D2FA-81E0-6A02-B28E89AD860F}"/>
          </ac:spMkLst>
        </pc:spChg>
      </pc:sldChg>
      <pc:sldChg chg="addSp delSp modSp add mod ord">
        <pc:chgData name="Julie.Coffman" userId="eec50feb-9786-4164-a3be-a52c806956d6" providerId="ADAL" clId="{C998746C-32CE-F849-BB3F-D68A22F38DE7}" dt="2025-04-29T18:46:28.660" v="7050" actId="20577"/>
        <pc:sldMkLst>
          <pc:docMk/>
          <pc:sldMk cId="1358326066" sldId="575"/>
        </pc:sldMkLst>
        <pc:spChg chg="add mod">
          <ac:chgData name="Julie.Coffman" userId="eec50feb-9786-4164-a3be-a52c806956d6" providerId="ADAL" clId="{C998746C-32CE-F849-BB3F-D68A22F38DE7}" dt="2025-04-29T18:46:28.660" v="7050" actId="20577"/>
          <ac:spMkLst>
            <pc:docMk/>
            <pc:sldMk cId="1358326066" sldId="575"/>
            <ac:spMk id="2" creationId="{5FC9D531-BEAB-7487-69AE-F5AFE04738BC}"/>
          </ac:spMkLst>
        </pc:spChg>
        <pc:spChg chg="add mod">
          <ac:chgData name="Julie.Coffman" userId="eec50feb-9786-4164-a3be-a52c806956d6" providerId="ADAL" clId="{C998746C-32CE-F849-BB3F-D68A22F38DE7}" dt="2025-04-22T14:19:28.420" v="1856" actId="1076"/>
          <ac:spMkLst>
            <pc:docMk/>
            <pc:sldMk cId="1358326066" sldId="575"/>
            <ac:spMk id="5" creationId="{1D3F1C07-F6EC-E0FB-D94A-63C1A6B7E552}"/>
          </ac:spMkLst>
        </pc:spChg>
        <pc:spChg chg="mod">
          <ac:chgData name="Julie.Coffman" userId="eec50feb-9786-4164-a3be-a52c806956d6" providerId="ADAL" clId="{C998746C-32CE-F849-BB3F-D68A22F38DE7}" dt="2025-04-28T15:30:31.739" v="4513" actId="14100"/>
          <ac:spMkLst>
            <pc:docMk/>
            <pc:sldMk cId="1358326066" sldId="575"/>
            <ac:spMk id="9" creationId="{09C23461-529E-2EF2-6FD0-719D9915D067}"/>
          </ac:spMkLst>
        </pc:spChg>
        <pc:picChg chg="add mod">
          <ac:chgData name="Julie.Coffman" userId="eec50feb-9786-4164-a3be-a52c806956d6" providerId="ADAL" clId="{C998746C-32CE-F849-BB3F-D68A22F38DE7}" dt="2025-04-22T14:19:23.350" v="1855" actId="1076"/>
          <ac:picMkLst>
            <pc:docMk/>
            <pc:sldMk cId="1358326066" sldId="575"/>
            <ac:picMk id="4" creationId="{E069CAFB-A45D-369E-F600-5281EEB0721C}"/>
          </ac:picMkLst>
        </pc:picChg>
      </pc:sldChg>
      <pc:sldChg chg="addSp delSp modSp add mod">
        <pc:chgData name="Julie.Coffman" userId="eec50feb-9786-4164-a3be-a52c806956d6" providerId="ADAL" clId="{C998746C-32CE-F849-BB3F-D68A22F38DE7}" dt="2025-04-29T21:29:14.144" v="7523" actId="20577"/>
        <pc:sldMkLst>
          <pc:docMk/>
          <pc:sldMk cId="1007731698" sldId="576"/>
        </pc:sldMkLst>
        <pc:spChg chg="add mod">
          <ac:chgData name="Julie.Coffman" userId="eec50feb-9786-4164-a3be-a52c806956d6" providerId="ADAL" clId="{C998746C-32CE-F849-BB3F-D68A22F38DE7}" dt="2025-04-29T21:29:14.144" v="7523" actId="20577"/>
          <ac:spMkLst>
            <pc:docMk/>
            <pc:sldMk cId="1007731698" sldId="576"/>
            <ac:spMk id="2" creationId="{0F028B02-3AA7-74EA-DA9D-E774B7850968}"/>
          </ac:spMkLst>
        </pc:spChg>
        <pc:spChg chg="add mod">
          <ac:chgData name="Julie.Coffman" userId="eec50feb-9786-4164-a3be-a52c806956d6" providerId="ADAL" clId="{C998746C-32CE-F849-BB3F-D68A22F38DE7}" dt="2025-04-22T14:18:42.749" v="1849" actId="1076"/>
          <ac:spMkLst>
            <pc:docMk/>
            <pc:sldMk cId="1007731698" sldId="576"/>
            <ac:spMk id="6" creationId="{50176713-36F1-D9EF-6CC9-1E89FC68B51F}"/>
          </ac:spMkLst>
        </pc:spChg>
        <pc:spChg chg="mod">
          <ac:chgData name="Julie.Coffman" userId="eec50feb-9786-4164-a3be-a52c806956d6" providerId="ADAL" clId="{C998746C-32CE-F849-BB3F-D68A22F38DE7}" dt="2025-04-28T15:30:20.683" v="4511" actId="113"/>
          <ac:spMkLst>
            <pc:docMk/>
            <pc:sldMk cId="1007731698" sldId="576"/>
            <ac:spMk id="9" creationId="{FC57EC2C-AA0B-ADD3-343B-E77974D2AAE3}"/>
          </ac:spMkLst>
        </pc:spChg>
        <pc:picChg chg="add mod">
          <ac:chgData name="Julie.Coffman" userId="eec50feb-9786-4164-a3be-a52c806956d6" providerId="ADAL" clId="{C998746C-32CE-F849-BB3F-D68A22F38DE7}" dt="2025-04-21T16:33:58.794" v="1702" actId="14100"/>
          <ac:picMkLst>
            <pc:docMk/>
            <pc:sldMk cId="1007731698" sldId="576"/>
            <ac:picMk id="5" creationId="{33DD7D6A-1C16-D4F7-B09A-FE8311FE20B9}"/>
          </ac:picMkLst>
        </pc:picChg>
      </pc:sldChg>
      <pc:sldChg chg="addSp delSp modSp add mod modNotesTx">
        <pc:chgData name="Julie.Coffman" userId="eec50feb-9786-4164-a3be-a52c806956d6" providerId="ADAL" clId="{C998746C-32CE-F849-BB3F-D68A22F38DE7}" dt="2025-04-29T21:29:50.956" v="7549" actId="20577"/>
        <pc:sldMkLst>
          <pc:docMk/>
          <pc:sldMk cId="1801409709" sldId="577"/>
        </pc:sldMkLst>
        <pc:spChg chg="add mod">
          <ac:chgData name="Julie.Coffman" userId="eec50feb-9786-4164-a3be-a52c806956d6" providerId="ADAL" clId="{C998746C-32CE-F849-BB3F-D68A22F38DE7}" dt="2025-04-29T21:29:50.956" v="7549" actId="20577"/>
          <ac:spMkLst>
            <pc:docMk/>
            <pc:sldMk cId="1801409709" sldId="577"/>
            <ac:spMk id="2" creationId="{2254057B-7C80-A8EA-BDBA-41E38D6F467E}"/>
          </ac:spMkLst>
        </pc:spChg>
        <pc:spChg chg="add mod">
          <ac:chgData name="Julie.Coffman" userId="eec50feb-9786-4164-a3be-a52c806956d6" providerId="ADAL" clId="{C998746C-32CE-F849-BB3F-D68A22F38DE7}" dt="2025-04-22T14:17:59.321" v="1840" actId="1076"/>
          <ac:spMkLst>
            <pc:docMk/>
            <pc:sldMk cId="1801409709" sldId="577"/>
            <ac:spMk id="6" creationId="{C731DBCB-EDE2-4778-E1F0-6409E4A239F7}"/>
          </ac:spMkLst>
        </pc:spChg>
        <pc:spChg chg="mod">
          <ac:chgData name="Julie.Coffman" userId="eec50feb-9786-4164-a3be-a52c806956d6" providerId="ADAL" clId="{C998746C-32CE-F849-BB3F-D68A22F38DE7}" dt="2025-04-28T15:30:13.852" v="4510" actId="113"/>
          <ac:spMkLst>
            <pc:docMk/>
            <pc:sldMk cId="1801409709" sldId="577"/>
            <ac:spMk id="9" creationId="{3F0BB4B1-3926-9C90-E4ED-132A0E6F3B8F}"/>
          </ac:spMkLst>
        </pc:spChg>
        <pc:picChg chg="add mod">
          <ac:chgData name="Julie.Coffman" userId="eec50feb-9786-4164-a3be-a52c806956d6" providerId="ADAL" clId="{C998746C-32CE-F849-BB3F-D68A22F38DE7}" dt="2025-04-29T21:29:34.609" v="7526" actId="1076"/>
          <ac:picMkLst>
            <pc:docMk/>
            <pc:sldMk cId="1801409709" sldId="577"/>
            <ac:picMk id="4" creationId="{88E608A3-4B57-A31C-477B-ABE9C829B5B4}"/>
          </ac:picMkLst>
        </pc:picChg>
      </pc:sldChg>
      <pc:sldChg chg="addSp delSp modSp add mod">
        <pc:chgData name="Julie.Coffman" userId="eec50feb-9786-4164-a3be-a52c806956d6" providerId="ADAL" clId="{C998746C-32CE-F849-BB3F-D68A22F38DE7}" dt="2025-04-22T14:30:53.791" v="1868" actId="1076"/>
        <pc:sldMkLst>
          <pc:docMk/>
          <pc:sldMk cId="4269370116" sldId="578"/>
        </pc:sldMkLst>
        <pc:spChg chg="add mod">
          <ac:chgData name="Julie.Coffman" userId="eec50feb-9786-4164-a3be-a52c806956d6" providerId="ADAL" clId="{C998746C-32CE-F849-BB3F-D68A22F38DE7}" dt="2025-04-22T14:30:53.791" v="1868" actId="1076"/>
          <ac:spMkLst>
            <pc:docMk/>
            <pc:sldMk cId="4269370116" sldId="578"/>
            <ac:spMk id="4" creationId="{31381A5D-4A84-19B0-3104-4D3F53D18BC9}"/>
          </ac:spMkLst>
        </pc:spChg>
      </pc:sldChg>
      <pc:sldChg chg="addSp delSp modSp add mod">
        <pc:chgData name="Julie.Coffman" userId="eec50feb-9786-4164-a3be-a52c806956d6" providerId="ADAL" clId="{C998746C-32CE-F849-BB3F-D68A22F38DE7}" dt="2025-04-28T19:04:05.260" v="6500" actId="14100"/>
        <pc:sldMkLst>
          <pc:docMk/>
          <pc:sldMk cId="2174822455" sldId="579"/>
        </pc:sldMkLst>
        <pc:spChg chg="add mod">
          <ac:chgData name="Julie.Coffman" userId="eec50feb-9786-4164-a3be-a52c806956d6" providerId="ADAL" clId="{C998746C-32CE-F849-BB3F-D68A22F38DE7}" dt="2025-04-28T19:04:05.260" v="6500" actId="14100"/>
          <ac:spMkLst>
            <pc:docMk/>
            <pc:sldMk cId="2174822455" sldId="579"/>
            <ac:spMk id="2" creationId="{DEA6E3A6-E585-E8C0-999E-DBA1CAE42C57}"/>
          </ac:spMkLst>
        </pc:spChg>
        <pc:spChg chg="mod">
          <ac:chgData name="Julie.Coffman" userId="eec50feb-9786-4164-a3be-a52c806956d6" providerId="ADAL" clId="{C998746C-32CE-F849-BB3F-D68A22F38DE7}" dt="2025-04-28T16:11:29.554" v="6215" actId="113"/>
          <ac:spMkLst>
            <pc:docMk/>
            <pc:sldMk cId="2174822455" sldId="579"/>
            <ac:spMk id="9" creationId="{C99D6C86-E8C6-26B2-E677-442E655394B9}"/>
          </ac:spMkLst>
        </pc:spChg>
      </pc:sldChg>
      <pc:sldChg chg="addSp delSp modSp add mod modNotesTx">
        <pc:chgData name="Julie.Coffman" userId="eec50feb-9786-4164-a3be-a52c806956d6" providerId="ADAL" clId="{C998746C-32CE-F849-BB3F-D68A22F38DE7}" dt="2025-05-01T20:02:17.294" v="8522" actId="20577"/>
        <pc:sldMkLst>
          <pc:docMk/>
          <pc:sldMk cId="1084698848" sldId="580"/>
        </pc:sldMkLst>
        <pc:spChg chg="add mod">
          <ac:chgData name="Julie.Coffman" userId="eec50feb-9786-4164-a3be-a52c806956d6" providerId="ADAL" clId="{C998746C-32CE-F849-BB3F-D68A22F38DE7}" dt="2025-05-01T20:02:17.294" v="8522" actId="20577"/>
          <ac:spMkLst>
            <pc:docMk/>
            <pc:sldMk cId="1084698848" sldId="580"/>
            <ac:spMk id="2" creationId="{2E991D09-B4DB-DB54-8600-2B6446FB66D1}"/>
          </ac:spMkLst>
        </pc:spChg>
        <pc:spChg chg="add mod">
          <ac:chgData name="Julie.Coffman" userId="eec50feb-9786-4164-a3be-a52c806956d6" providerId="ADAL" clId="{C998746C-32CE-F849-BB3F-D68A22F38DE7}" dt="2025-04-29T18:54:56.193" v="7068" actId="1076"/>
          <ac:spMkLst>
            <pc:docMk/>
            <pc:sldMk cId="1084698848" sldId="580"/>
            <ac:spMk id="4" creationId="{1E151BCB-F10C-172A-49A2-40B1BE9E35FA}"/>
          </ac:spMkLst>
        </pc:spChg>
        <pc:spChg chg="add mod">
          <ac:chgData name="Julie.Coffman" userId="eec50feb-9786-4164-a3be-a52c806956d6" providerId="ADAL" clId="{C998746C-32CE-F849-BB3F-D68A22F38DE7}" dt="2025-04-29T18:54:56.761" v="7069" actId="1076"/>
          <ac:spMkLst>
            <pc:docMk/>
            <pc:sldMk cId="1084698848" sldId="580"/>
            <ac:spMk id="6" creationId="{B6132F52-DFDC-172D-EE2B-1DE1C7E4F703}"/>
          </ac:spMkLst>
        </pc:spChg>
        <pc:spChg chg="mod">
          <ac:chgData name="Julie.Coffman" userId="eec50feb-9786-4164-a3be-a52c806956d6" providerId="ADAL" clId="{C998746C-32CE-F849-BB3F-D68A22F38DE7}" dt="2025-04-29T18:54:55.110" v="7066" actId="1076"/>
          <ac:spMkLst>
            <pc:docMk/>
            <pc:sldMk cId="1084698848" sldId="580"/>
            <ac:spMk id="9" creationId="{E8A6A3C5-BC0A-7CE7-BE59-C797983EBD6E}"/>
          </ac:spMkLst>
        </pc:spChg>
      </pc:sldChg>
      <pc:sldChg chg="modSp add mod">
        <pc:chgData name="Julie.Coffman" userId="eec50feb-9786-4164-a3be-a52c806956d6" providerId="ADAL" clId="{C998746C-32CE-F849-BB3F-D68A22F38DE7}" dt="2025-04-28T16:30:40.116" v="6367" actId="114"/>
        <pc:sldMkLst>
          <pc:docMk/>
          <pc:sldMk cId="352079252" sldId="581"/>
        </pc:sldMkLst>
        <pc:spChg chg="mod">
          <ac:chgData name="Julie.Coffman" userId="eec50feb-9786-4164-a3be-a52c806956d6" providerId="ADAL" clId="{C998746C-32CE-F849-BB3F-D68A22F38DE7}" dt="2025-04-28T16:30:40.116" v="6367" actId="114"/>
          <ac:spMkLst>
            <pc:docMk/>
            <pc:sldMk cId="352079252" sldId="581"/>
            <ac:spMk id="2" creationId="{3BCE82B3-FF6C-E28C-106E-EC6DBEE61752}"/>
          </ac:spMkLst>
        </pc:spChg>
        <pc:spChg chg="mod">
          <ac:chgData name="Julie.Coffman" userId="eec50feb-9786-4164-a3be-a52c806956d6" providerId="ADAL" clId="{C998746C-32CE-F849-BB3F-D68A22F38DE7}" dt="2025-04-28T16:11:26.622" v="6214" actId="113"/>
          <ac:spMkLst>
            <pc:docMk/>
            <pc:sldMk cId="352079252" sldId="581"/>
            <ac:spMk id="9" creationId="{3C8FCCCF-DD7F-49AB-F218-2E0A06476C21}"/>
          </ac:spMkLst>
        </pc:spChg>
      </pc:sldChg>
      <pc:sldChg chg="modSp add mod">
        <pc:chgData name="Julie.Coffman" userId="eec50feb-9786-4164-a3be-a52c806956d6" providerId="ADAL" clId="{C998746C-32CE-F849-BB3F-D68A22F38DE7}" dt="2025-04-28T16:35:10.641" v="6398" actId="255"/>
        <pc:sldMkLst>
          <pc:docMk/>
          <pc:sldMk cId="958006241" sldId="582"/>
        </pc:sldMkLst>
        <pc:spChg chg="mod">
          <ac:chgData name="Julie.Coffman" userId="eec50feb-9786-4164-a3be-a52c806956d6" providerId="ADAL" clId="{C998746C-32CE-F849-BB3F-D68A22F38DE7}" dt="2025-04-28T16:35:10.641" v="6398" actId="255"/>
          <ac:spMkLst>
            <pc:docMk/>
            <pc:sldMk cId="958006241" sldId="582"/>
            <ac:spMk id="2" creationId="{5CAD04D9-E014-02FF-D163-871752E38FC3}"/>
          </ac:spMkLst>
        </pc:spChg>
        <pc:spChg chg="mod">
          <ac:chgData name="Julie.Coffman" userId="eec50feb-9786-4164-a3be-a52c806956d6" providerId="ADAL" clId="{C998746C-32CE-F849-BB3F-D68A22F38DE7}" dt="2025-04-28T16:11:37.713" v="6233" actId="113"/>
          <ac:spMkLst>
            <pc:docMk/>
            <pc:sldMk cId="958006241" sldId="582"/>
            <ac:spMk id="9" creationId="{AC191A1F-DFCA-13EA-B344-FE4EC983A678}"/>
          </ac:spMkLst>
        </pc:spChg>
      </pc:sldChg>
      <pc:sldChg chg="modSp add mod">
        <pc:chgData name="Julie.Coffman" userId="eec50feb-9786-4164-a3be-a52c806956d6" providerId="ADAL" clId="{C998746C-32CE-F849-BB3F-D68A22F38DE7}" dt="2025-04-28T16:38:47.250" v="6439" actId="14100"/>
        <pc:sldMkLst>
          <pc:docMk/>
          <pc:sldMk cId="157070445" sldId="583"/>
        </pc:sldMkLst>
        <pc:spChg chg="mod">
          <ac:chgData name="Julie.Coffman" userId="eec50feb-9786-4164-a3be-a52c806956d6" providerId="ADAL" clId="{C998746C-32CE-F849-BB3F-D68A22F38DE7}" dt="2025-04-28T16:38:47.250" v="6439" actId="14100"/>
          <ac:spMkLst>
            <pc:docMk/>
            <pc:sldMk cId="157070445" sldId="583"/>
            <ac:spMk id="2" creationId="{1B95EE30-8A6A-52AF-EF7F-59C5BDFB53E4}"/>
          </ac:spMkLst>
        </pc:spChg>
        <pc:spChg chg="mod">
          <ac:chgData name="Julie.Coffman" userId="eec50feb-9786-4164-a3be-a52c806956d6" providerId="ADAL" clId="{C998746C-32CE-F849-BB3F-D68A22F38DE7}" dt="2025-04-28T16:12:14.478" v="6256" actId="113"/>
          <ac:spMkLst>
            <pc:docMk/>
            <pc:sldMk cId="157070445" sldId="583"/>
            <ac:spMk id="9" creationId="{57952BBF-B249-38EA-64D0-21351AD9AB94}"/>
          </ac:spMkLst>
        </pc:spChg>
      </pc:sldChg>
      <pc:sldChg chg="addSp modSp add mod ord modNotesTx">
        <pc:chgData name="Julie.Coffman" userId="eec50feb-9786-4164-a3be-a52c806956d6" providerId="ADAL" clId="{C998746C-32CE-F849-BB3F-D68A22F38DE7}" dt="2025-04-28T19:06:41.421" v="6623" actId="20577"/>
        <pc:sldMkLst>
          <pc:docMk/>
          <pc:sldMk cId="3306446076" sldId="694"/>
        </pc:sldMkLst>
        <pc:spChg chg="mod">
          <ac:chgData name="Julie.Coffman" userId="eec50feb-9786-4164-a3be-a52c806956d6" providerId="ADAL" clId="{C998746C-32CE-F849-BB3F-D68A22F38DE7}" dt="2025-04-28T19:04:59.282" v="6578" actId="20577"/>
          <ac:spMkLst>
            <pc:docMk/>
            <pc:sldMk cId="3306446076" sldId="694"/>
            <ac:spMk id="2" creationId="{6CA08833-7079-08AD-3837-C65BB50C1E17}"/>
          </ac:spMkLst>
        </pc:spChg>
        <pc:spChg chg="add mod">
          <ac:chgData name="Julie.Coffman" userId="eec50feb-9786-4164-a3be-a52c806956d6" providerId="ADAL" clId="{C998746C-32CE-F849-BB3F-D68A22F38DE7}" dt="2025-04-28T15:35:40.480" v="4671" actId="14100"/>
          <ac:spMkLst>
            <pc:docMk/>
            <pc:sldMk cId="3306446076" sldId="694"/>
            <ac:spMk id="3" creationId="{F8E4BAE0-868A-79EA-53D7-2FB0E4B07C9F}"/>
          </ac:spMkLst>
        </pc:spChg>
        <pc:spChg chg="add mod">
          <ac:chgData name="Julie.Coffman" userId="eec50feb-9786-4164-a3be-a52c806956d6" providerId="ADAL" clId="{C998746C-32CE-F849-BB3F-D68A22F38DE7}" dt="2025-04-28T15:40:49.367" v="5013" actId="20577"/>
          <ac:spMkLst>
            <pc:docMk/>
            <pc:sldMk cId="3306446076" sldId="694"/>
            <ac:spMk id="5" creationId="{76F9E643-28DB-541C-AF52-77E60694C2D2}"/>
          </ac:spMkLst>
        </pc:spChg>
        <pc:spChg chg="add mod">
          <ac:chgData name="Julie.Coffman" userId="eec50feb-9786-4164-a3be-a52c806956d6" providerId="ADAL" clId="{C998746C-32CE-F849-BB3F-D68A22F38DE7}" dt="2025-04-28T16:11:07.879" v="6187" actId="1076"/>
          <ac:spMkLst>
            <pc:docMk/>
            <pc:sldMk cId="3306446076" sldId="694"/>
            <ac:spMk id="6" creationId="{7B248FA6-6FA2-E9A4-6B8F-9336C4D3F40F}"/>
          </ac:spMkLst>
        </pc:spChg>
        <pc:spChg chg="add mod">
          <ac:chgData name="Julie.Coffman" userId="eec50feb-9786-4164-a3be-a52c806956d6" providerId="ADAL" clId="{C998746C-32CE-F849-BB3F-D68A22F38DE7}" dt="2025-04-28T16:11:12.611" v="6188" actId="1076"/>
          <ac:spMkLst>
            <pc:docMk/>
            <pc:sldMk cId="3306446076" sldId="694"/>
            <ac:spMk id="7" creationId="{0AD124A5-799C-C002-1515-8E867A30DCDA}"/>
          </ac:spMkLst>
        </pc:spChg>
        <pc:spChg chg="mod">
          <ac:chgData name="Julie.Coffman" userId="eec50feb-9786-4164-a3be-a52c806956d6" providerId="ADAL" clId="{C998746C-32CE-F849-BB3F-D68A22F38DE7}" dt="2025-04-28T15:28:10.053" v="4427" actId="14100"/>
          <ac:spMkLst>
            <pc:docMk/>
            <pc:sldMk cId="3306446076" sldId="694"/>
            <ac:spMk id="14" creationId="{C495063B-3A10-C5B0-9317-FB2E694FC5B3}"/>
          </ac:spMkLst>
        </pc:spChg>
        <pc:spChg chg="mod">
          <ac:chgData name="Julie.Coffman" userId="eec50feb-9786-4164-a3be-a52c806956d6" providerId="ADAL" clId="{C998746C-32CE-F849-BB3F-D68A22F38DE7}" dt="2025-04-28T15:27:16.252" v="4398" actId="27636"/>
          <ac:spMkLst>
            <pc:docMk/>
            <pc:sldMk cId="3306446076" sldId="694"/>
            <ac:spMk id="22" creationId="{F6FDB374-2D05-D642-5264-EFF4F8E46BD5}"/>
          </ac:spMkLst>
        </pc:spChg>
        <pc:spChg chg="mod">
          <ac:chgData name="Julie.Coffman" userId="eec50feb-9786-4164-a3be-a52c806956d6" providerId="ADAL" clId="{C998746C-32CE-F849-BB3F-D68A22F38DE7}" dt="2025-04-28T15:55:10.207" v="5059" actId="20577"/>
          <ac:spMkLst>
            <pc:docMk/>
            <pc:sldMk cId="3306446076" sldId="694"/>
            <ac:spMk id="27" creationId="{44C52E7C-3A07-6AB4-E973-38941B3A0F88}"/>
          </ac:spMkLst>
        </pc:spChg>
        <pc:spChg chg="mod">
          <ac:chgData name="Julie.Coffman" userId="eec50feb-9786-4164-a3be-a52c806956d6" providerId="ADAL" clId="{C998746C-32CE-F849-BB3F-D68A22F38DE7}" dt="2025-04-28T19:06:41.421" v="6623" actId="20577"/>
          <ac:spMkLst>
            <pc:docMk/>
            <pc:sldMk cId="3306446076" sldId="694"/>
            <ac:spMk id="28" creationId="{30D4F611-1722-CE69-203A-6BB65C78D5D4}"/>
          </ac:spMkLst>
        </pc:spChg>
        <pc:spChg chg="mod">
          <ac:chgData name="Julie.Coffman" userId="eec50feb-9786-4164-a3be-a52c806956d6" providerId="ADAL" clId="{C998746C-32CE-F849-BB3F-D68A22F38DE7}" dt="2025-04-28T15:28:46.521" v="4458" actId="20577"/>
          <ac:spMkLst>
            <pc:docMk/>
            <pc:sldMk cId="3306446076" sldId="694"/>
            <ac:spMk id="30" creationId="{FF834E11-B57F-94A6-87BD-0A08A3730B27}"/>
          </ac:spMkLst>
        </pc:spChg>
        <pc:spChg chg="mod">
          <ac:chgData name="Julie.Coffman" userId="eec50feb-9786-4164-a3be-a52c806956d6" providerId="ADAL" clId="{C998746C-32CE-F849-BB3F-D68A22F38DE7}" dt="2025-04-28T16:10:08.513" v="6181" actId="255"/>
          <ac:spMkLst>
            <pc:docMk/>
            <pc:sldMk cId="3306446076" sldId="694"/>
            <ac:spMk id="31" creationId="{A54D374E-E23C-8BFE-B449-D6585D4B7B5F}"/>
          </ac:spMkLst>
        </pc:spChg>
        <pc:spChg chg="mod">
          <ac:chgData name="Julie.Coffman" userId="eec50feb-9786-4164-a3be-a52c806956d6" providerId="ADAL" clId="{C998746C-32CE-F849-BB3F-D68A22F38DE7}" dt="2025-04-28T16:05:04.663" v="5577" actId="20577"/>
          <ac:spMkLst>
            <pc:docMk/>
            <pc:sldMk cId="3306446076" sldId="694"/>
            <ac:spMk id="33" creationId="{217E1B00-472A-C899-FF97-6B6CD391E3D5}"/>
          </ac:spMkLst>
        </pc:spChg>
        <pc:spChg chg="mod">
          <ac:chgData name="Julie.Coffman" userId="eec50feb-9786-4164-a3be-a52c806956d6" providerId="ADAL" clId="{C998746C-32CE-F849-BB3F-D68A22F38DE7}" dt="2025-04-28T16:10:03.160" v="6180" actId="255"/>
          <ac:spMkLst>
            <pc:docMk/>
            <pc:sldMk cId="3306446076" sldId="694"/>
            <ac:spMk id="34" creationId="{65F6722B-634D-B5B6-538B-97A217844757}"/>
          </ac:spMkLst>
        </pc:spChg>
      </pc:sldChg>
      <pc:sldChg chg="delSp modSp add mod ord">
        <pc:chgData name="Julie.Coffman" userId="eec50feb-9786-4164-a3be-a52c806956d6" providerId="ADAL" clId="{C998746C-32CE-F849-BB3F-D68A22F38DE7}" dt="2025-04-29T14:18:27.659" v="6980" actId="20578"/>
        <pc:sldMkLst>
          <pc:docMk/>
          <pc:sldMk cId="4289088949" sldId="813"/>
        </pc:sldMkLst>
        <pc:spChg chg="mod">
          <ac:chgData name="Julie.Coffman" userId="eec50feb-9786-4164-a3be-a52c806956d6" providerId="ADAL" clId="{C998746C-32CE-F849-BB3F-D68A22F38DE7}" dt="2025-04-29T14:17:31.710" v="6966" actId="207"/>
          <ac:spMkLst>
            <pc:docMk/>
            <pc:sldMk cId="4289088949" sldId="813"/>
            <ac:spMk id="6" creationId="{42FB366F-ED6D-4A94-C6F2-6587004862A3}"/>
          </ac:spMkLst>
        </pc:spChg>
        <pc:spChg chg="mod">
          <ac:chgData name="Julie.Coffman" userId="eec50feb-9786-4164-a3be-a52c806956d6" providerId="ADAL" clId="{C998746C-32CE-F849-BB3F-D68A22F38DE7}" dt="2025-04-29T14:17:37.227" v="6974" actId="20577"/>
          <ac:spMkLst>
            <pc:docMk/>
            <pc:sldMk cId="4289088949" sldId="813"/>
            <ac:spMk id="9" creationId="{C68088CC-D3E1-F2AC-83DF-7A5E9926B19A}"/>
          </ac:spMkLst>
        </pc:spChg>
      </pc:sldChg>
      <pc:sldChg chg="add del">
        <pc:chgData name="Julie.Coffman" userId="eec50feb-9786-4164-a3be-a52c806956d6" providerId="ADAL" clId="{C998746C-32CE-F849-BB3F-D68A22F38DE7}" dt="2025-04-29T14:17:50.241" v="6977"/>
        <pc:sldMkLst>
          <pc:docMk/>
          <pc:sldMk cId="2838074380" sldId="814"/>
        </pc:sldMkLst>
      </pc:sldChg>
      <pc:sldChg chg="addSp modSp add mod ord">
        <pc:chgData name="Julie.Coffman" userId="eec50feb-9786-4164-a3be-a52c806956d6" providerId="ADAL" clId="{C998746C-32CE-F849-BB3F-D68A22F38DE7}" dt="2025-04-29T14:21:11.714" v="7020" actId="1076"/>
        <pc:sldMkLst>
          <pc:docMk/>
          <pc:sldMk cId="3284793927" sldId="814"/>
        </pc:sldMkLst>
        <pc:spChg chg="mod">
          <ac:chgData name="Julie.Coffman" userId="eec50feb-9786-4164-a3be-a52c806956d6" providerId="ADAL" clId="{C998746C-32CE-F849-BB3F-D68A22F38DE7}" dt="2025-04-29T14:19:26.920" v="7001" actId="1076"/>
          <ac:spMkLst>
            <pc:docMk/>
            <pc:sldMk cId="3284793927" sldId="814"/>
            <ac:spMk id="2" creationId="{715892A4-2A64-8721-10F8-2F2E6583C200}"/>
          </ac:spMkLst>
        </pc:spChg>
        <pc:spChg chg="add mod">
          <ac:chgData name="Julie.Coffman" userId="eec50feb-9786-4164-a3be-a52c806956d6" providerId="ADAL" clId="{C998746C-32CE-F849-BB3F-D68A22F38DE7}" dt="2025-04-29T14:21:11.714" v="7020" actId="1076"/>
          <ac:spMkLst>
            <pc:docMk/>
            <pc:sldMk cId="3284793927" sldId="814"/>
            <ac:spMk id="4" creationId="{D139A5ED-6A30-3796-799C-85D989D41CED}"/>
          </ac:spMkLst>
        </pc:spChg>
        <pc:spChg chg="add mod">
          <ac:chgData name="Julie.Coffman" userId="eec50feb-9786-4164-a3be-a52c806956d6" providerId="ADAL" clId="{C998746C-32CE-F849-BB3F-D68A22F38DE7}" dt="2025-04-29T14:21:04.648" v="7019" actId="20577"/>
          <ac:spMkLst>
            <pc:docMk/>
            <pc:sldMk cId="3284793927" sldId="814"/>
            <ac:spMk id="5" creationId="{FB08C94E-5FBC-100C-82BB-4D278E6A0613}"/>
          </ac:spMkLst>
        </pc:spChg>
        <pc:spChg chg="mod">
          <ac:chgData name="Julie.Coffman" userId="eec50feb-9786-4164-a3be-a52c806956d6" providerId="ADAL" clId="{C998746C-32CE-F849-BB3F-D68A22F38DE7}" dt="2025-04-29T14:18:34.052" v="6993" actId="20577"/>
          <ac:spMkLst>
            <pc:docMk/>
            <pc:sldMk cId="3284793927" sldId="814"/>
            <ac:spMk id="9" creationId="{0823A47C-EAE9-A191-9983-A93D9DB861BB}"/>
          </ac:spMkLst>
        </pc:spChg>
      </pc:sldChg>
      <pc:sldChg chg="add del">
        <pc:chgData name="Julie.Coffman" userId="eec50feb-9786-4164-a3be-a52c806956d6" providerId="ADAL" clId="{C998746C-32CE-F849-BB3F-D68A22F38DE7}" dt="2025-04-29T14:18:39.592" v="6995"/>
        <pc:sldMkLst>
          <pc:docMk/>
          <pc:sldMk cId="1034767845" sldId="815"/>
        </pc:sldMkLst>
      </pc:sldChg>
      <pc:sldChg chg="addSp delSp modSp add mod">
        <pc:chgData name="Julie.Coffman" userId="eec50feb-9786-4164-a3be-a52c806956d6" providerId="ADAL" clId="{C998746C-32CE-F849-BB3F-D68A22F38DE7}" dt="2025-05-01T20:01:48.708" v="8490" actId="20577"/>
        <pc:sldMkLst>
          <pc:docMk/>
          <pc:sldMk cId="2556468275" sldId="815"/>
        </pc:sldMkLst>
        <pc:spChg chg="mod">
          <ac:chgData name="Julie.Coffman" userId="eec50feb-9786-4164-a3be-a52c806956d6" providerId="ADAL" clId="{C998746C-32CE-F849-BB3F-D68A22F38DE7}" dt="2025-05-01T20:01:48.708" v="8490" actId="20577"/>
          <ac:spMkLst>
            <pc:docMk/>
            <pc:sldMk cId="2556468275" sldId="815"/>
            <ac:spMk id="2" creationId="{E9312206-6169-CBDC-2855-28F9853238AA}"/>
          </ac:spMkLst>
        </pc:spChg>
        <pc:spChg chg="add mod">
          <ac:chgData name="Julie.Coffman" userId="eec50feb-9786-4164-a3be-a52c806956d6" providerId="ADAL" clId="{C998746C-32CE-F849-BB3F-D68A22F38DE7}" dt="2025-04-29T21:42:39.167" v="8434" actId="1076"/>
          <ac:spMkLst>
            <pc:docMk/>
            <pc:sldMk cId="2556468275" sldId="815"/>
            <ac:spMk id="4" creationId="{2BD4E873-5289-0102-A332-98D89F1CA241}"/>
          </ac:spMkLst>
        </pc:spChg>
        <pc:picChg chg="add mod modCrop">
          <ac:chgData name="Julie.Coffman" userId="eec50feb-9786-4164-a3be-a52c806956d6" providerId="ADAL" clId="{C998746C-32CE-F849-BB3F-D68A22F38DE7}" dt="2025-04-29T21:44:05.700" v="8446" actId="1076"/>
          <ac:picMkLst>
            <pc:docMk/>
            <pc:sldMk cId="2556468275" sldId="815"/>
            <ac:picMk id="8" creationId="{C0AD9B5F-4F20-4D47-D6AD-85270308E68F}"/>
          </ac:picMkLst>
        </pc:picChg>
      </pc:sldChg>
    </pc:docChg>
  </pc:docChgLst>
  <pc:docChgLst>
    <pc:chgData name="Julie.Coffman" userId="S::julie.coffman@target.com::eec50feb-9786-4164-a3be-a52c806956d6" providerId="AD" clId="Web-{49A7CFC9-11E0-A41B-CB5C-E8FD29004FC7}"/>
    <pc:docChg chg="modSld">
      <pc:chgData name="Julie.Coffman" userId="S::julie.coffman@target.com::eec50feb-9786-4164-a3be-a52c806956d6" providerId="AD" clId="Web-{49A7CFC9-11E0-A41B-CB5C-E8FD29004FC7}" dt="2025-05-15T14:24:16.459" v="0" actId="20577"/>
      <pc:docMkLst>
        <pc:docMk/>
      </pc:docMkLst>
      <pc:sldChg chg="modSp modCm">
        <pc:chgData name="Julie.Coffman" userId="S::julie.coffman@target.com::eec50feb-9786-4164-a3be-a52c806956d6" providerId="AD" clId="Web-{49A7CFC9-11E0-A41B-CB5C-E8FD29004FC7}" dt="2025-05-15T14:24:16.459" v="0" actId="20577"/>
        <pc:sldMkLst>
          <pc:docMk/>
          <pc:sldMk cId="3578093985" sldId="520"/>
        </pc:sldMkLst>
        <pc:spChg chg="mod">
          <ac:chgData name="Julie.Coffman" userId="S::julie.coffman@target.com::eec50feb-9786-4164-a3be-a52c806956d6" providerId="AD" clId="Web-{49A7CFC9-11E0-A41B-CB5C-E8FD29004FC7}" dt="2025-05-15T14:24:16.459" v="0" actId="20577"/>
          <ac:spMkLst>
            <pc:docMk/>
            <pc:sldMk cId="3578093985" sldId="520"/>
            <ac:spMk id="6" creationId="{D793D2D5-4E4C-71F1-33A6-D52B5E1F3D53}"/>
          </ac:spMkLst>
        </pc:spChg>
        <pc:extLst>
          <p:ext xmlns:p="http://schemas.openxmlformats.org/presentationml/2006/main" uri="{D6D511B9-2390-475A-947B-AFAB55BFBCF1}">
            <pc226:cmChg xmlns:pc226="http://schemas.microsoft.com/office/powerpoint/2022/06/main/command" chg="mod">
              <pc226:chgData name="Julie.Coffman" userId="S::julie.coffman@target.com::eec50feb-9786-4164-a3be-a52c806956d6" providerId="AD" clId="Web-{49A7CFC9-11E0-A41B-CB5C-E8FD29004FC7}" dt="2025-05-15T14:24:16.459" v="0" actId="20577"/>
              <pc2:cmMkLst xmlns:pc2="http://schemas.microsoft.com/office/powerpoint/2019/9/main/command">
                <pc:docMk/>
                <pc:sldMk cId="3578093985" sldId="520"/>
                <pc2:cmMk id="{A9186253-FFA8-4029-BCD3-F0524E87FC40}"/>
              </pc2:cmMkLst>
            </pc226:cmChg>
          </p:ext>
        </pc:extLst>
      </pc:sldChg>
    </pc:docChg>
  </pc:docChgLst>
  <pc:docChgLst>
    <pc:chgData name="Ryan.Svoboda" userId="S::ryan.svoboda@target.com::729185cd-7948-420b-858e-1ec262f7ff61" providerId="AD" clId="Web-{67F50CA3-94F9-299A-60A0-52F9EBADBE51}"/>
    <pc:docChg chg="mod">
      <pc:chgData name="Ryan.Svoboda" userId="S::ryan.svoboda@target.com::729185cd-7948-420b-858e-1ec262f7ff61" providerId="AD" clId="Web-{67F50CA3-94F9-299A-60A0-52F9EBADBE51}" dt="2025-04-28T19:49:24.647" v="0"/>
      <pc:docMkLst>
        <pc:docMk/>
      </pc:docMkLst>
    </pc:docChg>
  </pc:docChgLst>
</pc:chgInfo>
</file>

<file path=ppt/comments/modernComment_2B6_C5145CFC.xml><?xml version="1.0" encoding="utf-8"?>
<p188:cmLst xmlns:a="http://schemas.openxmlformats.org/drawingml/2006/main" xmlns:r="http://schemas.openxmlformats.org/officeDocument/2006/relationships" xmlns:p188="http://schemas.microsoft.com/office/powerpoint/2018/8/main">
  <p188:cm id="{60AEECB2-3F74-4318-8FB3-CFA69CC23BB3}" authorId="{DC9E1623-FFA9-6B84-CE8D-34CDBD61C34A}" created="2025-04-29T13:43:16.510">
    <ac:txMkLst xmlns:ac="http://schemas.microsoft.com/office/drawing/2013/main/command">
      <pc:docMk xmlns:pc="http://schemas.microsoft.com/office/powerpoint/2013/main/command"/>
      <pc:sldMk xmlns:pc="http://schemas.microsoft.com/office/powerpoint/2013/main/command" cId="3306446076" sldId="694"/>
      <ac:spMk id="3" creationId="{F8E4BAE0-868A-79EA-53D7-2FB0E4B07C9F}"/>
      <ac:txMk cp="0" len="11">
        <ac:context len="12" hash="2412755908"/>
      </ac:txMk>
    </ac:txMkLst>
    <p188:pos x="1238234" y="285908"/>
    <p188:txBody>
      <a:bodyPr/>
      <a:lstStyle/>
      <a:p>
        <a:r>
          <a:rPr lang="en-US"/>
          <a:t>I wouldn’t be surprised to see folks ask what % of respondents this is… if you don’t want to include that on the slide, may want to have it in your back pocket</a:t>
        </a:r>
      </a:p>
    </p188:txBody>
    <p188:extLst>
      <p:ext xmlns:p="http://schemas.openxmlformats.org/presentationml/2006/main" uri="{57CB4572-C831-44C2-8A1C-0ADB6CCDFE69}">
        <p223:reactions xmlns:p223="http://schemas.microsoft.com/office/powerpoint/2022/03/main">
          <p223:rxn type="👍">
            <p223:instance time="2025-04-29T14:04:40.825" authorId="{6C9A23CD-9939-1872-9118-930BC1D118C7}"/>
          </p223:rxn>
        </p223:reactions>
      </p:ext>
    </p188:extLst>
  </p188:cm>
</p188:cmLst>
</file>

<file path=ppt/comments/modernComment_21C_2AE65A11.xml><?xml version="1.0" encoding="utf-8"?>
<p188:cmLst xmlns:a="http://schemas.openxmlformats.org/drawingml/2006/main" xmlns:r="http://schemas.openxmlformats.org/officeDocument/2006/relationships" xmlns:p188="http://schemas.microsoft.com/office/powerpoint/2018/8/main">
  <p188:cm id="{35BA407D-69EA-456D-966E-D19DBBF37F68}" authorId="{DC9E1623-FFA9-6B84-CE8D-34CDBD61C34A}" created="2025-04-29T13:39:24.198">
    <ac:txMkLst xmlns:ac="http://schemas.microsoft.com/office/drawing/2013/main/command">
      <pc:docMk xmlns:pc="http://schemas.microsoft.com/office/powerpoint/2013/main/command"/>
      <pc:sldMk xmlns:pc="http://schemas.microsoft.com/office/powerpoint/2013/main/command" cId="719739409" sldId="540"/>
      <ac:spMk id="7" creationId="{3E6CE51C-5378-2B0F-1FC1-ECB1352B7688}"/>
      <ac:txMk cp="55" len="4">
        <ac:context len="104" hash="4129193518"/>
      </ac:txMk>
    </ac:txMkLst>
    <p188:pos x="3919604" y="530909"/>
    <p188:txBody>
      <a:bodyPr/>
      <a:lstStyle/>
      <a:p>
        <a:r>
          <a:rPr lang="en-US"/>
          <a:t>It took me a minute to figure out what the difference was between slides 5 &amp; 6… obviously will be different with a voice over, but if you expect folks might digest this without you, could be helpful to highlight days vs weeks for them. Maybe even underlining day &amp; week on these slides? Or something to draw attention there</a:t>
        </a:r>
      </a:p>
    </p188:txBody>
    <p188:extLst>
      <p:ext xmlns:p="http://schemas.openxmlformats.org/presentationml/2006/main" uri="{57CB4572-C831-44C2-8A1C-0ADB6CCDFE69}">
        <p223:reactions xmlns:p223="http://schemas.microsoft.com/office/powerpoint/2022/03/main">
          <p223:rxn type="👍">
            <p223:instance time="2025-04-29T13:47:00.235" authorId="{6C9A23CD-9939-1872-9118-930BC1D118C7}"/>
          </p223:rxn>
        </p223:reactions>
      </p:ext>
    </p188:extLst>
  </p188:cm>
  <p188:cm id="{5E0ACAC0-A5BA-4A4A-B29B-575AB412635C}" authorId="{DC9E1623-FFA9-6B84-CE8D-34CDBD61C34A}" created="2025-04-29T13:40:06.003">
    <ac:txMkLst xmlns:ac="http://schemas.microsoft.com/office/drawing/2013/main/command">
      <pc:docMk xmlns:pc="http://schemas.microsoft.com/office/powerpoint/2013/main/command"/>
      <pc:sldMk xmlns:pc="http://schemas.microsoft.com/office/powerpoint/2013/main/command" cId="719739409" sldId="540"/>
      <ac:spMk id="6" creationId="{35CE0822-594D-DC35-9521-08D90AA23877}"/>
      <ac:txMk cp="61" len="11">
        <ac:context len="289" hash="3914280111"/>
      </ac:txMk>
    </ac:txMkLst>
    <p188:pos x="4407284" y="562998"/>
    <p188:txBody>
      <a:bodyPr/>
      <a:lstStyle/>
      <a:p>
        <a:r>
          <a:rPr lang="en-US"/>
          <a:t>Could add 9 hours in parentheses? I did the math 😅</a:t>
        </a:r>
      </a:p>
    </p188:txBody>
    <p188:extLst>
      <p:ext xmlns:p="http://schemas.openxmlformats.org/presentationml/2006/main" uri="{57CB4572-C831-44C2-8A1C-0ADB6CCDFE69}">
        <p223:reactions xmlns:p223="http://schemas.microsoft.com/office/powerpoint/2022/03/main">
          <p223:rxn type="👍">
            <p223:instance time="2025-04-29T13:46:59.031" authorId="{6C9A23CD-9939-1872-9118-930BC1D118C7}"/>
          </p223:rxn>
        </p223:reactions>
      </p:ext>
    </p188:extLst>
  </p188:cm>
</p188:cmLst>
</file>

<file path=ppt/comments/modernComment_23F_50F66932.xml><?xml version="1.0" encoding="utf-8"?>
<p188:cmLst xmlns:a="http://schemas.openxmlformats.org/drawingml/2006/main" xmlns:r="http://schemas.openxmlformats.org/officeDocument/2006/relationships" xmlns:p188="http://schemas.microsoft.com/office/powerpoint/2018/8/main">
  <p188:cm id="{67613C77-89D3-4D62-B6B4-DE89F0D0C001}" authorId="{DC9E1623-FFA9-6B84-CE8D-34CDBD61C34A}" created="2025-04-29T13:41:43.425">
    <ac:deMkLst xmlns:ac="http://schemas.microsoft.com/office/drawing/2013/main/command">
      <pc:docMk xmlns:pc="http://schemas.microsoft.com/office/powerpoint/2013/main/command"/>
      <pc:sldMk xmlns:pc="http://schemas.microsoft.com/office/powerpoint/2013/main/command" cId="1358326066" sldId="575"/>
      <ac:spMk id="5" creationId="{1D3F1C07-F6EC-E0FB-D94A-63C1A6B7E552}"/>
    </ac:deMkLst>
    <p188:replyLst>
      <p188:reply id="{3A55893A-90FA-4447-88DD-3E20340E00F6}" authorId="{6C9A23CD-9939-1872-9118-930BC1D118C7}" created="2025-04-29T14:03:24.680">
        <p188:txBody>
          <a:bodyPr/>
          <a:lstStyle/>
          <a:p>
            <a:r>
              <a:rPr lang="en-US"/>
              <a:t>I considered this, only hesitation is that I don’t want to emphasize how much people agree with this statement. I think there’s a real positivity bias here. </a:t>
            </a:r>
          </a:p>
        </p188:txBody>
      </p188:reply>
      <p188:reply id="{50FFA48E-873D-6645-9106-9408EAA5D444}" authorId="{6C9A23CD-9939-1872-9118-930BC1D118C7}" created="2025-04-29T14:08:19.562">
        <p188:txBody>
          <a:bodyPr/>
          <a:lstStyle/>
          <a:p>
            <a:r>
              <a:rPr lang="en-US"/>
              <a:t>Thoughts on including a weighted average?</a:t>
            </a:r>
          </a:p>
        </p188:txBody>
      </p188:reply>
      <p188:reply id="{CA844FEE-1F4A-4E99-ADD2-57E54BE52BDD}" authorId="{DC9E1623-FFA9-6B84-CE8D-34CDBD61C34A}" created="2025-04-29T14:25:56.061">
        <p188:txBody>
          <a:bodyPr/>
          <a:lstStyle/>
          <a:p>
            <a:r>
              <a:rPr lang="en-US"/>
              <a:t>Weighted how?</a:t>
            </a:r>
          </a:p>
        </p188:txBody>
      </p188:reply>
      <p188:reply id="{9C53B320-AD5A-FE43-838B-E88710C4CE45}" authorId="{6C9A23CD-9939-1872-9118-930BC1D118C7}" created="2025-04-29T14:32:16.355">
        <p188:txBody>
          <a:bodyPr/>
          <a:lstStyle/>
          <a:p>
            <a:r>
              <a:rPr lang="en-US"/>
              <a:t>Weighted 1 for strongly disagree, 2 for somewhat disagree, etc. I didn’t include a scale of 1-5 in the question so I’m assuming I probably shouldn’t?
</a:t>
            </a:r>
          </a:p>
        </p188:txBody>
      </p188:reply>
      <p188:reply id="{F460A87E-E7BC-4FFD-A715-7858DEBBACE0}" authorId="{DC9E1623-FFA9-6B84-CE8D-34CDBD61C34A}" created="2025-04-29T14:40:58.188">
        <p188:txBody>
          <a:bodyPr/>
          <a:lstStyle/>
          <a:p>
            <a:r>
              <a:rPr lang="en-US"/>
              <a:t>Oh! Just treating strongly disagree as 1, somewhat disagree as 2, neither agree/disagree as 3, somewhat agree as 4, and strongly agree as 5, and then calculating the average score? 
That would just be an average, not weighted… If you’re really deep in survey science you’ll find researchers who argue you shouldn’t do it, but it is definitely still a very common &amp; accepted practice! 
You can definitely take that approach if you prefer - it is just different ways to manipulate the same data 😊 </a:t>
            </a:r>
          </a:p>
        </p188:txBody>
      </p188:reply>
    </p188:replyLst>
    <p188:txBody>
      <a:bodyPr/>
      <a:lstStyle/>
      <a:p>
        <a:r>
          <a:rPr lang="en-US"/>
          <a:t>I would build this into the title on this slide &amp; the next 2… or make your title a stronger statement aligning with it
“64% agree that…” 
“Most leaders agree…” 
“Over six in ten leaders agree…” 
I find it helpful to interpret graphs for folks</a:t>
        </a:r>
      </a:p>
    </p188:txBody>
  </p188:cm>
  <p188:cm id="{40E667A8-46EA-4D6E-BD7F-5AB5A87CACCC}" authorId="{DC9E1623-FFA9-6B84-CE8D-34CDBD61C34A}" created="2025-04-29T13:52:53.300">
    <ac:txMkLst xmlns:ac="http://schemas.microsoft.com/office/drawing/2013/main/command">
      <pc:docMk xmlns:pc="http://schemas.microsoft.com/office/powerpoint/2013/main/command"/>
      <pc:sldMk xmlns:pc="http://schemas.microsoft.com/office/powerpoint/2013/main/command" cId="1358326066" sldId="575"/>
      <ac:spMk id="9" creationId="{09C23461-529E-2EF2-6FD0-719D9915D067}"/>
      <ac:txMk cp="69" len="28">
        <ac:context len="99" hash="2943527291"/>
      </ac:txMk>
    </ac:txMkLst>
    <p188:pos x="10405873" y="893992"/>
    <p188:replyLst>
      <p188:reply id="{5C872CB3-FEF7-1E42-97D4-A83AB9B77505}" authorId="{6C9A23CD-9939-1872-9118-930BC1D118C7}" created="2025-04-29T14:04:27.191">
        <p188:txBody>
          <a:bodyPr/>
          <a:lstStyle/>
          <a:p>
            <a:r>
              <a:rPr lang="en-US"/>
              <a:t>Ooh that’s a good call, it is one question. Totally missed that, I’ll probably pick just one for next time
</a:t>
            </a:r>
          </a:p>
        </p188:txBody>
        <p188:extLst>
          <p:ext xmlns:p="http://schemas.openxmlformats.org/presentationml/2006/main" uri="{57CB4572-C831-44C2-8A1C-0ADB6CCDFE69}">
            <p223:reactions xmlns:p223="http://schemas.microsoft.com/office/powerpoint/2022/03/main">
              <p223:rxn type="👍">
                <p223:instance time="2025-04-29T14:26:02.594" authorId="{DC9E1623-FFA9-6B84-CE8D-34CDBD61C34A}"/>
              </p223:rxn>
            </p223:reactions>
          </p:ext>
        </p188:extLst>
      </p188:reply>
    </p188:replyLst>
    <p188:txBody>
      <a:bodyPr/>
      <a:lstStyle/>
      <a:p>
        <a:r>
          <a:rPr lang="en-US"/>
          <a:t>Is this one question? If so, it is double barreled… would be ideal to break into two Qs/pick one term in future iterations (is it effective? Does it meet your needs?) </a:t>
        </a:r>
      </a:p>
    </p188:txBody>
  </p188:cm>
</p188:cmLst>
</file>

<file path=ppt/comments/modernComment_208_D54561A1.xml><?xml version="1.0" encoding="utf-8"?>
<p188:cmLst xmlns:a="http://schemas.openxmlformats.org/drawingml/2006/main" xmlns:r="http://schemas.openxmlformats.org/officeDocument/2006/relationships" xmlns:p188="http://schemas.microsoft.com/office/powerpoint/2018/8/main">
  <p188:cm id="{9AF964E9-3827-4F88-890E-413B1A8C9334}" authorId="{875EF1F9-B320-49E6-985D-AC2B59064BD4}" created="2025-04-28T19:54:48.265">
    <ac:txMkLst xmlns:ac="http://schemas.microsoft.com/office/drawing/2013/main/command">
      <pc:docMk xmlns:pc="http://schemas.microsoft.com/office/powerpoint/2013/main/command"/>
      <pc:sldMk xmlns:pc="http://schemas.microsoft.com/office/powerpoint/2013/main/command" cId="3578093985" sldId="520"/>
      <ac:spMk id="5" creationId="{551460A5-7394-3CF2-D5B6-CFD7BDE07E31}"/>
      <ac:txMk cp="0" len="15">
        <ac:context len="16" hash="2976370322"/>
      </ac:txMk>
    </ac:txMkLst>
    <p188:pos x="5598160" y="396240"/>
    <p188:replyLst>
      <p188:reply id="{5DA0ED21-89E9-D243-9159-5B7DC85D547A}" authorId="{6C9A23CD-9939-1872-9118-930BC1D118C7}" created="2025-04-28T21:21:55.073">
        <p188:txBody>
          <a:bodyPr/>
          <a:lstStyle/>
          <a:p>
            <a:r>
              <a:rPr lang="en-US"/>
              <a:t>Totally, great call</a:t>
            </a:r>
          </a:p>
        </p188:txBody>
      </p188:reply>
    </p188:replyLst>
    <p188:txBody>
      <a:bodyPr/>
      <a:lstStyle/>
      <a:p>
        <a:r>
          <a:rPr lang="en-US"/>
          <a:t>Would be good to recap what the goal is for this research esp highlighting how it will be used to measure success</a:t>
        </a:r>
      </a:p>
    </p188:txBody>
  </p188:cm>
  <p188:cm id="{A9186253-FFA8-4029-BCD3-F0524E87FC40}" authorId="{DC9E1623-FFA9-6B84-CE8D-34CDBD61C34A}" created="2025-04-29T13:49:51.194">
    <ac:txMkLst xmlns:ac="http://schemas.microsoft.com/office/drawing/2013/main/command">
      <pc:docMk xmlns:pc="http://schemas.microsoft.com/office/powerpoint/2013/main/command"/>
      <pc:sldMk xmlns:pc="http://schemas.microsoft.com/office/powerpoint/2013/main/command" cId="3578093985" sldId="520"/>
      <ac:spMk id="6" creationId="{D793D2D5-4E4C-71F1-33A6-D52B5E1F3D53}"/>
      <ac:txMk cp="86" len="154">
        <ac:context len="241" hash="1816722135"/>
      </ac:txMk>
    </ac:txMkLst>
    <p188:pos x="2714954" y="996244"/>
    <p188:txBody>
      <a:bodyPr/>
      <a:lstStyle/>
      <a:p>
        <a:r>
          <a:rPr lang="en-US"/>
          <a:t>Typo?</a:t>
        </a:r>
      </a:p>
    </p188:txBody>
  </p188:cm>
</p188:cmLst>
</file>

<file path=ppt/comments/modernComment_244_40A730E0.xml><?xml version="1.0" encoding="utf-8"?>
<p188:cmLst xmlns:a="http://schemas.openxmlformats.org/drawingml/2006/main" xmlns:r="http://schemas.openxmlformats.org/officeDocument/2006/relationships" xmlns:p188="http://schemas.microsoft.com/office/powerpoint/2018/8/main">
  <p188:cm id="{7D152DB6-62EE-4361-ADF3-835895960AB7}" authorId="{875EF1F9-B320-49E6-985D-AC2B59064BD4}" created="2025-04-28T19:49:24.647">
    <ac:txMkLst xmlns:ac="http://schemas.microsoft.com/office/drawing/2013/main/command">
      <pc:docMk xmlns:pc="http://schemas.microsoft.com/office/powerpoint/2013/main/command"/>
      <pc:sldMk xmlns:pc="http://schemas.microsoft.com/office/powerpoint/2013/main/command" cId="1084698848" sldId="580"/>
      <ac:spMk id="9" creationId="{E8A6A3C5-BC0A-7CE7-BE59-C797983EBD6E}"/>
      <ac:txMk cp="0" len="12">
        <ac:context len="13" hash="4029997131"/>
      </ac:txMk>
    </ac:txMkLst>
    <p188:pos x="2936240" y="579120"/>
    <p188:replyLst>
      <p188:reply id="{9EB2BDEC-1A97-A34D-AC6D-4B38C454D8A6}" authorId="{6C9A23CD-9939-1872-9118-930BC1D118C7}" created="2025-04-28T21:23:58.751">
        <p188:txBody>
          <a:bodyPr/>
          <a:lstStyle/>
          <a:p>
            <a:r>
              <a:rPr lang="en-US"/>
              <a:t>I wonder if there’s a way I can show smaller shifts with the likert scale. And hopefully we’ll be able to show time saved as well</a:t>
            </a:r>
          </a:p>
        </p188:txBody>
      </p188:reply>
      <p188:reply id="{7080CF9C-67AF-4F2C-8C7B-E4F7EB912100}" authorId="{DC9E1623-FFA9-6B84-CE8D-34CDBD61C34A}" created="2025-04-29T13:49:19.547">
        <p188:txBody>
          <a:bodyPr/>
          <a:lstStyle/>
          <a:p>
            <a:r>
              <a:rPr lang="en-US"/>
              <a:t>Can we add new questions, about how recent releases have changed (improved, harmed) the experience? Measuring change on a survey is so tricky… people don’t know what they don’t know, plus add in the pressure of top-down feedback requests… eek</a:t>
            </a:r>
          </a:p>
        </p188:txBody>
        <p188:extLst>
          <p:ext xmlns:p="http://schemas.openxmlformats.org/presentationml/2006/main" uri="{57CB4572-C831-44C2-8A1C-0ADB6CCDFE69}">
            <p223:reactions xmlns:p223="http://schemas.microsoft.com/office/powerpoint/2022/03/main">
              <p223:rxn type="👍">
                <p223:instance time="2025-04-29T14:04:59.488" authorId="{6C9A23CD-9939-1872-9118-930BC1D118C7}"/>
                <p223:instance time="2025-04-29T18:47:12.736" authorId="{875EF1F9-B320-49E6-985D-AC2B59064BD4}"/>
              </p223:rxn>
            </p223:reactions>
          </p:ext>
        </p188:extLst>
      </p188:reply>
    </p188:replyLst>
    <p188:txBody>
      <a:bodyPr/>
      <a:lstStyle/>
      <a:p>
        <a:r>
          <a:rPr lang="en-US"/>
          <a:t>These baselines are already high for survey items - i worry it will be hard to measure an impact following task management release</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652884-3577-884D-9869-8B404FA5E098}" type="datetimeFigureOut">
              <a:rPr lang="en-US" smtClean="0"/>
              <a:t>5/15/2025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236B3D-BC28-F945-92DE-377DD91D202B}" type="slidenum">
              <a:rPr lang="en-US" smtClean="0"/>
              <a:t>‹#›</a:t>
            </a:fld>
            <a:endParaRPr lang="en-US"/>
          </a:p>
        </p:txBody>
      </p:sp>
    </p:spTree>
    <p:extLst>
      <p:ext uri="{BB962C8B-B14F-4D97-AF65-F5344CB8AC3E}">
        <p14:creationId xmlns:p14="http://schemas.microsoft.com/office/powerpoint/2010/main" val="37854950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targetonline.sharepoint.com/:p:/s/ogrp-mkt-team-site-ux-research-internal/Eb-7MYZvqaJGpwNAozIK9AABi2chERZ_yY5VaNB06L0AFg?e=YM5fFr"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targetonline.sharepoint.com/:p:/s/ogrp-mkt-team-site-ux-research-internal/Eb-7MYZvqaJGpwNAozIK9AABi2chERZ_yY5VaNB06L0AFg?e=YM5fFr"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targetonline.sharepoint.com/:p:/s/ogrp-mkt-team-site-ux-research-internal/Eb-7MYZvqaJGpwNAozIK9AABi2chERZ_yY5VaNB06L0AFg?e=YM5fFr"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targetonline.sharepoint.com/:p:/s/ogrp-mkt-team-site-ux-research-internal/Eb-7MYZvqaJGpwNAozIK9AABi2chERZ_yY5VaNB06L0AFg?e=YM5fFr"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targetonline.sharepoint.com/:p:/s/ogrp-mkt-team-site-ux-research-internal/Eb-7MYZvqaJGpwNAozIK9AABi2chERZ_yY5VaNB06L0AFg?e=YM5fFr"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targetonline.sharepoint.com/:p:/s/ogrp-mkt-team-site-ux-research-internal/Eb-7MYZvqaJGpwNAozIK9AABi2chERZ_yY5VaNB06L0AFg?e=YM5fFr"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targetonline.sharepoint.com/:p:/s/ogrp-mkt-team-site-ux-research-internal/Eb-7MYZvqaJGpwNAozIK9AABi2chERZ_yY5VaNB06L0AFg?e=YM5fFr"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targetonline.sharepoint.com/:p:/s/ogrp-mkt-team-site-ux-research-internal/Eb-7MYZvqaJGpwNAozIK9AABi2chERZ_yY5VaNB06L0AFg?e=YM5fFr"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targetonline.sharepoint.com/:p:/s/ogrp-mkt-team-site-ux-research-internal/Eb-7MYZvqaJGpwNAozIK9AABi2chERZ_yY5VaNB06L0AFg?e=YM5fFr"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targetonline.sharepoint.com/:p:/s/ogrp-mkt-team-site-ux-research-internal/Eb-7MYZvqaJGpwNAozIK9AABi2chERZ_yY5VaNB06L0AFg?e=YM5fFr"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approximately 9,905 ETLs and a sample size of 115 in this survey, we have a 9% margin of error at a 95% confidence level.</a:t>
            </a:r>
          </a:p>
          <a:p>
            <a:r>
              <a:rPr lang="en-US" dirty="0"/>
              <a:t>With approximately 23,772 TLs and a sample of 163 in this survey, we have a 8% margin of error at a 95% confidence level.</a:t>
            </a:r>
          </a:p>
          <a:p>
            <a:r>
              <a:rPr lang="en-US" dirty="0"/>
              <a:t>With 1,981 SDs and sample size of 416 in this survey, we have a 4% margin of error at a 95% confidence level.</a:t>
            </a:r>
          </a:p>
          <a:p>
            <a:endParaRPr lang="en-US" dirty="0"/>
          </a:p>
        </p:txBody>
      </p:sp>
      <p:sp>
        <p:nvSpPr>
          <p:cNvPr id="4" name="Slide Number Placeholder 3"/>
          <p:cNvSpPr>
            <a:spLocks noGrp="1"/>
          </p:cNvSpPr>
          <p:nvPr>
            <p:ph type="sldNum" sz="quarter" idx="5"/>
          </p:nvPr>
        </p:nvSpPr>
        <p:spPr/>
        <p:txBody>
          <a:bodyPr/>
          <a:lstStyle/>
          <a:p>
            <a:fld id="{92A09DE0-A144-F348-949C-B757A2FC67B5}" type="slidenum">
              <a:rPr lang="en-US" smtClean="0"/>
              <a:t>3</a:t>
            </a:fld>
            <a:endParaRPr lang="en-US"/>
          </a:p>
        </p:txBody>
      </p:sp>
    </p:spTree>
    <p:extLst>
      <p:ext uri="{BB962C8B-B14F-4D97-AF65-F5344CB8AC3E}">
        <p14:creationId xmlns:p14="http://schemas.microsoft.com/office/powerpoint/2010/main" val="37824407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D1564-88E1-62EE-0F08-800B1FADEA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382640-4685-626D-4D49-BEC843CCE0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32E408-8E27-A297-3BC1-9A7027465DA9}"/>
              </a:ext>
            </a:extLst>
          </p:cNvPr>
          <p:cNvSpPr>
            <a:spLocks noGrp="1"/>
          </p:cNvSpPr>
          <p:nvPr>
            <p:ph type="body" idx="1"/>
          </p:nvPr>
        </p:nvSpPr>
        <p:spPr/>
        <p:txBody>
          <a:bodyPr/>
          <a:lstStyle/>
          <a:p>
            <a:r>
              <a:rPr lang="en-US">
                <a:hlinkClick r:id="rId3"/>
              </a:rPr>
              <a:t>UXR Style Guide Deck - 2024.pptx</a:t>
            </a:r>
            <a:endParaRPr lang="en-US"/>
          </a:p>
        </p:txBody>
      </p:sp>
      <p:sp>
        <p:nvSpPr>
          <p:cNvPr id="4" name="Slide Number Placeholder 3">
            <a:extLst>
              <a:ext uri="{FF2B5EF4-FFF2-40B4-BE49-F238E27FC236}">
                <a16:creationId xmlns:a16="http://schemas.microsoft.com/office/drawing/2014/main" id="{4A063EF5-B546-80D1-831C-5CA83FFE3060}"/>
              </a:ext>
            </a:extLst>
          </p:cNvPr>
          <p:cNvSpPr>
            <a:spLocks noGrp="1"/>
          </p:cNvSpPr>
          <p:nvPr>
            <p:ph type="sldNum" sz="quarter" idx="5"/>
          </p:nvPr>
        </p:nvSpPr>
        <p:spPr/>
        <p:txBody>
          <a:bodyPr/>
          <a:lstStyle/>
          <a:p>
            <a:fld id="{92A09DE0-A144-F348-949C-B757A2FC67B5}" type="slidenum">
              <a:rPr lang="en-US" smtClean="0"/>
              <a:t>4</a:t>
            </a:fld>
            <a:endParaRPr lang="en-US"/>
          </a:p>
        </p:txBody>
      </p:sp>
    </p:spTree>
    <p:extLst>
      <p:ext uri="{BB962C8B-B14F-4D97-AF65-F5344CB8AC3E}">
        <p14:creationId xmlns:p14="http://schemas.microsoft.com/office/powerpoint/2010/main" val="37448047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UXR Style Guide Deck - 2024.pptx</a:t>
            </a:r>
            <a:endParaRPr lang="en-US"/>
          </a:p>
        </p:txBody>
      </p:sp>
      <p:sp>
        <p:nvSpPr>
          <p:cNvPr id="4" name="Slide Number Placeholder 3"/>
          <p:cNvSpPr>
            <a:spLocks noGrp="1"/>
          </p:cNvSpPr>
          <p:nvPr>
            <p:ph type="sldNum" sz="quarter" idx="5"/>
          </p:nvPr>
        </p:nvSpPr>
        <p:spPr/>
        <p:txBody>
          <a:bodyPr/>
          <a:lstStyle/>
          <a:p>
            <a:fld id="{92A09DE0-A144-F348-949C-B757A2FC67B5}" type="slidenum">
              <a:rPr lang="en-US" smtClean="0"/>
              <a:t>5</a:t>
            </a:fld>
            <a:endParaRPr lang="en-US"/>
          </a:p>
        </p:txBody>
      </p:sp>
    </p:spTree>
    <p:extLst>
      <p:ext uri="{BB962C8B-B14F-4D97-AF65-F5344CB8AC3E}">
        <p14:creationId xmlns:p14="http://schemas.microsoft.com/office/powerpoint/2010/main" val="2304122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8BD5B-B2D3-6221-AF1B-30C992F44E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400E1D-FF24-35EB-F2EF-67631FAEA3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A3D93A-7E65-FD83-946D-872106A7824A}"/>
              </a:ext>
            </a:extLst>
          </p:cNvPr>
          <p:cNvSpPr>
            <a:spLocks noGrp="1"/>
          </p:cNvSpPr>
          <p:nvPr>
            <p:ph type="body" idx="1"/>
          </p:nvPr>
        </p:nvSpPr>
        <p:spPr/>
        <p:txBody>
          <a:bodyPr/>
          <a:lstStyle/>
          <a:p>
            <a:r>
              <a:rPr lang="en-US" dirty="0"/>
              <a:t>10.8 (1) + 8.7 (5) + 4.6 (12) = 109.5 </a:t>
            </a:r>
            <a:r>
              <a:rPr lang="en-US" dirty="0" err="1"/>
              <a:t>hrs</a:t>
            </a:r>
            <a:r>
              <a:rPr lang="en-US" dirty="0"/>
              <a:t> / week / store</a:t>
            </a:r>
          </a:p>
          <a:p>
            <a:r>
              <a:rPr lang="en-US" dirty="0"/>
              <a:t>(average leader counts per store)</a:t>
            </a:r>
          </a:p>
        </p:txBody>
      </p:sp>
      <p:sp>
        <p:nvSpPr>
          <p:cNvPr id="4" name="Slide Number Placeholder 3">
            <a:extLst>
              <a:ext uri="{FF2B5EF4-FFF2-40B4-BE49-F238E27FC236}">
                <a16:creationId xmlns:a16="http://schemas.microsoft.com/office/drawing/2014/main" id="{A1A9715A-27CF-CC69-CE88-1D5248B71ACC}"/>
              </a:ext>
            </a:extLst>
          </p:cNvPr>
          <p:cNvSpPr>
            <a:spLocks noGrp="1"/>
          </p:cNvSpPr>
          <p:nvPr>
            <p:ph type="sldNum" sz="quarter" idx="5"/>
          </p:nvPr>
        </p:nvSpPr>
        <p:spPr/>
        <p:txBody>
          <a:bodyPr/>
          <a:lstStyle/>
          <a:p>
            <a:fld id="{92A09DE0-A144-F348-949C-B757A2FC67B5}" type="slidenum">
              <a:rPr lang="en-US" smtClean="0"/>
              <a:t>6</a:t>
            </a:fld>
            <a:endParaRPr lang="en-US"/>
          </a:p>
        </p:txBody>
      </p:sp>
    </p:spTree>
    <p:extLst>
      <p:ext uri="{BB962C8B-B14F-4D97-AF65-F5344CB8AC3E}">
        <p14:creationId xmlns:p14="http://schemas.microsoft.com/office/powerpoint/2010/main" val="12645542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C57F4-CAF1-5B11-7C5B-C7E8E76402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24E104-C7E4-193F-9015-8996BA4E99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62D839-464E-81A9-4835-4D080F3E4F5E}"/>
              </a:ext>
            </a:extLst>
          </p:cNvPr>
          <p:cNvSpPr>
            <a:spLocks noGrp="1"/>
          </p:cNvSpPr>
          <p:nvPr>
            <p:ph type="body" idx="1"/>
          </p:nvPr>
        </p:nvSpPr>
        <p:spPr/>
        <p:txBody>
          <a:bodyPr/>
          <a:lstStyle/>
          <a:p>
            <a:r>
              <a:rPr lang="en-US" dirty="0">
                <a:hlinkClick r:id="rId3"/>
              </a:rPr>
              <a:t>UXR Style Guide Deck - 2024.pptx</a:t>
            </a:r>
            <a:endParaRPr lang="en-US" dirty="0"/>
          </a:p>
        </p:txBody>
      </p:sp>
      <p:sp>
        <p:nvSpPr>
          <p:cNvPr id="4" name="Slide Number Placeholder 3">
            <a:extLst>
              <a:ext uri="{FF2B5EF4-FFF2-40B4-BE49-F238E27FC236}">
                <a16:creationId xmlns:a16="http://schemas.microsoft.com/office/drawing/2014/main" id="{81AE471B-D8B7-0E24-4734-E75EB08A7BDE}"/>
              </a:ext>
            </a:extLst>
          </p:cNvPr>
          <p:cNvSpPr>
            <a:spLocks noGrp="1"/>
          </p:cNvSpPr>
          <p:nvPr>
            <p:ph type="sldNum" sz="quarter" idx="5"/>
          </p:nvPr>
        </p:nvSpPr>
        <p:spPr/>
        <p:txBody>
          <a:bodyPr/>
          <a:lstStyle/>
          <a:p>
            <a:fld id="{92A09DE0-A144-F348-949C-B757A2FC67B5}" type="slidenum">
              <a:rPr lang="en-US" smtClean="0"/>
              <a:t>7</a:t>
            </a:fld>
            <a:endParaRPr lang="en-US"/>
          </a:p>
        </p:txBody>
      </p:sp>
    </p:spTree>
    <p:extLst>
      <p:ext uri="{BB962C8B-B14F-4D97-AF65-F5344CB8AC3E}">
        <p14:creationId xmlns:p14="http://schemas.microsoft.com/office/powerpoint/2010/main" val="21352920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F1914-0742-15D4-8457-C1E6486B58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BE1EC5-690F-EF29-7E0E-43E6D42B8F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1892FA-DA5D-2DEE-5240-499361B523C4}"/>
              </a:ext>
            </a:extLst>
          </p:cNvPr>
          <p:cNvSpPr>
            <a:spLocks noGrp="1"/>
          </p:cNvSpPr>
          <p:nvPr>
            <p:ph type="body" idx="1"/>
          </p:nvPr>
        </p:nvSpPr>
        <p:spPr/>
        <p:txBody>
          <a:bodyPr/>
          <a:lstStyle/>
          <a:p>
            <a:r>
              <a:rPr lang="en-US">
                <a:hlinkClick r:id="rId3"/>
              </a:rPr>
              <a:t>UXR Style Guide Deck - 2024.pptx</a:t>
            </a:r>
            <a:endParaRPr lang="en-US"/>
          </a:p>
        </p:txBody>
      </p:sp>
      <p:sp>
        <p:nvSpPr>
          <p:cNvPr id="4" name="Slide Number Placeholder 3">
            <a:extLst>
              <a:ext uri="{FF2B5EF4-FFF2-40B4-BE49-F238E27FC236}">
                <a16:creationId xmlns:a16="http://schemas.microsoft.com/office/drawing/2014/main" id="{E7A04726-DDBC-634C-B62C-8C27E93F6111}"/>
              </a:ext>
            </a:extLst>
          </p:cNvPr>
          <p:cNvSpPr>
            <a:spLocks noGrp="1"/>
          </p:cNvSpPr>
          <p:nvPr>
            <p:ph type="sldNum" sz="quarter" idx="5"/>
          </p:nvPr>
        </p:nvSpPr>
        <p:spPr/>
        <p:txBody>
          <a:bodyPr/>
          <a:lstStyle/>
          <a:p>
            <a:fld id="{92A09DE0-A144-F348-949C-B757A2FC67B5}" type="slidenum">
              <a:rPr lang="en-US" smtClean="0"/>
              <a:t>8</a:t>
            </a:fld>
            <a:endParaRPr lang="en-US"/>
          </a:p>
        </p:txBody>
      </p:sp>
    </p:spTree>
    <p:extLst>
      <p:ext uri="{BB962C8B-B14F-4D97-AF65-F5344CB8AC3E}">
        <p14:creationId xmlns:p14="http://schemas.microsoft.com/office/powerpoint/2010/main" val="27801680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C7267B-C7F8-6C01-C6FC-CFA0A9C3CC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42E912-3F03-890A-3830-FE6A42736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FB9958-E874-CBE9-6BC0-C5F3DF8E31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0943EF8-1C8F-9733-5229-715B99903C99}"/>
              </a:ext>
            </a:extLst>
          </p:cNvPr>
          <p:cNvSpPr>
            <a:spLocks noGrp="1"/>
          </p:cNvSpPr>
          <p:nvPr>
            <p:ph type="sldNum" sz="quarter" idx="5"/>
          </p:nvPr>
        </p:nvSpPr>
        <p:spPr/>
        <p:txBody>
          <a:bodyPr/>
          <a:lstStyle/>
          <a:p>
            <a:fld id="{92A09DE0-A144-F348-949C-B757A2FC67B5}" type="slidenum">
              <a:rPr lang="en-US" smtClean="0"/>
              <a:t>9</a:t>
            </a:fld>
            <a:endParaRPr lang="en-US"/>
          </a:p>
        </p:txBody>
      </p:sp>
    </p:spTree>
    <p:extLst>
      <p:ext uri="{BB962C8B-B14F-4D97-AF65-F5344CB8AC3E}">
        <p14:creationId xmlns:p14="http://schemas.microsoft.com/office/powerpoint/2010/main" val="24667172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A09DE0-A144-F348-949C-B757A2FC67B5}" type="slidenum">
              <a:rPr lang="en-US" smtClean="0"/>
              <a:t>10</a:t>
            </a:fld>
            <a:endParaRPr lang="en-US"/>
          </a:p>
        </p:txBody>
      </p:sp>
    </p:spTree>
    <p:extLst>
      <p:ext uri="{BB962C8B-B14F-4D97-AF65-F5344CB8AC3E}">
        <p14:creationId xmlns:p14="http://schemas.microsoft.com/office/powerpoint/2010/main" val="9435676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95BA0-07B7-88E2-902E-A779B00313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FCD1F4-AC89-E451-95FA-E803463538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CB9D27-5637-3C70-1AA0-994D3E79791E}"/>
              </a:ext>
            </a:extLst>
          </p:cNvPr>
          <p:cNvSpPr>
            <a:spLocks noGrp="1"/>
          </p:cNvSpPr>
          <p:nvPr>
            <p:ph type="body" idx="1"/>
          </p:nvPr>
        </p:nvSpPr>
        <p:spPr/>
        <p:txBody>
          <a:bodyPr/>
          <a:lstStyle/>
          <a:p>
            <a:r>
              <a:rPr lang="en-US" dirty="0">
                <a:hlinkClick r:id="rId3"/>
              </a:rPr>
              <a:t>UXR Style Guide Deck - 2024.pptx</a:t>
            </a:r>
            <a:endParaRPr lang="en-US" dirty="0"/>
          </a:p>
        </p:txBody>
      </p:sp>
      <p:sp>
        <p:nvSpPr>
          <p:cNvPr id="4" name="Slide Number Placeholder 3">
            <a:extLst>
              <a:ext uri="{FF2B5EF4-FFF2-40B4-BE49-F238E27FC236}">
                <a16:creationId xmlns:a16="http://schemas.microsoft.com/office/drawing/2014/main" id="{A2B69B9A-85CB-0CC4-A81F-961B74A3D8DB}"/>
              </a:ext>
            </a:extLst>
          </p:cNvPr>
          <p:cNvSpPr>
            <a:spLocks noGrp="1"/>
          </p:cNvSpPr>
          <p:nvPr>
            <p:ph type="sldNum" sz="quarter" idx="5"/>
          </p:nvPr>
        </p:nvSpPr>
        <p:spPr/>
        <p:txBody>
          <a:bodyPr/>
          <a:lstStyle/>
          <a:p>
            <a:fld id="{92A09DE0-A144-F348-949C-B757A2FC67B5}" type="slidenum">
              <a:rPr lang="en-US" smtClean="0"/>
              <a:t>11</a:t>
            </a:fld>
            <a:endParaRPr lang="en-US"/>
          </a:p>
        </p:txBody>
      </p:sp>
    </p:spTree>
    <p:extLst>
      <p:ext uri="{BB962C8B-B14F-4D97-AF65-F5344CB8AC3E}">
        <p14:creationId xmlns:p14="http://schemas.microsoft.com/office/powerpoint/2010/main" val="35270507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92304B-A295-DAC9-C383-9512328804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A3E147-867B-D65B-795A-4BBC8F29D3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B6B4AB-EE17-6FCB-3EE0-59B26B718128}"/>
              </a:ext>
            </a:extLst>
          </p:cNvPr>
          <p:cNvSpPr>
            <a:spLocks noGrp="1"/>
          </p:cNvSpPr>
          <p:nvPr>
            <p:ph type="body" idx="1"/>
          </p:nvPr>
        </p:nvSpPr>
        <p:spPr/>
        <p:txBody>
          <a:bodyPr/>
          <a:lstStyle/>
          <a:p>
            <a:r>
              <a:rPr lang="en-US">
                <a:hlinkClick r:id="rId3"/>
              </a:rPr>
              <a:t>UXR Style Guide Deck - 2024.pptx</a:t>
            </a:r>
            <a:endParaRPr lang="en-US"/>
          </a:p>
        </p:txBody>
      </p:sp>
      <p:sp>
        <p:nvSpPr>
          <p:cNvPr id="4" name="Slide Number Placeholder 3">
            <a:extLst>
              <a:ext uri="{FF2B5EF4-FFF2-40B4-BE49-F238E27FC236}">
                <a16:creationId xmlns:a16="http://schemas.microsoft.com/office/drawing/2014/main" id="{27B674A7-E842-5309-95CF-42750AA0B454}"/>
              </a:ext>
            </a:extLst>
          </p:cNvPr>
          <p:cNvSpPr>
            <a:spLocks noGrp="1"/>
          </p:cNvSpPr>
          <p:nvPr>
            <p:ph type="sldNum" sz="quarter" idx="5"/>
          </p:nvPr>
        </p:nvSpPr>
        <p:spPr/>
        <p:txBody>
          <a:bodyPr/>
          <a:lstStyle/>
          <a:p>
            <a:fld id="{92A09DE0-A144-F348-949C-B757A2FC67B5}" type="slidenum">
              <a:rPr lang="en-US" smtClean="0"/>
              <a:t>12</a:t>
            </a:fld>
            <a:endParaRPr lang="en-US"/>
          </a:p>
        </p:txBody>
      </p:sp>
    </p:spTree>
    <p:extLst>
      <p:ext uri="{BB962C8B-B14F-4D97-AF65-F5344CB8AC3E}">
        <p14:creationId xmlns:p14="http://schemas.microsoft.com/office/powerpoint/2010/main" val="529230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52D87-B9E9-5FF6-272C-E3696C6025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CD0B43-9037-1498-5997-F527001A04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B28CD9-7D85-1CE4-E538-EE06BC74F110}"/>
              </a:ext>
            </a:extLst>
          </p:cNvPr>
          <p:cNvSpPr>
            <a:spLocks noGrp="1"/>
          </p:cNvSpPr>
          <p:nvPr>
            <p:ph type="body" idx="1"/>
          </p:nvPr>
        </p:nvSpPr>
        <p:spPr/>
        <p:txBody>
          <a:bodyPr/>
          <a:lstStyle/>
          <a:p>
            <a:r>
              <a:rPr lang="en-US">
                <a:hlinkClick r:id="rId3"/>
              </a:rPr>
              <a:t>UXR Style Guide Deck - 2024.pptx</a:t>
            </a:r>
            <a:endParaRPr lang="en-US"/>
          </a:p>
        </p:txBody>
      </p:sp>
      <p:sp>
        <p:nvSpPr>
          <p:cNvPr id="4" name="Slide Number Placeholder 3">
            <a:extLst>
              <a:ext uri="{FF2B5EF4-FFF2-40B4-BE49-F238E27FC236}">
                <a16:creationId xmlns:a16="http://schemas.microsoft.com/office/drawing/2014/main" id="{0B6DF587-7EFD-5D40-97B9-357CB7E9FE5C}"/>
              </a:ext>
            </a:extLst>
          </p:cNvPr>
          <p:cNvSpPr>
            <a:spLocks noGrp="1"/>
          </p:cNvSpPr>
          <p:nvPr>
            <p:ph type="sldNum" sz="quarter" idx="5"/>
          </p:nvPr>
        </p:nvSpPr>
        <p:spPr/>
        <p:txBody>
          <a:bodyPr/>
          <a:lstStyle/>
          <a:p>
            <a:fld id="{92A09DE0-A144-F348-949C-B757A2FC67B5}" type="slidenum">
              <a:rPr lang="en-US" smtClean="0"/>
              <a:t>13</a:t>
            </a:fld>
            <a:endParaRPr lang="en-US"/>
          </a:p>
        </p:txBody>
      </p:sp>
    </p:spTree>
    <p:extLst>
      <p:ext uri="{BB962C8B-B14F-4D97-AF65-F5344CB8AC3E}">
        <p14:creationId xmlns:p14="http://schemas.microsoft.com/office/powerpoint/2010/main" val="25624233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6CD4B8-F426-3D5A-271C-75E9DCCA1A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203399-30A8-C432-066D-3827F51C72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0E658A-E75A-FD34-C532-7C9A4DF67208}"/>
              </a:ext>
            </a:extLst>
          </p:cNvPr>
          <p:cNvSpPr>
            <a:spLocks noGrp="1"/>
          </p:cNvSpPr>
          <p:nvPr>
            <p:ph type="body" idx="1"/>
          </p:nvPr>
        </p:nvSpPr>
        <p:spPr/>
        <p:txBody>
          <a:bodyPr/>
          <a:lstStyle/>
          <a:p>
            <a:r>
              <a:rPr lang="en-US">
                <a:hlinkClick r:id="rId3"/>
              </a:rPr>
              <a:t>UXR Style Guide Deck - 2024.pptx</a:t>
            </a:r>
            <a:endParaRPr lang="en-US"/>
          </a:p>
        </p:txBody>
      </p:sp>
      <p:sp>
        <p:nvSpPr>
          <p:cNvPr id="4" name="Slide Number Placeholder 3">
            <a:extLst>
              <a:ext uri="{FF2B5EF4-FFF2-40B4-BE49-F238E27FC236}">
                <a16:creationId xmlns:a16="http://schemas.microsoft.com/office/drawing/2014/main" id="{3E46F6D8-B81C-CB8A-0174-B44CB68C9E55}"/>
              </a:ext>
            </a:extLst>
          </p:cNvPr>
          <p:cNvSpPr>
            <a:spLocks noGrp="1"/>
          </p:cNvSpPr>
          <p:nvPr>
            <p:ph type="sldNum" sz="quarter" idx="5"/>
          </p:nvPr>
        </p:nvSpPr>
        <p:spPr/>
        <p:txBody>
          <a:bodyPr/>
          <a:lstStyle/>
          <a:p>
            <a:fld id="{92A09DE0-A144-F348-949C-B757A2FC67B5}" type="slidenum">
              <a:rPr lang="en-US" smtClean="0"/>
              <a:t>14</a:t>
            </a:fld>
            <a:endParaRPr lang="en-US"/>
          </a:p>
        </p:txBody>
      </p:sp>
    </p:spTree>
    <p:extLst>
      <p:ext uri="{BB962C8B-B14F-4D97-AF65-F5344CB8AC3E}">
        <p14:creationId xmlns:p14="http://schemas.microsoft.com/office/powerpoint/2010/main" val="8021587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93F99-5CDC-36B6-0538-1DD0E21454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51B337-D74F-1EE4-45E7-1015221ABE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F461D7-02B8-0D31-25C1-C12F13E1F928}"/>
              </a:ext>
            </a:extLst>
          </p:cNvPr>
          <p:cNvSpPr>
            <a:spLocks noGrp="1"/>
          </p:cNvSpPr>
          <p:nvPr>
            <p:ph type="body" idx="1"/>
          </p:nvPr>
        </p:nvSpPr>
        <p:spPr/>
        <p:txBody>
          <a:bodyPr/>
          <a:lstStyle/>
          <a:p>
            <a:r>
              <a:rPr lang="en-US" dirty="0">
                <a:hlinkClick r:id="rId3"/>
              </a:rPr>
              <a:t>UXR Style Guide Deck - 2024.pptx</a:t>
            </a:r>
            <a:endParaRPr lang="en-US" dirty="0"/>
          </a:p>
        </p:txBody>
      </p:sp>
      <p:sp>
        <p:nvSpPr>
          <p:cNvPr id="4" name="Slide Number Placeholder 3">
            <a:extLst>
              <a:ext uri="{FF2B5EF4-FFF2-40B4-BE49-F238E27FC236}">
                <a16:creationId xmlns:a16="http://schemas.microsoft.com/office/drawing/2014/main" id="{6FDE2AD3-E113-5D76-F3EA-9EAFB28684D5}"/>
              </a:ext>
            </a:extLst>
          </p:cNvPr>
          <p:cNvSpPr>
            <a:spLocks noGrp="1"/>
          </p:cNvSpPr>
          <p:nvPr>
            <p:ph type="sldNum" sz="quarter" idx="5"/>
          </p:nvPr>
        </p:nvSpPr>
        <p:spPr/>
        <p:txBody>
          <a:bodyPr/>
          <a:lstStyle/>
          <a:p>
            <a:fld id="{92A09DE0-A144-F348-949C-B757A2FC67B5}" type="slidenum">
              <a:rPr lang="en-US" smtClean="0"/>
              <a:t>15</a:t>
            </a:fld>
            <a:endParaRPr lang="en-US"/>
          </a:p>
        </p:txBody>
      </p:sp>
    </p:spTree>
    <p:extLst>
      <p:ext uri="{BB962C8B-B14F-4D97-AF65-F5344CB8AC3E}">
        <p14:creationId xmlns:p14="http://schemas.microsoft.com/office/powerpoint/2010/main" val="26045616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5E49E7-ED89-BBD9-FDDF-E1FCEA9953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E9DB5D-6977-E0F2-4E02-47AE917DCD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3BB0D8-FAE5-22BC-3E38-DF7074A10BA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92F50D9-73C6-BD04-21B4-3BE73DC595B4}"/>
              </a:ext>
            </a:extLst>
          </p:cNvPr>
          <p:cNvSpPr>
            <a:spLocks noGrp="1"/>
          </p:cNvSpPr>
          <p:nvPr>
            <p:ph type="sldNum" sz="quarter" idx="5"/>
          </p:nvPr>
        </p:nvSpPr>
        <p:spPr/>
        <p:txBody>
          <a:bodyPr/>
          <a:lstStyle/>
          <a:p>
            <a:fld id="{92A09DE0-A144-F348-949C-B757A2FC67B5}" type="slidenum">
              <a:rPr lang="en-US" smtClean="0"/>
              <a:t>16</a:t>
            </a:fld>
            <a:endParaRPr lang="en-US"/>
          </a:p>
        </p:txBody>
      </p:sp>
    </p:spTree>
    <p:extLst>
      <p:ext uri="{BB962C8B-B14F-4D97-AF65-F5344CB8AC3E}">
        <p14:creationId xmlns:p14="http://schemas.microsoft.com/office/powerpoint/2010/main" val="3484314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FF047-D08B-EDBB-DC21-9EFF166CC9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4B1BFC-DEB4-246E-5C1D-7BDB82E106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367049-25D6-368C-953B-29B54C2C5B0E}"/>
              </a:ext>
            </a:extLst>
          </p:cNvPr>
          <p:cNvSpPr>
            <a:spLocks noGrp="1"/>
          </p:cNvSpPr>
          <p:nvPr>
            <p:ph type="body" idx="1"/>
          </p:nvPr>
        </p:nvSpPr>
        <p:spPr/>
        <p:txBody>
          <a:bodyPr/>
          <a:lstStyle/>
          <a:p>
            <a:r>
              <a:rPr lang="en-US">
                <a:hlinkClick r:id="rId3"/>
              </a:rPr>
              <a:t>UXR Style Guide Deck - 2024.pptx</a:t>
            </a:r>
            <a:endParaRPr lang="en-US"/>
          </a:p>
        </p:txBody>
      </p:sp>
      <p:sp>
        <p:nvSpPr>
          <p:cNvPr id="4" name="Slide Number Placeholder 3">
            <a:extLst>
              <a:ext uri="{FF2B5EF4-FFF2-40B4-BE49-F238E27FC236}">
                <a16:creationId xmlns:a16="http://schemas.microsoft.com/office/drawing/2014/main" id="{A00C89AD-1E62-CACA-F7F7-8427B09DD81E}"/>
              </a:ext>
            </a:extLst>
          </p:cNvPr>
          <p:cNvSpPr>
            <a:spLocks noGrp="1"/>
          </p:cNvSpPr>
          <p:nvPr>
            <p:ph type="sldNum" sz="quarter" idx="5"/>
          </p:nvPr>
        </p:nvSpPr>
        <p:spPr/>
        <p:txBody>
          <a:bodyPr/>
          <a:lstStyle/>
          <a:p>
            <a:fld id="{92A09DE0-A144-F348-949C-B757A2FC67B5}" type="slidenum">
              <a:rPr lang="en-US" smtClean="0"/>
              <a:t>18</a:t>
            </a:fld>
            <a:endParaRPr lang="en-US"/>
          </a:p>
        </p:txBody>
      </p:sp>
    </p:spTree>
    <p:extLst>
      <p:ext uri="{BB962C8B-B14F-4D97-AF65-F5344CB8AC3E}">
        <p14:creationId xmlns:p14="http://schemas.microsoft.com/office/powerpoint/2010/main" val="3136210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5/15/2025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5/15/2025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5/15/2025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5/15/2025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5/15/2025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5/15/2025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5/15/2025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5/15/2025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5/15/2025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5/15/2025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8/10/relationships/comments" Target="../comments/modernComment_208_D54561A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8.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microsoft.com/office/2018/10/relationships/comments" Target="../comments/modernComment_21C_2AE65A11.xml"/><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microsoft.com/office/2018/10/relationships/comments" Target="../comments/modernComment_23F_50F66932.xml"/><Relationship Id="rId2" Type="http://schemas.openxmlformats.org/officeDocument/2006/relationships/notesSlide" Target="../notesSlides/notesSlide5.xml"/><Relationship Id="rId1" Type="http://schemas.openxmlformats.org/officeDocument/2006/relationships/slideLayout" Target="../slideLayouts/slideLayout8.xml"/><Relationship Id="rId5" Type="http://schemas.openxmlformats.org/officeDocument/2006/relationships/image" Target="../media/image4.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microsoft.com/office/2018/10/relationships/comments" Target="../comments/modernComment_2B6_C5145CFC.xml"/><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microsoft.com/office/2018/10/relationships/comments" Target="../comments/modernComment_244_40A730E0.xml"/><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hyperlink" Target="https://targetonline.sharepoint.com/:x:/s/ogrp-mkt-team-site-ux-research-internal/EU9RsIlG_llHtmm_hIt7uVYBgzIgmJmBb-Sh0186apDg0w?e=b9nEs8" TargetMode="Externa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hyperlink" Target="https://targetonline.sharepoint.com/:w:/r/sites/ogrp-ops-store-comm-partners/WorkforceManagement/Task%20Management/Comm%20Plan/2025_04.01%20WFM_Task%20Management%20Leader%20Tools%20Survey%20Communication%20Plan.docx?d=wcbe846a031244d10b593b35eb4b0ba7c&amp;csf=1&amp;web=1&amp;e=aIbj6g" TargetMode="External"/><Relationship Id="rId4" Type="http://schemas.openxmlformats.org/officeDocument/2006/relationships/hyperlink" Target="https://targetonline.sharepoint.com/:w:/s/ogrp-mkt-team-site-ux-research-internal/EfoXyZ3d2XVMoNlr4G07NCIBrHJ27BbB8xDHP3lO5_Vc_w?e=wcu9Zj"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a:extLst>
              <a:ext uri="{FF2B5EF4-FFF2-40B4-BE49-F238E27FC236}">
                <a16:creationId xmlns:a16="http://schemas.microsoft.com/office/drawing/2014/main" id="{5D51AD8C-75EF-63D2-EA79-138B76131FE1}"/>
              </a:ext>
              <a:ext uri="{C183D7F6-B498-43B3-948B-1728B52AA6E4}">
                <adec:decorative xmlns:adec="http://schemas.microsoft.com/office/drawing/2017/decorative" val="1"/>
              </a:ext>
            </a:extLst>
          </p:cNvPr>
          <p:cNvSpPr/>
          <p:nvPr/>
        </p:nvSpPr>
        <p:spPr>
          <a:xfrm>
            <a:off x="-356421" y="1563982"/>
            <a:ext cx="9380609" cy="2105131"/>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A738429-AA52-F296-F4DF-09D913C0DCA7}"/>
              </a:ext>
            </a:extLst>
          </p:cNvPr>
          <p:cNvSpPr txBox="1"/>
          <p:nvPr/>
        </p:nvSpPr>
        <p:spPr>
          <a:xfrm>
            <a:off x="623278" y="4345070"/>
            <a:ext cx="7595171" cy="861774"/>
          </a:xfrm>
          <a:prstGeom prst="rect">
            <a:avLst/>
          </a:prstGeom>
          <a:noFill/>
        </p:spPr>
        <p:txBody>
          <a:bodyPr wrap="square" rtlCol="0">
            <a:spAutoFit/>
          </a:bodyPr>
          <a:lstStyle/>
          <a:p>
            <a:r>
              <a:rPr lang="en-US" sz="1600" dirty="0">
                <a:latin typeface="Helvetica for Target Medium" panose="020B0504020202020204" pitchFamily="34" charset="77"/>
                <a:ea typeface="Helvetica for Target Medium" panose="020B0504020202020204" pitchFamily="34" charset="77"/>
              </a:rPr>
              <a:t>Target UX Research</a:t>
            </a:r>
          </a:p>
          <a:p>
            <a:r>
              <a:rPr lang="en-US" sz="1600" dirty="0">
                <a:latin typeface="Helvetica for Target Medium" panose="020B0504020202020204" pitchFamily="34" charset="77"/>
                <a:ea typeface="Helvetica for Target Medium" panose="020B0504020202020204" pitchFamily="34" charset="77"/>
              </a:rPr>
              <a:t>April 2025</a:t>
            </a:r>
          </a:p>
          <a:p>
            <a:r>
              <a:rPr lang="en-US" sz="1600" dirty="0">
                <a:latin typeface="Helvetica for Target Medium" panose="020B0504020202020204" pitchFamily="34" charset="77"/>
                <a:ea typeface="Helvetica for Target Medium" panose="020B0504020202020204" pitchFamily="34" charset="77"/>
              </a:rPr>
              <a:t>Julie Coffman</a:t>
            </a:r>
          </a:p>
        </p:txBody>
      </p:sp>
      <p:sp>
        <p:nvSpPr>
          <p:cNvPr id="5" name="Subtitle 4">
            <a:extLst>
              <a:ext uri="{FF2B5EF4-FFF2-40B4-BE49-F238E27FC236}">
                <a16:creationId xmlns:a16="http://schemas.microsoft.com/office/drawing/2014/main" id="{216F4752-48B4-764D-B47A-18AB0873AD22}"/>
              </a:ext>
            </a:extLst>
          </p:cNvPr>
          <p:cNvSpPr>
            <a:spLocks noGrp="1"/>
          </p:cNvSpPr>
          <p:nvPr>
            <p:ph type="subTitle" idx="1"/>
          </p:nvPr>
        </p:nvSpPr>
        <p:spPr>
          <a:xfrm>
            <a:off x="619491" y="3067261"/>
            <a:ext cx="7749004" cy="544106"/>
          </a:xfrm>
        </p:spPr>
        <p:txBody>
          <a:bodyPr>
            <a:normAutofit/>
          </a:bodyPr>
          <a:lstStyle/>
          <a:p>
            <a:pPr algn="l"/>
            <a:r>
              <a:rPr lang="en-US" sz="2800" dirty="0">
                <a:solidFill>
                  <a:schemeClr val="bg1"/>
                </a:solidFill>
                <a:latin typeface="Helvetica for Target Medium" panose="020B0504020202020204" pitchFamily="34" charset="77"/>
                <a:ea typeface="Helvetica for Target Medium" panose="020B0504020202020204" pitchFamily="34" charset="77"/>
              </a:rPr>
              <a:t>Survey Summary</a:t>
            </a:r>
          </a:p>
        </p:txBody>
      </p:sp>
      <p:sp>
        <p:nvSpPr>
          <p:cNvPr id="4" name="Title 3">
            <a:extLst>
              <a:ext uri="{FF2B5EF4-FFF2-40B4-BE49-F238E27FC236}">
                <a16:creationId xmlns:a16="http://schemas.microsoft.com/office/drawing/2014/main" id="{A37F5804-C7AD-4444-AD7E-2043A7FA8A27}"/>
              </a:ext>
            </a:extLst>
          </p:cNvPr>
          <p:cNvSpPr>
            <a:spLocks noGrp="1"/>
          </p:cNvSpPr>
          <p:nvPr>
            <p:ph type="ctrTitle"/>
          </p:nvPr>
        </p:nvSpPr>
        <p:spPr>
          <a:xfrm>
            <a:off x="619491" y="2310052"/>
            <a:ext cx="8295909" cy="699464"/>
          </a:xfrm>
        </p:spPr>
        <p:txBody>
          <a:bodyPr>
            <a:noAutofit/>
          </a:bodyPr>
          <a:lstStyle/>
          <a:p>
            <a:pPr algn="l"/>
            <a:r>
              <a:rPr lang="en-US" sz="4000" b="1" dirty="0">
                <a:solidFill>
                  <a:schemeClr val="bg1"/>
                </a:solidFill>
                <a:latin typeface="Helvetica for Target" panose="020B0504020202020204" pitchFamily="34" charset="77"/>
                <a:ea typeface="Helvetica for Target" panose="020B0504020202020204" pitchFamily="34" charset="77"/>
              </a:rPr>
              <a:t>Store Leader </a:t>
            </a:r>
            <a:br>
              <a:rPr lang="en-US" sz="4000" b="1" dirty="0">
                <a:solidFill>
                  <a:schemeClr val="bg1"/>
                </a:solidFill>
                <a:latin typeface="Helvetica for Target" panose="020B0504020202020204" pitchFamily="34" charset="77"/>
                <a:ea typeface="Helvetica for Target" panose="020B0504020202020204" pitchFamily="34" charset="77"/>
              </a:rPr>
            </a:br>
            <a:r>
              <a:rPr lang="en-US" sz="4000" b="1" dirty="0">
                <a:solidFill>
                  <a:schemeClr val="bg1"/>
                </a:solidFill>
                <a:latin typeface="Helvetica for Target" panose="020B0504020202020204" pitchFamily="34" charset="77"/>
                <a:ea typeface="Helvetica for Target" panose="020B0504020202020204" pitchFamily="34" charset="77"/>
              </a:rPr>
              <a:t>Daily Workload Management</a:t>
            </a:r>
          </a:p>
        </p:txBody>
      </p:sp>
      <p:pic>
        <p:nvPicPr>
          <p:cNvPr id="10" name="Picture 9">
            <a:extLst>
              <a:ext uri="{FF2B5EF4-FFF2-40B4-BE49-F238E27FC236}">
                <a16:creationId xmlns:a16="http://schemas.microsoft.com/office/drawing/2014/main" id="{296E7860-4A14-36E0-9539-5F7122223B46}"/>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09992" y="242186"/>
            <a:ext cx="938464" cy="645839"/>
          </a:xfrm>
          <a:prstGeom prst="rect">
            <a:avLst/>
          </a:prstGeom>
        </p:spPr>
      </p:pic>
    </p:spTree>
    <p:extLst>
      <p:ext uri="{BB962C8B-B14F-4D97-AF65-F5344CB8AC3E}">
        <p14:creationId xmlns:p14="http://schemas.microsoft.com/office/powerpoint/2010/main" val="29847749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ounded Rectangle">
            <a:extLst>
              <a:ext uri="{FF2B5EF4-FFF2-40B4-BE49-F238E27FC236}">
                <a16:creationId xmlns:a16="http://schemas.microsoft.com/office/drawing/2014/main" id="{46EF03B4-D61C-75C6-DA69-30205C479C43}"/>
              </a:ext>
              <a:ext uri="{C183D7F6-B498-43B3-948B-1728B52AA6E4}">
                <adec:decorative xmlns:adec="http://schemas.microsoft.com/office/drawing/2017/decorative" val="1"/>
              </a:ext>
            </a:extLst>
          </p:cNvPr>
          <p:cNvSpPr/>
          <p:nvPr/>
        </p:nvSpPr>
        <p:spPr>
          <a:xfrm>
            <a:off x="7597498" y="2449249"/>
            <a:ext cx="3154611" cy="3552367"/>
          </a:xfrm>
          <a:prstGeom prst="roundRect">
            <a:avLst>
              <a:gd name="adj" fmla="val 2832"/>
            </a:avLst>
          </a:prstGeom>
          <a:solidFill>
            <a:schemeClr val="bg1">
              <a:lumMod val="95000"/>
            </a:schemeClr>
          </a:solidFill>
          <a:ln w="12700">
            <a:miter lim="400000"/>
          </a:ln>
        </p:spPr>
        <p:txBody>
          <a:bodyPr lIns="0" tIns="0" rIns="0" bIns="0" anchor="ctr"/>
          <a:lstStyle/>
          <a:p>
            <a:pPr algn="ctr">
              <a:defRPr b="0" spc="0">
                <a:solidFill>
                  <a:srgbClr val="FFFFFF"/>
                </a:solidFill>
                <a:latin typeface="Helvetica Neue Medium"/>
                <a:ea typeface="Helvetica Neue Medium"/>
                <a:cs typeface="Helvetica Neue Medium"/>
                <a:sym typeface="Helvetica Neue Medium"/>
              </a:defRPr>
            </a:pPr>
            <a:endParaRPr sz="800"/>
          </a:p>
        </p:txBody>
      </p:sp>
      <p:sp>
        <p:nvSpPr>
          <p:cNvPr id="3" name="Joined in past 3 months…">
            <a:extLst>
              <a:ext uri="{FF2B5EF4-FFF2-40B4-BE49-F238E27FC236}">
                <a16:creationId xmlns:a16="http://schemas.microsoft.com/office/drawing/2014/main" id="{82AD66A2-59C2-572A-2821-A0128E95D2B6}"/>
              </a:ext>
            </a:extLst>
          </p:cNvPr>
          <p:cNvSpPr txBox="1"/>
          <p:nvPr/>
        </p:nvSpPr>
        <p:spPr>
          <a:xfrm>
            <a:off x="7911158" y="2725084"/>
            <a:ext cx="2664645" cy="42062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25400" tIns="25400" rIns="25400" bIns="25400" anchor="t">
            <a:spAutoFit/>
          </a:bodyPr>
          <a:lstStyle/>
          <a:p>
            <a:pPr>
              <a:spcBef>
                <a:spcPts val="2250"/>
              </a:spcBef>
              <a:defRPr sz="2800" b="0" spc="0">
                <a:solidFill>
                  <a:srgbClr val="000000"/>
                </a:solidFill>
              </a:defRPr>
            </a:pPr>
            <a:r>
              <a:rPr lang="en-US" sz="2400" b="1">
                <a:solidFill>
                  <a:srgbClr val="AA0000"/>
                </a:solidFill>
                <a:latin typeface="Helvetica for Target"/>
              </a:rPr>
              <a:t>Process</a:t>
            </a:r>
          </a:p>
        </p:txBody>
      </p:sp>
      <p:sp>
        <p:nvSpPr>
          <p:cNvPr id="15" name="Rounded Rectangle">
            <a:extLst>
              <a:ext uri="{FF2B5EF4-FFF2-40B4-BE49-F238E27FC236}">
                <a16:creationId xmlns:a16="http://schemas.microsoft.com/office/drawing/2014/main" id="{4AE5DCA0-7259-36DD-4A10-C5A57C35A161}"/>
              </a:ext>
              <a:ext uri="{C183D7F6-B498-43B3-948B-1728B52AA6E4}">
                <adec:decorative xmlns:adec="http://schemas.microsoft.com/office/drawing/2017/decorative" val="1"/>
              </a:ext>
            </a:extLst>
          </p:cNvPr>
          <p:cNvSpPr/>
          <p:nvPr/>
        </p:nvSpPr>
        <p:spPr>
          <a:xfrm>
            <a:off x="4101263" y="2449251"/>
            <a:ext cx="3154611" cy="3552366"/>
          </a:xfrm>
          <a:prstGeom prst="roundRect">
            <a:avLst>
              <a:gd name="adj" fmla="val 2832"/>
            </a:avLst>
          </a:prstGeom>
          <a:solidFill>
            <a:schemeClr val="bg1">
              <a:lumMod val="95000"/>
            </a:schemeClr>
          </a:solidFill>
          <a:ln w="12700">
            <a:miter lim="400000"/>
          </a:ln>
        </p:spPr>
        <p:txBody>
          <a:bodyPr lIns="0" tIns="0" rIns="0" bIns="0" anchor="ctr"/>
          <a:lstStyle/>
          <a:p>
            <a:pPr algn="ctr">
              <a:defRPr b="0" spc="0">
                <a:solidFill>
                  <a:srgbClr val="FFFFFF"/>
                </a:solidFill>
                <a:latin typeface="Helvetica Neue Medium"/>
                <a:ea typeface="Helvetica Neue Medium"/>
                <a:cs typeface="Helvetica Neue Medium"/>
                <a:sym typeface="Helvetica Neue Medium"/>
              </a:defRPr>
            </a:pPr>
            <a:endParaRPr sz="800"/>
          </a:p>
        </p:txBody>
      </p:sp>
      <p:sp>
        <p:nvSpPr>
          <p:cNvPr id="16" name="Joined in past 3 months…">
            <a:extLst>
              <a:ext uri="{FF2B5EF4-FFF2-40B4-BE49-F238E27FC236}">
                <a16:creationId xmlns:a16="http://schemas.microsoft.com/office/drawing/2014/main" id="{69302CB2-010F-6AC3-0371-35DDBCB27DDB}"/>
              </a:ext>
            </a:extLst>
          </p:cNvPr>
          <p:cNvSpPr txBox="1"/>
          <p:nvPr/>
        </p:nvSpPr>
        <p:spPr>
          <a:xfrm>
            <a:off x="4346246" y="2725084"/>
            <a:ext cx="2664645" cy="4206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t">
            <a:spAutoFit/>
          </a:bodyPr>
          <a:lstStyle/>
          <a:p>
            <a:pPr>
              <a:spcBef>
                <a:spcPts val="2250"/>
              </a:spcBef>
              <a:defRPr sz="2800" b="0" spc="0">
                <a:solidFill>
                  <a:srgbClr val="000000"/>
                </a:solidFill>
              </a:defRPr>
            </a:pPr>
            <a:r>
              <a:rPr lang="en-US" sz="2400" b="1">
                <a:solidFill>
                  <a:srgbClr val="AA0000"/>
                </a:solidFill>
                <a:latin typeface="Helvetica for Target"/>
              </a:rPr>
              <a:t>Distribution</a:t>
            </a:r>
          </a:p>
        </p:txBody>
      </p:sp>
      <p:sp>
        <p:nvSpPr>
          <p:cNvPr id="13" name="Rounded Rectangle">
            <a:extLst>
              <a:ext uri="{FF2B5EF4-FFF2-40B4-BE49-F238E27FC236}">
                <a16:creationId xmlns:a16="http://schemas.microsoft.com/office/drawing/2014/main" id="{2A09E6CF-9B87-8788-F3BD-08E613167256}"/>
              </a:ext>
              <a:ext uri="{C183D7F6-B498-43B3-948B-1728B52AA6E4}">
                <adec:decorative xmlns:adec="http://schemas.microsoft.com/office/drawing/2017/decorative" val="1"/>
              </a:ext>
            </a:extLst>
          </p:cNvPr>
          <p:cNvSpPr/>
          <p:nvPr/>
        </p:nvSpPr>
        <p:spPr>
          <a:xfrm>
            <a:off x="605028" y="2449251"/>
            <a:ext cx="3154611" cy="3559652"/>
          </a:xfrm>
          <a:prstGeom prst="roundRect">
            <a:avLst>
              <a:gd name="adj" fmla="val 2832"/>
            </a:avLst>
          </a:prstGeom>
          <a:solidFill>
            <a:schemeClr val="bg1">
              <a:lumMod val="95000"/>
            </a:schemeClr>
          </a:solidFill>
          <a:ln w="12700">
            <a:miter lim="400000"/>
          </a:ln>
        </p:spPr>
        <p:txBody>
          <a:bodyPr lIns="0" tIns="0" rIns="0" bIns="0" anchor="ctr"/>
          <a:lstStyle/>
          <a:p>
            <a:pPr algn="ctr">
              <a:defRPr b="0" spc="0">
                <a:solidFill>
                  <a:srgbClr val="FFFFFF"/>
                </a:solidFill>
                <a:latin typeface="Helvetica Neue Medium"/>
                <a:ea typeface="Helvetica Neue Medium"/>
                <a:cs typeface="Helvetica Neue Medium"/>
                <a:sym typeface="Helvetica Neue Medium"/>
              </a:defRPr>
            </a:pPr>
            <a:endParaRPr sz="800"/>
          </a:p>
        </p:txBody>
      </p:sp>
      <p:sp>
        <p:nvSpPr>
          <p:cNvPr id="14" name="Joined in past 3 months…">
            <a:extLst>
              <a:ext uri="{FF2B5EF4-FFF2-40B4-BE49-F238E27FC236}">
                <a16:creationId xmlns:a16="http://schemas.microsoft.com/office/drawing/2014/main" id="{C495063B-3A10-C5B0-9317-FB2E694FC5B3}"/>
              </a:ext>
            </a:extLst>
          </p:cNvPr>
          <p:cNvSpPr txBox="1"/>
          <p:nvPr/>
        </p:nvSpPr>
        <p:spPr>
          <a:xfrm>
            <a:off x="850011" y="2725085"/>
            <a:ext cx="2664645" cy="42062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25400" tIns="25400" rIns="25400" bIns="25400" anchor="t">
            <a:spAutoFit/>
          </a:bodyPr>
          <a:lstStyle/>
          <a:p>
            <a:pPr>
              <a:spcBef>
                <a:spcPts val="2250"/>
              </a:spcBef>
              <a:defRPr sz="2800" b="0" spc="0">
                <a:solidFill>
                  <a:srgbClr val="000000"/>
                </a:solidFill>
              </a:defRPr>
            </a:pPr>
            <a:r>
              <a:rPr lang="en-US" sz="2400" b="1">
                <a:solidFill>
                  <a:srgbClr val="AA0000"/>
                </a:solidFill>
                <a:latin typeface="Helvetica for Target"/>
              </a:rPr>
              <a:t>Goal</a:t>
            </a:r>
            <a:endParaRPr lang="en-US">
              <a:solidFill>
                <a:srgbClr val="AA0000"/>
              </a:solidFill>
            </a:endParaRPr>
          </a:p>
        </p:txBody>
      </p:sp>
      <p:sp>
        <p:nvSpPr>
          <p:cNvPr id="5" name="Title 4">
            <a:extLst>
              <a:ext uri="{FF2B5EF4-FFF2-40B4-BE49-F238E27FC236}">
                <a16:creationId xmlns:a16="http://schemas.microsoft.com/office/drawing/2014/main" id="{551460A5-7394-3CF2-D5B6-CFD7BDE07E31}"/>
              </a:ext>
            </a:extLst>
          </p:cNvPr>
          <p:cNvSpPr>
            <a:spLocks noGrp="1"/>
          </p:cNvSpPr>
          <p:nvPr>
            <p:ph type="title"/>
          </p:nvPr>
        </p:nvSpPr>
        <p:spPr>
          <a:xfrm>
            <a:off x="566928" y="1046568"/>
            <a:ext cx="10094976" cy="1307917"/>
          </a:xfrm>
        </p:spPr>
        <p:txBody>
          <a:bodyPr>
            <a:normAutofit/>
          </a:bodyPr>
          <a:lstStyle/>
          <a:p>
            <a:r>
              <a:rPr lang="en-US" sz="5400" b="1" dirty="0">
                <a:latin typeface="Helvetica for Target" panose="020B0504020202020204" pitchFamily="34" charset="77"/>
                <a:ea typeface="Helvetica for Target" panose="020B0504020202020204" pitchFamily="34" charset="77"/>
              </a:rPr>
              <a:t>Survey Overview</a:t>
            </a:r>
          </a:p>
        </p:txBody>
      </p:sp>
      <p:pic>
        <p:nvPicPr>
          <p:cNvPr id="4" name="Picture 3">
            <a:extLst>
              <a:ext uri="{FF2B5EF4-FFF2-40B4-BE49-F238E27FC236}">
                <a16:creationId xmlns:a16="http://schemas.microsoft.com/office/drawing/2014/main" id="{F049205D-5EA8-F64F-15E5-F9508FF4DC2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217570" y="231035"/>
            <a:ext cx="938464" cy="645839"/>
          </a:xfrm>
          <a:prstGeom prst="rect">
            <a:avLst/>
          </a:prstGeom>
        </p:spPr>
      </p:pic>
      <p:sp>
        <p:nvSpPr>
          <p:cNvPr id="2" name="Joined in past 3 months…">
            <a:extLst>
              <a:ext uri="{FF2B5EF4-FFF2-40B4-BE49-F238E27FC236}">
                <a16:creationId xmlns:a16="http://schemas.microsoft.com/office/drawing/2014/main" id="{D8D070E2-9C68-0DA7-4294-7FD93AF9B913}"/>
              </a:ext>
            </a:extLst>
          </p:cNvPr>
          <p:cNvSpPr txBox="1">
            <a:spLocks/>
          </p:cNvSpPr>
          <p:nvPr/>
        </p:nvSpPr>
        <p:spPr>
          <a:xfrm>
            <a:off x="850011" y="3240475"/>
            <a:ext cx="2664645" cy="29751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t">
            <a:spAutoFit/>
          </a:bodyPr>
          <a:lstStyle/>
          <a:p>
            <a:pPr>
              <a:spcBef>
                <a:spcPts val="2250"/>
              </a:spcBef>
              <a:defRPr sz="2800" b="0" spc="0">
                <a:solidFill>
                  <a:srgbClr val="000000"/>
                </a:solidFill>
              </a:defRPr>
            </a:pPr>
            <a:endParaRPr lang="en-US" sz="1600">
              <a:latin typeface="Helvetica for Target"/>
            </a:endParaRPr>
          </a:p>
        </p:txBody>
      </p:sp>
      <p:sp>
        <p:nvSpPr>
          <p:cNvPr id="6" name="Joined in past 3 months…">
            <a:extLst>
              <a:ext uri="{FF2B5EF4-FFF2-40B4-BE49-F238E27FC236}">
                <a16:creationId xmlns:a16="http://schemas.microsoft.com/office/drawing/2014/main" id="{D793D2D5-4E4C-71F1-33A6-D52B5E1F3D53}"/>
              </a:ext>
            </a:extLst>
          </p:cNvPr>
          <p:cNvSpPr txBox="1"/>
          <p:nvPr/>
        </p:nvSpPr>
        <p:spPr>
          <a:xfrm>
            <a:off x="4346246" y="3240476"/>
            <a:ext cx="2664645" cy="2267287"/>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25400" tIns="25400" rIns="25400" bIns="25400" anchor="t">
            <a:spAutoFit/>
          </a:bodyPr>
          <a:lstStyle/>
          <a:p>
            <a:pPr>
              <a:spcBef>
                <a:spcPts val="2250"/>
              </a:spcBef>
              <a:defRPr sz="2800" b="0" spc="0">
                <a:solidFill>
                  <a:srgbClr val="000000"/>
                </a:solidFill>
              </a:defRPr>
            </a:pPr>
            <a:r>
              <a:rPr lang="en-US" sz="1600" dirty="0">
                <a:latin typeface="Helvetica for Target"/>
              </a:rPr>
              <a:t>The survey was open to the store leaders invited to participate from April 1-8, 2025. The survey was distributed to 1,642 stores. SDs received an invitation to the survey in their email and ETLs and TLs received the invitation within </a:t>
            </a:r>
            <a:r>
              <a:rPr lang="en-US" sz="1600" dirty="0" err="1">
                <a:latin typeface="Helvetica for Target"/>
              </a:rPr>
              <a:t>myDay</a:t>
            </a:r>
            <a:r>
              <a:rPr lang="en-US" sz="1600" dirty="0">
                <a:latin typeface="Helvetica for Target"/>
              </a:rPr>
              <a:t>.</a:t>
            </a:r>
            <a:endParaRPr lang="en-US" sz="1600" dirty="0">
              <a:latin typeface="Helvetica for Target"/>
              <a:ea typeface="Helvetica for Target"/>
            </a:endParaRPr>
          </a:p>
        </p:txBody>
      </p:sp>
      <p:sp>
        <p:nvSpPr>
          <p:cNvPr id="7" name="Joined in past 3 months…">
            <a:extLst>
              <a:ext uri="{FF2B5EF4-FFF2-40B4-BE49-F238E27FC236}">
                <a16:creationId xmlns:a16="http://schemas.microsoft.com/office/drawing/2014/main" id="{93C19FA9-15F7-4771-FFF5-F1F0FB6EAC56}"/>
              </a:ext>
            </a:extLst>
          </p:cNvPr>
          <p:cNvSpPr txBox="1"/>
          <p:nvPr/>
        </p:nvSpPr>
        <p:spPr>
          <a:xfrm>
            <a:off x="7909716" y="3240475"/>
            <a:ext cx="2664645" cy="2267287"/>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25400" tIns="25400" rIns="25400" bIns="25400" anchor="t">
            <a:spAutoFit/>
          </a:bodyPr>
          <a:lstStyle/>
          <a:p>
            <a:pPr>
              <a:spcBef>
                <a:spcPts val="2250"/>
              </a:spcBef>
              <a:defRPr sz="2800" b="0" spc="0">
                <a:solidFill>
                  <a:srgbClr val="000000"/>
                </a:solidFill>
              </a:defRPr>
            </a:pPr>
            <a:r>
              <a:rPr lang="en-US" sz="1600">
                <a:latin typeface="Helvetica for Target"/>
              </a:rPr>
              <a:t>The Task Management Product Team (with the UX Researcher and Store Ops Business partner) worked with Corporate Communications and HR to review the survey, provide feedback, and draft the survey invitation.</a:t>
            </a:r>
          </a:p>
        </p:txBody>
      </p:sp>
      <p:sp>
        <p:nvSpPr>
          <p:cNvPr id="8" name="Joined in past 3 months…">
            <a:extLst>
              <a:ext uri="{FF2B5EF4-FFF2-40B4-BE49-F238E27FC236}">
                <a16:creationId xmlns:a16="http://schemas.microsoft.com/office/drawing/2014/main" id="{E5B66F8E-8BB8-6FA4-578B-1E2740B4821E}"/>
              </a:ext>
            </a:extLst>
          </p:cNvPr>
          <p:cNvSpPr txBox="1"/>
          <p:nvPr/>
        </p:nvSpPr>
        <p:spPr>
          <a:xfrm>
            <a:off x="850010" y="3240474"/>
            <a:ext cx="2664645" cy="251350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25400" tIns="25400" rIns="25400" bIns="25400" anchor="t">
            <a:spAutoFit/>
          </a:bodyPr>
          <a:lstStyle/>
          <a:p>
            <a:pPr>
              <a:spcBef>
                <a:spcPts val="2250"/>
              </a:spcBef>
              <a:defRPr sz="2800" b="0" spc="0">
                <a:solidFill>
                  <a:srgbClr val="000000"/>
                </a:solidFill>
              </a:defRPr>
            </a:pPr>
            <a:r>
              <a:rPr lang="en-US" sz="1600" b="0" i="0">
                <a:solidFill>
                  <a:srgbClr val="1D1C1D"/>
                </a:solidFill>
                <a:effectLst/>
                <a:latin typeface="Helvetica for Target" panose="020B0504020202020204" pitchFamily="34" charset="77"/>
                <a:ea typeface="Helvetica for Target" panose="020B0504020202020204" pitchFamily="34" charset="77"/>
              </a:rPr>
              <a:t>To establish a baseline and measure progress following the launch and development of the holistic workload visibility leader dashboard of time spent, perception of ease, and confidence of decisions by leaders assessing and prioritizing daily workload. </a:t>
            </a:r>
            <a:endParaRPr lang="en-US" sz="1600">
              <a:latin typeface="Helvetica for Target" panose="020B0504020202020204" pitchFamily="34" charset="77"/>
              <a:ea typeface="Helvetica for Target" panose="020B0504020202020204" pitchFamily="34" charset="77"/>
            </a:endParaRPr>
          </a:p>
        </p:txBody>
      </p:sp>
    </p:spTree>
    <p:extLst>
      <p:ext uri="{BB962C8B-B14F-4D97-AF65-F5344CB8AC3E}">
        <p14:creationId xmlns:p14="http://schemas.microsoft.com/office/powerpoint/2010/main" val="3578093985"/>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D3F1189-285E-2A42-F8EE-96B6538A718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217570" y="231035"/>
            <a:ext cx="938464" cy="645839"/>
          </a:xfrm>
          <a:prstGeom prst="rect">
            <a:avLst/>
          </a:prstGeom>
        </p:spPr>
      </p:pic>
      <p:sp>
        <p:nvSpPr>
          <p:cNvPr id="9" name="Title 4">
            <a:extLst>
              <a:ext uri="{FF2B5EF4-FFF2-40B4-BE49-F238E27FC236}">
                <a16:creationId xmlns:a16="http://schemas.microsoft.com/office/drawing/2014/main" id="{FF9F614C-82F0-8456-AC45-9BA2A3931792}"/>
              </a:ext>
            </a:extLst>
          </p:cNvPr>
          <p:cNvSpPr>
            <a:spLocks noGrp="1"/>
          </p:cNvSpPr>
          <p:nvPr>
            <p:ph type="title"/>
          </p:nvPr>
        </p:nvSpPr>
        <p:spPr>
          <a:xfrm>
            <a:off x="566928" y="1046568"/>
            <a:ext cx="10094976" cy="1307917"/>
          </a:xfrm>
        </p:spPr>
        <p:txBody>
          <a:bodyPr anchor="ctr">
            <a:normAutofit fontScale="90000"/>
          </a:bodyPr>
          <a:lstStyle/>
          <a:p>
            <a:pPr>
              <a:lnSpc>
                <a:spcPct val="100000"/>
              </a:lnSpc>
            </a:pPr>
            <a:r>
              <a:rPr lang="en-US" sz="5400" b="1" dirty="0">
                <a:latin typeface="Helvetica for Target" panose="020B0504020202020204" pitchFamily="34" charset="77"/>
                <a:ea typeface="Helvetica for Target" panose="020B0504020202020204" pitchFamily="34" charset="77"/>
              </a:rPr>
              <a:t>694 Store Leaders Represented</a:t>
            </a:r>
          </a:p>
        </p:txBody>
      </p:sp>
      <p:pic>
        <p:nvPicPr>
          <p:cNvPr id="1029" name="Picture 5">
            <a:extLst>
              <a:ext uri="{FF2B5EF4-FFF2-40B4-BE49-F238E27FC236}">
                <a16:creationId xmlns:a16="http://schemas.microsoft.com/office/drawing/2014/main" id="{FB544FB1-8A78-7BA3-043C-DD2EA5ECB0B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6802" y="2354485"/>
            <a:ext cx="4381500" cy="36830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8D633313-B154-2FEA-510E-3D6502138ED7}"/>
              </a:ext>
            </a:extLst>
          </p:cNvPr>
          <p:cNvSpPr txBox="1"/>
          <p:nvPr/>
        </p:nvSpPr>
        <p:spPr>
          <a:xfrm>
            <a:off x="1590261" y="6037485"/>
            <a:ext cx="473206" cy="307777"/>
          </a:xfrm>
          <a:prstGeom prst="rect">
            <a:avLst/>
          </a:prstGeom>
          <a:noFill/>
        </p:spPr>
        <p:txBody>
          <a:bodyPr wrap="none" rtlCol="0">
            <a:spAutoFit/>
          </a:bodyPr>
          <a:lstStyle/>
          <a:p>
            <a:r>
              <a:rPr lang="en-US" sz="1400" dirty="0">
                <a:solidFill>
                  <a:schemeClr val="tx1">
                    <a:lumMod val="50000"/>
                    <a:lumOff val="50000"/>
                  </a:schemeClr>
                </a:solidFill>
              </a:rPr>
              <a:t>416</a:t>
            </a:r>
          </a:p>
        </p:txBody>
      </p:sp>
      <p:sp>
        <p:nvSpPr>
          <p:cNvPr id="7" name="TextBox 6">
            <a:extLst>
              <a:ext uri="{FF2B5EF4-FFF2-40B4-BE49-F238E27FC236}">
                <a16:creationId xmlns:a16="http://schemas.microsoft.com/office/drawing/2014/main" id="{685FCA95-1633-16CA-06BA-26AA450C2380}"/>
              </a:ext>
            </a:extLst>
          </p:cNvPr>
          <p:cNvSpPr txBox="1"/>
          <p:nvPr/>
        </p:nvSpPr>
        <p:spPr>
          <a:xfrm>
            <a:off x="2814078" y="6037485"/>
            <a:ext cx="473206" cy="307777"/>
          </a:xfrm>
          <a:prstGeom prst="rect">
            <a:avLst/>
          </a:prstGeom>
          <a:noFill/>
        </p:spPr>
        <p:txBody>
          <a:bodyPr wrap="none" rtlCol="0">
            <a:spAutoFit/>
          </a:bodyPr>
          <a:lstStyle/>
          <a:p>
            <a:r>
              <a:rPr lang="en-US" sz="1400" dirty="0">
                <a:solidFill>
                  <a:schemeClr val="tx1">
                    <a:lumMod val="50000"/>
                    <a:lumOff val="50000"/>
                  </a:schemeClr>
                </a:solidFill>
              </a:rPr>
              <a:t>115</a:t>
            </a:r>
          </a:p>
        </p:txBody>
      </p:sp>
      <p:sp>
        <p:nvSpPr>
          <p:cNvPr id="10" name="TextBox 9">
            <a:extLst>
              <a:ext uri="{FF2B5EF4-FFF2-40B4-BE49-F238E27FC236}">
                <a16:creationId xmlns:a16="http://schemas.microsoft.com/office/drawing/2014/main" id="{47CA3A2C-98BE-12D2-A16D-3DA956E63693}"/>
              </a:ext>
            </a:extLst>
          </p:cNvPr>
          <p:cNvSpPr txBox="1"/>
          <p:nvPr/>
        </p:nvSpPr>
        <p:spPr>
          <a:xfrm>
            <a:off x="4040881" y="6037485"/>
            <a:ext cx="473206" cy="307777"/>
          </a:xfrm>
          <a:prstGeom prst="rect">
            <a:avLst/>
          </a:prstGeom>
          <a:noFill/>
        </p:spPr>
        <p:txBody>
          <a:bodyPr wrap="none" rtlCol="0">
            <a:spAutoFit/>
          </a:bodyPr>
          <a:lstStyle/>
          <a:p>
            <a:r>
              <a:rPr lang="en-US" sz="1400" dirty="0">
                <a:solidFill>
                  <a:schemeClr val="tx1">
                    <a:lumMod val="50000"/>
                    <a:lumOff val="50000"/>
                  </a:schemeClr>
                </a:solidFill>
              </a:rPr>
              <a:t>163</a:t>
            </a:r>
          </a:p>
        </p:txBody>
      </p:sp>
      <p:pic>
        <p:nvPicPr>
          <p:cNvPr id="1031" name="Picture 7">
            <a:extLst>
              <a:ext uri="{FF2B5EF4-FFF2-40B4-BE49-F238E27FC236}">
                <a16:creationId xmlns:a16="http://schemas.microsoft.com/office/drawing/2014/main" id="{7BF94D80-6572-BEC1-5424-77CCA4287F0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91115" y="2354485"/>
            <a:ext cx="6121400" cy="368300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4EC60D2D-9A31-0E0A-D3F7-4FC7BCACB904}"/>
              </a:ext>
            </a:extLst>
          </p:cNvPr>
          <p:cNvSpPr txBox="1"/>
          <p:nvPr/>
        </p:nvSpPr>
        <p:spPr>
          <a:xfrm>
            <a:off x="5291115" y="6160596"/>
            <a:ext cx="3417282" cy="369332"/>
          </a:xfrm>
          <a:prstGeom prst="rect">
            <a:avLst/>
          </a:prstGeom>
          <a:noFill/>
        </p:spPr>
        <p:txBody>
          <a:bodyPr wrap="none" rtlCol="0">
            <a:spAutoFit/>
          </a:bodyPr>
          <a:lstStyle/>
          <a:p>
            <a:r>
              <a:rPr lang="en-US" dirty="0"/>
              <a:t>Work Areas for ETLs and TLs only</a:t>
            </a:r>
          </a:p>
        </p:txBody>
      </p:sp>
    </p:spTree>
    <p:extLst>
      <p:ext uri="{BB962C8B-B14F-4D97-AF65-F5344CB8AC3E}">
        <p14:creationId xmlns:p14="http://schemas.microsoft.com/office/powerpoint/2010/main" val="12377279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FA4DA-0819-686D-37E1-42C33E4665F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0D9592B-21AE-6CA1-241E-3784359DE4B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217570" y="231035"/>
            <a:ext cx="938464" cy="645839"/>
          </a:xfrm>
          <a:prstGeom prst="rect">
            <a:avLst/>
          </a:prstGeom>
        </p:spPr>
      </p:pic>
      <p:sp>
        <p:nvSpPr>
          <p:cNvPr id="4" name="Title 3">
            <a:extLst>
              <a:ext uri="{FF2B5EF4-FFF2-40B4-BE49-F238E27FC236}">
                <a16:creationId xmlns:a16="http://schemas.microsoft.com/office/drawing/2014/main" id="{31381A5D-4A84-19B0-3104-4D3F53D18BC9}"/>
              </a:ext>
            </a:extLst>
          </p:cNvPr>
          <p:cNvSpPr>
            <a:spLocks noGrp="1"/>
          </p:cNvSpPr>
          <p:nvPr>
            <p:ph type="title"/>
          </p:nvPr>
        </p:nvSpPr>
        <p:spPr>
          <a:xfrm>
            <a:off x="686802" y="3856383"/>
            <a:ext cx="10431186" cy="1600200"/>
          </a:xfrm>
        </p:spPr>
        <p:txBody>
          <a:bodyPr>
            <a:normAutofit fontScale="90000"/>
          </a:bodyPr>
          <a:lstStyle/>
          <a:p>
            <a:r>
              <a:rPr lang="en-US" b="0" i="0" dirty="0">
                <a:solidFill>
                  <a:srgbClr val="32363A"/>
                </a:solidFill>
                <a:effectLst/>
                <a:latin typeface="72"/>
              </a:rPr>
              <a:t>For this survey, when we say “</a:t>
            </a:r>
            <a:r>
              <a:rPr lang="en-US" b="1" i="0" dirty="0">
                <a:solidFill>
                  <a:srgbClr val="32363A"/>
                </a:solidFill>
                <a:effectLst/>
                <a:latin typeface="72"/>
              </a:rPr>
              <a:t>assessing and prioritizing daily workload</a:t>
            </a:r>
            <a:r>
              <a:rPr lang="en-US" b="0" i="0" dirty="0">
                <a:solidFill>
                  <a:srgbClr val="32363A"/>
                </a:solidFill>
                <a:effectLst/>
                <a:latin typeface="72"/>
              </a:rPr>
              <a:t>” we mean the time you spend assessing and prioritizing what needs to be done by the team on the floor and/or the backroom on any given day.</a:t>
            </a:r>
            <a:br>
              <a:rPr lang="en-US" dirty="0"/>
            </a:br>
            <a:br>
              <a:rPr lang="en-US" dirty="0"/>
            </a:br>
            <a:r>
              <a:rPr lang="en-US" b="0" i="0" dirty="0">
                <a:solidFill>
                  <a:srgbClr val="32363A"/>
                </a:solidFill>
                <a:effectLst/>
                <a:latin typeface="72"/>
              </a:rPr>
              <a:t>This could mean assessing store brand, looking at trailer break out, writing daily assignment sheets, reading closing notes, reviewing relevant dashboards and reports, etc. when you arrive or throughout the day. This </a:t>
            </a:r>
            <a:r>
              <a:rPr lang="en-US" b="1" i="0" dirty="0">
                <a:solidFill>
                  <a:srgbClr val="32363A"/>
                </a:solidFill>
                <a:effectLst/>
                <a:latin typeface="72"/>
              </a:rPr>
              <a:t>does not</a:t>
            </a:r>
            <a:r>
              <a:rPr lang="en-US" b="0" i="0" dirty="0">
                <a:solidFill>
                  <a:srgbClr val="32363A"/>
                </a:solidFill>
                <a:effectLst/>
                <a:latin typeface="72"/>
              </a:rPr>
              <a:t> include tasks like weekly workload planning, writing work schedules, etc.</a:t>
            </a:r>
            <a:endParaRPr lang="en-US" dirty="0"/>
          </a:p>
        </p:txBody>
      </p:sp>
    </p:spTree>
    <p:extLst>
      <p:ext uri="{BB962C8B-B14F-4D97-AF65-F5344CB8AC3E}">
        <p14:creationId xmlns:p14="http://schemas.microsoft.com/office/powerpoint/2010/main" val="42693701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35CE0822-594D-DC35-9521-08D90AA23877}"/>
              </a:ext>
            </a:extLst>
          </p:cNvPr>
          <p:cNvSpPr>
            <a:spLocks noGrp="1"/>
          </p:cNvSpPr>
          <p:nvPr>
            <p:ph type="body" sz="half" idx="2"/>
          </p:nvPr>
        </p:nvSpPr>
        <p:spPr>
          <a:xfrm>
            <a:off x="601596" y="2932042"/>
            <a:ext cx="9774856" cy="3234657"/>
          </a:xfrm>
        </p:spPr>
        <p:txBody>
          <a:bodyPr>
            <a:normAutofit/>
          </a:bodyPr>
          <a:lstStyle/>
          <a:p>
            <a:pPr>
              <a:lnSpc>
                <a:spcPct val="100000"/>
              </a:lnSpc>
            </a:pPr>
            <a:r>
              <a:rPr lang="en-US" sz="1800" dirty="0">
                <a:latin typeface="Helvetica for Target"/>
                <a:ea typeface="Helvetica for Target" panose="020B0504020202020204" pitchFamily="34" charset="77"/>
              </a:rPr>
              <a:t>With the minimum being 1 minute, </a:t>
            </a:r>
          </a:p>
          <a:p>
            <a:pPr>
              <a:lnSpc>
                <a:spcPct val="100000"/>
              </a:lnSpc>
            </a:pPr>
            <a:r>
              <a:rPr lang="en-US" sz="1800" dirty="0">
                <a:latin typeface="Helvetica for Target"/>
                <a:ea typeface="Helvetica for Target" panose="020B0504020202020204" pitchFamily="34" charset="77"/>
              </a:rPr>
              <a:t>the maximum reported being 540 minutes (9 hours),</a:t>
            </a:r>
          </a:p>
          <a:p>
            <a:pPr>
              <a:lnSpc>
                <a:spcPct val="100000"/>
              </a:lnSpc>
            </a:pPr>
            <a:r>
              <a:rPr lang="en-US" sz="1800" dirty="0">
                <a:latin typeface="Helvetica for Target"/>
              </a:rPr>
              <a:t>And the mode being 60 minutes a day.</a:t>
            </a:r>
          </a:p>
          <a:p>
            <a:pPr>
              <a:lnSpc>
                <a:spcPct val="100000"/>
              </a:lnSpc>
            </a:pPr>
            <a:endParaRPr lang="en-US" sz="1800" dirty="0">
              <a:latin typeface="Helvetica for Target"/>
            </a:endParaRPr>
          </a:p>
          <a:p>
            <a:pPr>
              <a:lnSpc>
                <a:spcPct val="100000"/>
              </a:lnSpc>
            </a:pPr>
            <a:r>
              <a:rPr lang="en-US" sz="1800" dirty="0">
                <a:latin typeface="Helvetica for Target"/>
              </a:rPr>
              <a:t>SDs spend on average 103 minutes a day,</a:t>
            </a:r>
          </a:p>
          <a:p>
            <a:pPr>
              <a:lnSpc>
                <a:spcPct val="100000"/>
              </a:lnSpc>
            </a:pPr>
            <a:r>
              <a:rPr lang="en-US" sz="1800" dirty="0">
                <a:latin typeface="Helvetica for Target"/>
              </a:rPr>
              <a:t>ETLs spend on average 76 minutes a day,</a:t>
            </a:r>
          </a:p>
          <a:p>
            <a:pPr>
              <a:lnSpc>
                <a:spcPct val="100000"/>
              </a:lnSpc>
            </a:pPr>
            <a:r>
              <a:rPr lang="en-US" sz="1800" dirty="0">
                <a:latin typeface="Helvetica for Target"/>
              </a:rPr>
              <a:t>And TLs spend on average 44 minutes a day</a:t>
            </a:r>
          </a:p>
          <a:p>
            <a:pPr>
              <a:lnSpc>
                <a:spcPct val="100000"/>
              </a:lnSpc>
            </a:pPr>
            <a:r>
              <a:rPr lang="en-US" sz="1800" dirty="0">
                <a:latin typeface="Helvetica for Target"/>
              </a:rPr>
              <a:t>Assessing and prioritizing daily workload.</a:t>
            </a:r>
          </a:p>
          <a:p>
            <a:pPr>
              <a:lnSpc>
                <a:spcPct val="100000"/>
              </a:lnSpc>
            </a:pPr>
            <a:endParaRPr lang="en-US" sz="1800" dirty="0">
              <a:latin typeface="Helvetica for Target"/>
            </a:endParaRPr>
          </a:p>
          <a:p>
            <a:pPr>
              <a:lnSpc>
                <a:spcPct val="100000"/>
              </a:lnSpc>
            </a:pPr>
            <a:endParaRPr lang="en-US" sz="1800" dirty="0">
              <a:latin typeface="Helvetica for Target" panose="020B0504020202020204" pitchFamily="34" charset="77"/>
              <a:ea typeface="Helvetica for Target" panose="020B0504020202020204" pitchFamily="34" charset="77"/>
            </a:endParaRPr>
          </a:p>
        </p:txBody>
      </p:sp>
      <p:pic>
        <p:nvPicPr>
          <p:cNvPr id="3" name="Picture 2">
            <a:extLst>
              <a:ext uri="{FF2B5EF4-FFF2-40B4-BE49-F238E27FC236}">
                <a16:creationId xmlns:a16="http://schemas.microsoft.com/office/drawing/2014/main" id="{2D3F1189-285E-2A42-F8EE-96B6538A7181}"/>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217570" y="231035"/>
            <a:ext cx="938464" cy="645839"/>
          </a:xfrm>
          <a:prstGeom prst="rect">
            <a:avLst/>
          </a:prstGeom>
        </p:spPr>
      </p:pic>
      <p:sp>
        <p:nvSpPr>
          <p:cNvPr id="7" name="Title 1">
            <a:extLst>
              <a:ext uri="{FF2B5EF4-FFF2-40B4-BE49-F238E27FC236}">
                <a16:creationId xmlns:a16="http://schemas.microsoft.com/office/drawing/2014/main" id="{3E6CE51C-5378-2B0F-1FC1-ECB1352B7688}"/>
              </a:ext>
            </a:extLst>
          </p:cNvPr>
          <p:cNvSpPr>
            <a:spLocks noGrp="1"/>
          </p:cNvSpPr>
          <p:nvPr>
            <p:ph type="title"/>
          </p:nvPr>
        </p:nvSpPr>
        <p:spPr>
          <a:xfrm>
            <a:off x="601596" y="1440131"/>
            <a:ext cx="10070262" cy="1325563"/>
          </a:xfrm>
        </p:spPr>
        <p:txBody>
          <a:bodyPr>
            <a:noAutofit/>
          </a:bodyPr>
          <a:lstStyle/>
          <a:p>
            <a:r>
              <a:rPr lang="en-US" sz="3600" dirty="0">
                <a:latin typeface="Helvetica for Target"/>
                <a:ea typeface="Helvetica for Target" panose="020B0504020202020204" pitchFamily="34" charset="77"/>
              </a:rPr>
              <a:t>Store Leaders currently spend on average </a:t>
            </a:r>
            <a:br>
              <a:rPr lang="en-US" sz="3600" dirty="0">
                <a:latin typeface="Helvetica for Target"/>
                <a:ea typeface="Helvetica for Target" panose="020B0504020202020204" pitchFamily="34" charset="77"/>
              </a:rPr>
            </a:br>
            <a:r>
              <a:rPr lang="en-US" sz="3600" b="1" dirty="0">
                <a:latin typeface="Helvetica for Target"/>
                <a:ea typeface="Helvetica for Target" panose="020B0504020202020204" pitchFamily="34" charset="77"/>
              </a:rPr>
              <a:t>87 minutes a day </a:t>
            </a:r>
            <a:br>
              <a:rPr lang="en-US" sz="3600" dirty="0">
                <a:latin typeface="Helvetica for Target"/>
                <a:ea typeface="Helvetica for Target" panose="020B0504020202020204" pitchFamily="34" charset="77"/>
              </a:rPr>
            </a:br>
            <a:r>
              <a:rPr lang="en-US" sz="3600" dirty="0">
                <a:latin typeface="Helvetica for Target"/>
                <a:ea typeface="Helvetica for Target" panose="020B0504020202020204" pitchFamily="34" charset="77"/>
              </a:rPr>
              <a:t>assessing and prioritizing daily workload. </a:t>
            </a:r>
            <a:endParaRPr lang="en-US" sz="3600" dirty="0">
              <a:latin typeface="Helvetica for Target" panose="020B0504020202020204" pitchFamily="34" charset="77"/>
              <a:ea typeface="Helvetica for Target" panose="020B0504020202020204" pitchFamily="34" charset="77"/>
            </a:endParaRPr>
          </a:p>
        </p:txBody>
      </p:sp>
    </p:spTree>
    <p:extLst>
      <p:ext uri="{BB962C8B-B14F-4D97-AF65-F5344CB8AC3E}">
        <p14:creationId xmlns:p14="http://schemas.microsoft.com/office/powerpoint/2010/main" val="719739409"/>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94C84-F085-883B-E2C5-CFEAD85AD535}"/>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8CFDEFBF-E6C3-E62E-168C-BB27DBD2E44A}"/>
              </a:ext>
            </a:extLst>
          </p:cNvPr>
          <p:cNvSpPr>
            <a:spLocks noGrp="1"/>
          </p:cNvSpPr>
          <p:nvPr>
            <p:ph type="body" sz="half" idx="2"/>
          </p:nvPr>
        </p:nvSpPr>
        <p:spPr>
          <a:xfrm>
            <a:off x="601596" y="2932042"/>
            <a:ext cx="5243619" cy="3234657"/>
          </a:xfrm>
        </p:spPr>
        <p:txBody>
          <a:bodyPr>
            <a:normAutofit/>
          </a:bodyPr>
          <a:lstStyle/>
          <a:p>
            <a:pPr>
              <a:lnSpc>
                <a:spcPct val="100000"/>
              </a:lnSpc>
            </a:pPr>
            <a:r>
              <a:rPr lang="en-US" sz="1800" dirty="0">
                <a:latin typeface="Helvetica for Target"/>
                <a:ea typeface="Helvetica for Target" panose="020B0504020202020204" pitchFamily="34" charset="77"/>
              </a:rPr>
              <a:t>With the minimum being half an hour, </a:t>
            </a:r>
          </a:p>
          <a:p>
            <a:pPr>
              <a:lnSpc>
                <a:spcPct val="100000"/>
              </a:lnSpc>
            </a:pPr>
            <a:r>
              <a:rPr lang="en-US" sz="1800" dirty="0">
                <a:latin typeface="Helvetica for Target"/>
                <a:ea typeface="Helvetica for Target" panose="020B0504020202020204" pitchFamily="34" charset="77"/>
              </a:rPr>
              <a:t>the maximum reported being 60 hours,</a:t>
            </a:r>
          </a:p>
          <a:p>
            <a:pPr>
              <a:lnSpc>
                <a:spcPct val="100000"/>
              </a:lnSpc>
            </a:pPr>
            <a:r>
              <a:rPr lang="en-US" sz="1800" dirty="0">
                <a:latin typeface="Helvetica for Target"/>
              </a:rPr>
              <a:t>And the mode being 5 hours a week.</a:t>
            </a:r>
          </a:p>
          <a:p>
            <a:pPr>
              <a:lnSpc>
                <a:spcPct val="100000"/>
              </a:lnSpc>
            </a:pPr>
            <a:endParaRPr lang="en-US" sz="1800" dirty="0">
              <a:latin typeface="Helvetica for Target"/>
            </a:endParaRPr>
          </a:p>
          <a:p>
            <a:pPr>
              <a:lnSpc>
                <a:spcPct val="100000"/>
              </a:lnSpc>
            </a:pPr>
            <a:r>
              <a:rPr lang="en-US" sz="1800" dirty="0">
                <a:latin typeface="Helvetica for Target"/>
              </a:rPr>
              <a:t>SDs spend on average 10.8 hours a week,</a:t>
            </a:r>
          </a:p>
          <a:p>
            <a:pPr>
              <a:lnSpc>
                <a:spcPct val="100000"/>
              </a:lnSpc>
            </a:pPr>
            <a:r>
              <a:rPr lang="en-US" sz="1800" dirty="0">
                <a:latin typeface="Helvetica for Target"/>
              </a:rPr>
              <a:t>ETLs spend on average 8.7 hours a week,</a:t>
            </a:r>
          </a:p>
          <a:p>
            <a:pPr>
              <a:lnSpc>
                <a:spcPct val="100000"/>
              </a:lnSpc>
            </a:pPr>
            <a:r>
              <a:rPr lang="en-US" sz="1800" dirty="0">
                <a:latin typeface="Helvetica for Target"/>
              </a:rPr>
              <a:t>And TLs spend on average 4.6 hours a week</a:t>
            </a:r>
          </a:p>
          <a:p>
            <a:pPr>
              <a:lnSpc>
                <a:spcPct val="100000"/>
              </a:lnSpc>
            </a:pPr>
            <a:r>
              <a:rPr lang="en-US" sz="1800" dirty="0">
                <a:latin typeface="Helvetica for Target"/>
              </a:rPr>
              <a:t>Assessing and prioritizing daily workload.</a:t>
            </a:r>
          </a:p>
          <a:p>
            <a:pPr>
              <a:lnSpc>
                <a:spcPct val="100000"/>
              </a:lnSpc>
            </a:pPr>
            <a:endParaRPr lang="en-US" sz="1800" dirty="0">
              <a:latin typeface="Helvetica for Target"/>
            </a:endParaRPr>
          </a:p>
          <a:p>
            <a:pPr>
              <a:lnSpc>
                <a:spcPct val="100000"/>
              </a:lnSpc>
            </a:pPr>
            <a:endParaRPr lang="en-US" sz="1800" dirty="0">
              <a:latin typeface="Helvetica for Target" panose="020B0504020202020204" pitchFamily="34" charset="77"/>
              <a:ea typeface="Helvetica for Target" panose="020B0504020202020204" pitchFamily="34" charset="77"/>
            </a:endParaRPr>
          </a:p>
        </p:txBody>
      </p:sp>
      <p:pic>
        <p:nvPicPr>
          <p:cNvPr id="3" name="Picture 2">
            <a:extLst>
              <a:ext uri="{FF2B5EF4-FFF2-40B4-BE49-F238E27FC236}">
                <a16:creationId xmlns:a16="http://schemas.microsoft.com/office/drawing/2014/main" id="{64616CA9-CD6D-0BAA-F8EA-767F10A8BC7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217570" y="231035"/>
            <a:ext cx="938464" cy="645839"/>
          </a:xfrm>
          <a:prstGeom prst="rect">
            <a:avLst/>
          </a:prstGeom>
        </p:spPr>
      </p:pic>
      <p:sp>
        <p:nvSpPr>
          <p:cNvPr id="7" name="Title 1">
            <a:extLst>
              <a:ext uri="{FF2B5EF4-FFF2-40B4-BE49-F238E27FC236}">
                <a16:creationId xmlns:a16="http://schemas.microsoft.com/office/drawing/2014/main" id="{A08E2412-D2FA-81E0-6A02-B28E89AD860F}"/>
              </a:ext>
            </a:extLst>
          </p:cNvPr>
          <p:cNvSpPr>
            <a:spLocks noGrp="1"/>
          </p:cNvSpPr>
          <p:nvPr>
            <p:ph type="title"/>
          </p:nvPr>
        </p:nvSpPr>
        <p:spPr>
          <a:xfrm>
            <a:off x="601596" y="1440131"/>
            <a:ext cx="10070262" cy="1325563"/>
          </a:xfrm>
        </p:spPr>
        <p:txBody>
          <a:bodyPr>
            <a:noAutofit/>
          </a:bodyPr>
          <a:lstStyle/>
          <a:p>
            <a:r>
              <a:rPr lang="en-US" sz="3600" dirty="0">
                <a:latin typeface="Helvetica for Target"/>
                <a:ea typeface="Helvetica for Target" panose="020B0504020202020204" pitchFamily="34" charset="77"/>
              </a:rPr>
              <a:t>Store Leaders currently spend on average </a:t>
            </a:r>
            <a:br>
              <a:rPr lang="en-US" sz="3600" dirty="0">
                <a:latin typeface="Helvetica for Target"/>
                <a:ea typeface="Helvetica for Target" panose="020B0504020202020204" pitchFamily="34" charset="77"/>
              </a:rPr>
            </a:br>
            <a:r>
              <a:rPr lang="en-US" sz="3600" b="1" dirty="0">
                <a:latin typeface="Helvetica for Target"/>
                <a:ea typeface="Helvetica for Target" panose="020B0504020202020204" pitchFamily="34" charset="77"/>
              </a:rPr>
              <a:t>9.2 hours a week</a:t>
            </a:r>
            <a:br>
              <a:rPr lang="en-US" sz="3600" dirty="0">
                <a:latin typeface="Helvetica for Target"/>
                <a:ea typeface="Helvetica for Target" panose="020B0504020202020204" pitchFamily="34" charset="77"/>
              </a:rPr>
            </a:br>
            <a:r>
              <a:rPr lang="en-US" sz="3600" dirty="0">
                <a:latin typeface="Helvetica for Target"/>
                <a:ea typeface="Helvetica for Target" panose="020B0504020202020204" pitchFamily="34" charset="77"/>
              </a:rPr>
              <a:t>assessing and prioritizing daily workload. </a:t>
            </a:r>
            <a:endParaRPr lang="en-US" sz="3600" dirty="0">
              <a:latin typeface="Helvetica for Target" panose="020B0504020202020204" pitchFamily="34" charset="77"/>
              <a:ea typeface="Helvetica for Target" panose="020B0504020202020204" pitchFamily="34" charset="77"/>
            </a:endParaRPr>
          </a:p>
        </p:txBody>
      </p:sp>
      <p:sp>
        <p:nvSpPr>
          <p:cNvPr id="2" name="Rectangle 1">
            <a:extLst>
              <a:ext uri="{FF2B5EF4-FFF2-40B4-BE49-F238E27FC236}">
                <a16:creationId xmlns:a16="http://schemas.microsoft.com/office/drawing/2014/main" id="{787EDE5E-81FD-7290-BDBA-67972480CA72}"/>
              </a:ext>
            </a:extLst>
          </p:cNvPr>
          <p:cNvSpPr/>
          <p:nvPr/>
        </p:nvSpPr>
        <p:spPr>
          <a:xfrm>
            <a:off x="6096000" y="4092307"/>
            <a:ext cx="2704448" cy="2504731"/>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Helvetica for Target" panose="020B0504020202020204" pitchFamily="34" charset="77"/>
                <a:ea typeface="Helvetica for Target" panose="020B0504020202020204" pitchFamily="34" charset="77"/>
              </a:rPr>
              <a:t>Napkin math:</a:t>
            </a:r>
          </a:p>
          <a:p>
            <a:pPr algn="ctr"/>
            <a:endParaRPr lang="en-US" sz="1400" dirty="0">
              <a:latin typeface="Helvetica for Target" panose="020B0504020202020204" pitchFamily="34" charset="77"/>
              <a:ea typeface="Helvetica for Target" panose="020B0504020202020204" pitchFamily="34" charset="77"/>
            </a:endParaRPr>
          </a:p>
          <a:p>
            <a:pPr algn="ctr"/>
            <a:r>
              <a:rPr lang="en-US" sz="1400" dirty="0">
                <a:latin typeface="Helvetica for Target" panose="020B0504020202020204" pitchFamily="34" charset="77"/>
                <a:ea typeface="Helvetica for Target" panose="020B0504020202020204" pitchFamily="34" charset="77"/>
              </a:rPr>
              <a:t>10.8 x 1 (# of SDs/store)</a:t>
            </a:r>
          </a:p>
          <a:p>
            <a:pPr algn="ctr"/>
            <a:r>
              <a:rPr lang="en-US" sz="1400" dirty="0">
                <a:latin typeface="Helvetica for Target" panose="020B0504020202020204" pitchFamily="34" charset="77"/>
                <a:ea typeface="Helvetica for Target" panose="020B0504020202020204" pitchFamily="34" charset="77"/>
              </a:rPr>
              <a:t>8.7 x 5 (avg # of ETLs/store)</a:t>
            </a:r>
          </a:p>
          <a:p>
            <a:pPr algn="ctr"/>
            <a:r>
              <a:rPr lang="en-US" sz="1400" dirty="0">
                <a:latin typeface="Helvetica for Target" panose="020B0504020202020204" pitchFamily="34" charset="77"/>
                <a:ea typeface="Helvetica for Target" panose="020B0504020202020204" pitchFamily="34" charset="77"/>
              </a:rPr>
              <a:t>+    4.6 x 12 (avg # of TLs/store)</a:t>
            </a:r>
          </a:p>
          <a:p>
            <a:pPr algn="ctr"/>
            <a:r>
              <a:rPr lang="en-US" sz="1400" dirty="0">
                <a:latin typeface="Helvetica for Target" panose="020B0504020202020204" pitchFamily="34" charset="77"/>
                <a:ea typeface="Helvetica for Target" panose="020B0504020202020204" pitchFamily="34" charset="77"/>
              </a:rPr>
              <a:t>____________________</a:t>
            </a:r>
          </a:p>
          <a:p>
            <a:pPr algn="ctr"/>
            <a:r>
              <a:rPr lang="en-US" sz="1400" dirty="0">
                <a:latin typeface="Helvetica for Target" panose="020B0504020202020204" pitchFamily="34" charset="77"/>
                <a:ea typeface="Helvetica for Target" panose="020B0504020202020204" pitchFamily="34" charset="77"/>
              </a:rPr>
              <a:t>Approx. 109.5 </a:t>
            </a:r>
            <a:r>
              <a:rPr lang="en-US" sz="1400" dirty="0" err="1">
                <a:latin typeface="Helvetica for Target" panose="020B0504020202020204" pitchFamily="34" charset="77"/>
                <a:ea typeface="Helvetica for Target" panose="020B0504020202020204" pitchFamily="34" charset="77"/>
              </a:rPr>
              <a:t>hrs</a:t>
            </a:r>
            <a:r>
              <a:rPr lang="en-US" sz="1400" dirty="0">
                <a:latin typeface="Helvetica for Target" panose="020B0504020202020204" pitchFamily="34" charset="77"/>
                <a:ea typeface="Helvetica for Target" panose="020B0504020202020204" pitchFamily="34" charset="77"/>
              </a:rPr>
              <a:t> / week / store</a:t>
            </a:r>
          </a:p>
          <a:p>
            <a:pPr algn="ctr"/>
            <a:endParaRPr lang="en-US" sz="1400" dirty="0">
              <a:latin typeface="Helvetica for Target" panose="020B0504020202020204" pitchFamily="34" charset="77"/>
              <a:ea typeface="Helvetica for Target" panose="020B0504020202020204" pitchFamily="34" charset="77"/>
            </a:endParaRPr>
          </a:p>
        </p:txBody>
      </p:sp>
    </p:spTree>
    <p:extLst>
      <p:ext uri="{BB962C8B-B14F-4D97-AF65-F5344CB8AC3E}">
        <p14:creationId xmlns:p14="http://schemas.microsoft.com/office/powerpoint/2010/main" val="2229806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0898F-3764-92A4-135B-6ABBF17A33B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BD54B06-159A-E264-A2AD-3C62E58B6C06}"/>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217570" y="231035"/>
            <a:ext cx="938464" cy="645839"/>
          </a:xfrm>
          <a:prstGeom prst="rect">
            <a:avLst/>
          </a:prstGeom>
        </p:spPr>
      </p:pic>
      <p:sp>
        <p:nvSpPr>
          <p:cNvPr id="9" name="Title 4">
            <a:extLst>
              <a:ext uri="{FF2B5EF4-FFF2-40B4-BE49-F238E27FC236}">
                <a16:creationId xmlns:a16="http://schemas.microsoft.com/office/drawing/2014/main" id="{09C23461-529E-2EF2-6FD0-719D9915D067}"/>
              </a:ext>
            </a:extLst>
          </p:cNvPr>
          <p:cNvSpPr>
            <a:spLocks noGrp="1"/>
          </p:cNvSpPr>
          <p:nvPr>
            <p:ph type="title"/>
          </p:nvPr>
        </p:nvSpPr>
        <p:spPr>
          <a:xfrm>
            <a:off x="566927" y="1046568"/>
            <a:ext cx="11204526" cy="1307917"/>
          </a:xfrm>
        </p:spPr>
        <p:txBody>
          <a:bodyPr anchor="ctr">
            <a:noAutofit/>
          </a:bodyPr>
          <a:lstStyle/>
          <a:p>
            <a:pPr>
              <a:lnSpc>
                <a:spcPct val="100000"/>
              </a:lnSpc>
            </a:pPr>
            <a:r>
              <a:rPr lang="en-US" sz="3600" b="1" dirty="0">
                <a:latin typeface="Helvetica for Target" panose="020B0504020202020204" pitchFamily="34" charset="77"/>
                <a:ea typeface="Helvetica for Target" panose="020B0504020202020204" pitchFamily="34" charset="77"/>
              </a:rPr>
              <a:t>The current process for assessing and prioritizing daily workload is effective and meets my needs.</a:t>
            </a:r>
          </a:p>
        </p:txBody>
      </p:sp>
      <p:pic>
        <p:nvPicPr>
          <p:cNvPr id="4" name="Picture 3" descr="A blue bar graph with white background&#10;&#10;AI-generated content may be incorrect.">
            <a:extLst>
              <a:ext uri="{FF2B5EF4-FFF2-40B4-BE49-F238E27FC236}">
                <a16:creationId xmlns:a16="http://schemas.microsoft.com/office/drawing/2014/main" id="{E069CAFB-A45D-369E-F600-5281EEB0721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7570" y="2551777"/>
            <a:ext cx="10971671" cy="3054986"/>
          </a:xfrm>
          <a:prstGeom prst="rect">
            <a:avLst/>
          </a:prstGeom>
        </p:spPr>
      </p:pic>
      <p:sp>
        <p:nvSpPr>
          <p:cNvPr id="5" name="Title 4">
            <a:extLst>
              <a:ext uri="{FF2B5EF4-FFF2-40B4-BE49-F238E27FC236}">
                <a16:creationId xmlns:a16="http://schemas.microsoft.com/office/drawing/2014/main" id="{1D3F1C07-F6EC-E0FB-D94A-63C1A6B7E552}"/>
              </a:ext>
            </a:extLst>
          </p:cNvPr>
          <p:cNvSpPr txBox="1">
            <a:spLocks/>
          </p:cNvSpPr>
          <p:nvPr/>
        </p:nvSpPr>
        <p:spPr>
          <a:xfrm>
            <a:off x="5876987" y="4208479"/>
            <a:ext cx="4084271" cy="130791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a:lnSpc>
                <a:spcPct val="100000"/>
              </a:lnSpc>
            </a:pPr>
            <a:r>
              <a:rPr lang="en-US" sz="1800" dirty="0">
                <a:latin typeface="Helvetica for Target" panose="020B0504020202020204" pitchFamily="34" charset="77"/>
                <a:ea typeface="Helvetica for Target" panose="020B0504020202020204" pitchFamily="34" charset="77"/>
              </a:rPr>
              <a:t>64% somewhat or strongly agree</a:t>
            </a:r>
          </a:p>
        </p:txBody>
      </p:sp>
      <p:sp>
        <p:nvSpPr>
          <p:cNvPr id="2" name="Title 4">
            <a:extLst>
              <a:ext uri="{FF2B5EF4-FFF2-40B4-BE49-F238E27FC236}">
                <a16:creationId xmlns:a16="http://schemas.microsoft.com/office/drawing/2014/main" id="{5FC9D531-BEAB-7487-69AE-F5AFE04738BC}"/>
              </a:ext>
            </a:extLst>
          </p:cNvPr>
          <p:cNvSpPr txBox="1">
            <a:spLocks/>
          </p:cNvSpPr>
          <p:nvPr/>
        </p:nvSpPr>
        <p:spPr>
          <a:xfrm>
            <a:off x="5876987" y="2726170"/>
            <a:ext cx="4084271" cy="130791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a:lnSpc>
                <a:spcPct val="100000"/>
              </a:lnSpc>
            </a:pPr>
            <a:r>
              <a:rPr lang="en-US" sz="1800" dirty="0">
                <a:latin typeface="Helvetica for Target" panose="020B0504020202020204" pitchFamily="34" charset="77"/>
                <a:ea typeface="Helvetica for Target" panose="020B0504020202020204" pitchFamily="34" charset="77"/>
              </a:rPr>
              <a:t>37% neutral or disagree</a:t>
            </a:r>
          </a:p>
        </p:txBody>
      </p:sp>
    </p:spTree>
    <p:extLst>
      <p:ext uri="{BB962C8B-B14F-4D97-AF65-F5344CB8AC3E}">
        <p14:creationId xmlns:p14="http://schemas.microsoft.com/office/powerpoint/2010/main" val="1358326066"/>
      </p:ext>
    </p:extLst>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4C4FF-F59D-10C3-6533-41349C7AA3E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F401A20-CF4B-75A0-D9A1-0E0799F9240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217570" y="231035"/>
            <a:ext cx="938464" cy="645839"/>
          </a:xfrm>
          <a:prstGeom prst="rect">
            <a:avLst/>
          </a:prstGeom>
        </p:spPr>
      </p:pic>
      <p:sp>
        <p:nvSpPr>
          <p:cNvPr id="9" name="Title 4">
            <a:extLst>
              <a:ext uri="{FF2B5EF4-FFF2-40B4-BE49-F238E27FC236}">
                <a16:creationId xmlns:a16="http://schemas.microsoft.com/office/drawing/2014/main" id="{FC57EC2C-AA0B-ADD3-343B-E77974D2AAE3}"/>
              </a:ext>
            </a:extLst>
          </p:cNvPr>
          <p:cNvSpPr>
            <a:spLocks noGrp="1"/>
          </p:cNvSpPr>
          <p:nvPr>
            <p:ph type="title"/>
          </p:nvPr>
        </p:nvSpPr>
        <p:spPr>
          <a:xfrm>
            <a:off x="566927" y="1046568"/>
            <a:ext cx="10873011" cy="1307917"/>
          </a:xfrm>
        </p:spPr>
        <p:txBody>
          <a:bodyPr anchor="ctr">
            <a:noAutofit/>
          </a:bodyPr>
          <a:lstStyle/>
          <a:p>
            <a:pPr>
              <a:lnSpc>
                <a:spcPct val="100000"/>
              </a:lnSpc>
            </a:pPr>
            <a:r>
              <a:rPr lang="en-US" sz="3600" b="1" dirty="0">
                <a:latin typeface="Helvetica for Target" panose="020B0504020202020204" pitchFamily="34" charset="77"/>
                <a:ea typeface="Helvetica for Target" panose="020B0504020202020204" pitchFamily="34" charset="77"/>
              </a:rPr>
              <a:t>I can easily see all the necessary information I need to assess and prioritize my daily workload.</a:t>
            </a:r>
          </a:p>
        </p:txBody>
      </p:sp>
      <p:pic>
        <p:nvPicPr>
          <p:cNvPr id="5" name="Picture 4" descr="A graph with blue lines&#10;&#10;AI-generated content may be incorrect.">
            <a:extLst>
              <a:ext uri="{FF2B5EF4-FFF2-40B4-BE49-F238E27FC236}">
                <a16:creationId xmlns:a16="http://schemas.microsoft.com/office/drawing/2014/main" id="{33DD7D6A-1C16-D4F7-B09A-FE8311FE20B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6926" y="2354485"/>
            <a:ext cx="11282767" cy="3184924"/>
          </a:xfrm>
          <a:prstGeom prst="rect">
            <a:avLst/>
          </a:prstGeom>
        </p:spPr>
      </p:pic>
      <p:sp>
        <p:nvSpPr>
          <p:cNvPr id="6" name="Title 4">
            <a:extLst>
              <a:ext uri="{FF2B5EF4-FFF2-40B4-BE49-F238E27FC236}">
                <a16:creationId xmlns:a16="http://schemas.microsoft.com/office/drawing/2014/main" id="{50176713-36F1-D9EF-6CC9-1E89FC68B51F}"/>
              </a:ext>
            </a:extLst>
          </p:cNvPr>
          <p:cNvSpPr txBox="1">
            <a:spLocks/>
          </p:cNvSpPr>
          <p:nvPr/>
        </p:nvSpPr>
        <p:spPr>
          <a:xfrm>
            <a:off x="7765422" y="4079270"/>
            <a:ext cx="4084271" cy="130791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a:lnSpc>
                <a:spcPct val="100000"/>
              </a:lnSpc>
            </a:pPr>
            <a:r>
              <a:rPr lang="en-US" sz="1800" dirty="0">
                <a:latin typeface="Helvetica for Target" panose="020B0504020202020204" pitchFamily="34" charset="77"/>
                <a:ea typeface="Helvetica for Target" panose="020B0504020202020204" pitchFamily="34" charset="77"/>
              </a:rPr>
              <a:t>67% somewhat or strongly agree</a:t>
            </a:r>
          </a:p>
        </p:txBody>
      </p:sp>
      <p:sp>
        <p:nvSpPr>
          <p:cNvPr id="2" name="Title 4">
            <a:extLst>
              <a:ext uri="{FF2B5EF4-FFF2-40B4-BE49-F238E27FC236}">
                <a16:creationId xmlns:a16="http://schemas.microsoft.com/office/drawing/2014/main" id="{0F028B02-3AA7-74EA-DA9D-E774B7850968}"/>
              </a:ext>
            </a:extLst>
          </p:cNvPr>
          <p:cNvSpPr txBox="1">
            <a:spLocks/>
          </p:cNvSpPr>
          <p:nvPr/>
        </p:nvSpPr>
        <p:spPr>
          <a:xfrm>
            <a:off x="7765422" y="2619131"/>
            <a:ext cx="4084271" cy="130791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a:lnSpc>
                <a:spcPct val="100000"/>
              </a:lnSpc>
            </a:pPr>
            <a:r>
              <a:rPr lang="en-US" sz="1800" dirty="0">
                <a:latin typeface="Helvetica for Target" panose="020B0504020202020204" pitchFamily="34" charset="77"/>
                <a:ea typeface="Helvetica for Target" panose="020B0504020202020204" pitchFamily="34" charset="77"/>
              </a:rPr>
              <a:t>32% neutral or disagree</a:t>
            </a:r>
          </a:p>
        </p:txBody>
      </p:sp>
    </p:spTree>
    <p:extLst>
      <p:ext uri="{BB962C8B-B14F-4D97-AF65-F5344CB8AC3E}">
        <p14:creationId xmlns:p14="http://schemas.microsoft.com/office/powerpoint/2010/main" val="10077316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80D7F-1F32-AC6B-7A83-069B94A908E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9102FE3-16E5-15D2-3F8A-454DC5A9E18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217570" y="231035"/>
            <a:ext cx="938464" cy="645839"/>
          </a:xfrm>
          <a:prstGeom prst="rect">
            <a:avLst/>
          </a:prstGeom>
        </p:spPr>
      </p:pic>
      <p:sp>
        <p:nvSpPr>
          <p:cNvPr id="9" name="Title 4">
            <a:extLst>
              <a:ext uri="{FF2B5EF4-FFF2-40B4-BE49-F238E27FC236}">
                <a16:creationId xmlns:a16="http://schemas.microsoft.com/office/drawing/2014/main" id="{3F0BB4B1-3926-9C90-E4ED-132A0E6F3B8F}"/>
              </a:ext>
            </a:extLst>
          </p:cNvPr>
          <p:cNvSpPr>
            <a:spLocks noGrp="1"/>
          </p:cNvSpPr>
          <p:nvPr>
            <p:ph type="title"/>
          </p:nvPr>
        </p:nvSpPr>
        <p:spPr>
          <a:xfrm>
            <a:off x="566927" y="1046568"/>
            <a:ext cx="10873011" cy="1307917"/>
          </a:xfrm>
        </p:spPr>
        <p:txBody>
          <a:bodyPr anchor="ctr">
            <a:noAutofit/>
          </a:bodyPr>
          <a:lstStyle/>
          <a:p>
            <a:pPr>
              <a:lnSpc>
                <a:spcPct val="100000"/>
              </a:lnSpc>
            </a:pPr>
            <a:r>
              <a:rPr lang="en-US" sz="3600" b="1" dirty="0">
                <a:latin typeface="Helvetica for Target" panose="020B0504020202020204" pitchFamily="34" charset="77"/>
                <a:ea typeface="Helvetica for Target" panose="020B0504020202020204" pitchFamily="34" charset="77"/>
              </a:rPr>
              <a:t>I am confident in the decisions I make when assessing and prioritizing daily workload.</a:t>
            </a:r>
          </a:p>
        </p:txBody>
      </p:sp>
      <p:pic>
        <p:nvPicPr>
          <p:cNvPr id="4" name="Picture 3" descr="A blue line with white background&#10;&#10;AI-generated content may be incorrect.">
            <a:extLst>
              <a:ext uri="{FF2B5EF4-FFF2-40B4-BE49-F238E27FC236}">
                <a16:creationId xmlns:a16="http://schemas.microsoft.com/office/drawing/2014/main" id="{88E608A3-4B57-A31C-477B-ABE9C829B5B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575" y="2585648"/>
            <a:ext cx="11107343" cy="3225784"/>
          </a:xfrm>
          <a:prstGeom prst="rect">
            <a:avLst/>
          </a:prstGeom>
        </p:spPr>
      </p:pic>
      <p:sp>
        <p:nvSpPr>
          <p:cNvPr id="6" name="Title 4">
            <a:extLst>
              <a:ext uri="{FF2B5EF4-FFF2-40B4-BE49-F238E27FC236}">
                <a16:creationId xmlns:a16="http://schemas.microsoft.com/office/drawing/2014/main" id="{C731DBCB-EDE2-4778-E1F0-6409E4A239F7}"/>
              </a:ext>
            </a:extLst>
          </p:cNvPr>
          <p:cNvSpPr txBox="1">
            <a:spLocks/>
          </p:cNvSpPr>
          <p:nvPr/>
        </p:nvSpPr>
        <p:spPr>
          <a:xfrm>
            <a:off x="8107729" y="4198540"/>
            <a:ext cx="10873011" cy="130791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a:lnSpc>
                <a:spcPct val="100000"/>
              </a:lnSpc>
            </a:pPr>
            <a:r>
              <a:rPr lang="en-US" sz="1800" dirty="0">
                <a:latin typeface="Helvetica for Target" panose="020B0504020202020204" pitchFamily="34" charset="77"/>
                <a:ea typeface="Helvetica for Target" panose="020B0504020202020204" pitchFamily="34" charset="77"/>
              </a:rPr>
              <a:t>92% somewhat or strongly agree</a:t>
            </a:r>
          </a:p>
        </p:txBody>
      </p:sp>
      <p:sp>
        <p:nvSpPr>
          <p:cNvPr id="2" name="Title 4">
            <a:extLst>
              <a:ext uri="{FF2B5EF4-FFF2-40B4-BE49-F238E27FC236}">
                <a16:creationId xmlns:a16="http://schemas.microsoft.com/office/drawing/2014/main" id="{2254057B-7C80-A8EA-BDBA-41E38D6F467E}"/>
              </a:ext>
            </a:extLst>
          </p:cNvPr>
          <p:cNvSpPr txBox="1">
            <a:spLocks/>
          </p:cNvSpPr>
          <p:nvPr/>
        </p:nvSpPr>
        <p:spPr>
          <a:xfrm>
            <a:off x="2415920" y="2890623"/>
            <a:ext cx="10873011" cy="130791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a:lnSpc>
                <a:spcPct val="100000"/>
              </a:lnSpc>
            </a:pPr>
            <a:r>
              <a:rPr lang="en-US" sz="1800" dirty="0">
                <a:latin typeface="Helvetica for Target" panose="020B0504020202020204" pitchFamily="34" charset="77"/>
                <a:ea typeface="Helvetica for Target" panose="020B0504020202020204" pitchFamily="34" charset="77"/>
              </a:rPr>
              <a:t>9% neutral or disagree</a:t>
            </a:r>
          </a:p>
        </p:txBody>
      </p:sp>
    </p:spTree>
    <p:extLst>
      <p:ext uri="{BB962C8B-B14F-4D97-AF65-F5344CB8AC3E}">
        <p14:creationId xmlns:p14="http://schemas.microsoft.com/office/powerpoint/2010/main" val="18014097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ounded Rectangle">
            <a:extLst>
              <a:ext uri="{FF2B5EF4-FFF2-40B4-BE49-F238E27FC236}">
                <a16:creationId xmlns:a16="http://schemas.microsoft.com/office/drawing/2014/main" id="{2A09E6CF-9B87-8788-F3BD-08E613167256}"/>
              </a:ext>
              <a:ext uri="{C183D7F6-B498-43B3-948B-1728B52AA6E4}">
                <adec:decorative xmlns:adec="http://schemas.microsoft.com/office/drawing/2017/decorative" val="1"/>
              </a:ext>
            </a:extLst>
          </p:cNvPr>
          <p:cNvSpPr/>
          <p:nvPr/>
        </p:nvSpPr>
        <p:spPr>
          <a:xfrm>
            <a:off x="689619" y="2280308"/>
            <a:ext cx="4738166" cy="1977026"/>
          </a:xfrm>
          <a:prstGeom prst="roundRect">
            <a:avLst>
              <a:gd name="adj" fmla="val 2832"/>
            </a:avLst>
          </a:prstGeom>
          <a:solidFill>
            <a:schemeClr val="bg1">
              <a:lumMod val="95000"/>
            </a:schemeClr>
          </a:solidFill>
          <a:ln w="12700">
            <a:miter lim="400000"/>
          </a:ln>
        </p:spPr>
        <p:txBody>
          <a:bodyPr lIns="0" tIns="0" rIns="0" bIns="0" anchor="ctr"/>
          <a:lstStyle/>
          <a:p>
            <a:pPr algn="ctr">
              <a:defRPr b="0" spc="0">
                <a:solidFill>
                  <a:srgbClr val="FFFFFF"/>
                </a:solidFill>
                <a:latin typeface="Helvetica Neue Medium"/>
                <a:ea typeface="Helvetica Neue Medium"/>
                <a:cs typeface="Helvetica Neue Medium"/>
                <a:sym typeface="Helvetica Neue Medium"/>
              </a:defRPr>
            </a:pPr>
            <a:endParaRPr sz="800"/>
          </a:p>
        </p:txBody>
      </p:sp>
      <p:pic>
        <p:nvPicPr>
          <p:cNvPr id="4" name="Picture 3">
            <a:extLst>
              <a:ext uri="{FF2B5EF4-FFF2-40B4-BE49-F238E27FC236}">
                <a16:creationId xmlns:a16="http://schemas.microsoft.com/office/drawing/2014/main" id="{FD64ED91-F047-FD20-885A-3F05F73CAB86}"/>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217570" y="231035"/>
            <a:ext cx="938464" cy="645839"/>
          </a:xfrm>
          <a:prstGeom prst="rect">
            <a:avLst/>
          </a:prstGeom>
        </p:spPr>
      </p:pic>
      <p:sp>
        <p:nvSpPr>
          <p:cNvPr id="14" name="Joined in past 3 months…">
            <a:extLst>
              <a:ext uri="{FF2B5EF4-FFF2-40B4-BE49-F238E27FC236}">
                <a16:creationId xmlns:a16="http://schemas.microsoft.com/office/drawing/2014/main" id="{C495063B-3A10-C5B0-9317-FB2E694FC5B3}"/>
              </a:ext>
            </a:extLst>
          </p:cNvPr>
          <p:cNvSpPr txBox="1"/>
          <p:nvPr/>
        </p:nvSpPr>
        <p:spPr>
          <a:xfrm>
            <a:off x="881323" y="2429099"/>
            <a:ext cx="4546461" cy="42062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nchor="t">
            <a:spAutoFit/>
          </a:bodyPr>
          <a:lstStyle/>
          <a:p>
            <a:pPr>
              <a:spcBef>
                <a:spcPts val="2250"/>
              </a:spcBef>
              <a:defRPr sz="2800" b="0" spc="0">
                <a:solidFill>
                  <a:srgbClr val="000000"/>
                </a:solidFill>
              </a:defRPr>
            </a:pPr>
            <a:r>
              <a:rPr lang="en-US" sz="2400" b="1">
                <a:solidFill>
                  <a:schemeClr val="accent3"/>
                </a:solidFill>
                <a:latin typeface="Helvetica for Target"/>
              </a:rPr>
              <a:t>Working with Incomplete Data</a:t>
            </a:r>
            <a:endParaRPr lang="en-US" sz="2400">
              <a:solidFill>
                <a:schemeClr val="accent3"/>
              </a:solidFill>
              <a:latin typeface="Helvetica for Target"/>
            </a:endParaRPr>
          </a:p>
        </p:txBody>
      </p:sp>
      <p:sp>
        <p:nvSpPr>
          <p:cNvPr id="2" name="TextBox 1">
            <a:extLst>
              <a:ext uri="{FF2B5EF4-FFF2-40B4-BE49-F238E27FC236}">
                <a16:creationId xmlns:a16="http://schemas.microsoft.com/office/drawing/2014/main" id="{6CA08833-7079-08AD-3837-C65BB50C1E17}"/>
              </a:ext>
            </a:extLst>
          </p:cNvPr>
          <p:cNvSpPr txBox="1"/>
          <p:nvPr/>
        </p:nvSpPr>
        <p:spPr>
          <a:xfrm>
            <a:off x="842283" y="2876239"/>
            <a:ext cx="4447423"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latin typeface="Helvetica for Target" panose="020B0504020202020204" pitchFamily="34" charset="77"/>
                <a:ea typeface="Helvetica for Target" panose="020B0504020202020204" pitchFamily="34" charset="77"/>
              </a:rPr>
              <a:t>Is challenging when making workload decisions because of inconsistent data, lack of data for critical processes like truck deliveries, and data that’s not available in time to make informed decisions.</a:t>
            </a:r>
            <a:endParaRPr lang="en-US" sz="1400" dirty="0">
              <a:latin typeface="Helvetica for Target"/>
              <a:cs typeface="Calibri"/>
            </a:endParaRPr>
          </a:p>
        </p:txBody>
      </p:sp>
      <p:sp>
        <p:nvSpPr>
          <p:cNvPr id="22" name="Title 4">
            <a:extLst>
              <a:ext uri="{FF2B5EF4-FFF2-40B4-BE49-F238E27FC236}">
                <a16:creationId xmlns:a16="http://schemas.microsoft.com/office/drawing/2014/main" id="{F6FDB374-2D05-D642-5264-EFF4F8E46BD5}"/>
              </a:ext>
            </a:extLst>
          </p:cNvPr>
          <p:cNvSpPr>
            <a:spLocks noGrp="1"/>
          </p:cNvSpPr>
          <p:nvPr>
            <p:ph type="title"/>
          </p:nvPr>
        </p:nvSpPr>
        <p:spPr>
          <a:xfrm>
            <a:off x="566928" y="1046568"/>
            <a:ext cx="10094976" cy="1307917"/>
          </a:xfrm>
        </p:spPr>
        <p:txBody>
          <a:bodyPr>
            <a:normAutofit/>
          </a:bodyPr>
          <a:lstStyle/>
          <a:p>
            <a:r>
              <a:rPr lang="en-US" sz="3600" b="1" dirty="0">
                <a:latin typeface="Helvetica for Target" panose="020B0504020202020204" pitchFamily="34" charset="77"/>
                <a:ea typeface="Helvetica for Target" panose="020B0504020202020204" pitchFamily="34" charset="77"/>
              </a:rPr>
              <a:t>What else, if anything, would you like to share with us about daily workload planning?</a:t>
            </a:r>
          </a:p>
        </p:txBody>
      </p:sp>
      <p:sp>
        <p:nvSpPr>
          <p:cNvPr id="26" name="Rounded Rectangle">
            <a:extLst>
              <a:ext uri="{FF2B5EF4-FFF2-40B4-BE49-F238E27FC236}">
                <a16:creationId xmlns:a16="http://schemas.microsoft.com/office/drawing/2014/main" id="{A242813C-EE7B-50D5-9F30-20A8964E39D5}"/>
              </a:ext>
              <a:ext uri="{C183D7F6-B498-43B3-948B-1728B52AA6E4}">
                <adec:decorative xmlns:adec="http://schemas.microsoft.com/office/drawing/2017/decorative" val="1"/>
              </a:ext>
            </a:extLst>
          </p:cNvPr>
          <p:cNvSpPr/>
          <p:nvPr/>
        </p:nvSpPr>
        <p:spPr>
          <a:xfrm>
            <a:off x="689619" y="4502561"/>
            <a:ext cx="4738166" cy="1977026"/>
          </a:xfrm>
          <a:prstGeom prst="roundRect">
            <a:avLst>
              <a:gd name="adj" fmla="val 2832"/>
            </a:avLst>
          </a:prstGeom>
          <a:solidFill>
            <a:schemeClr val="bg1">
              <a:lumMod val="95000"/>
            </a:schemeClr>
          </a:solidFill>
          <a:ln w="12700">
            <a:miter lim="400000"/>
          </a:ln>
        </p:spPr>
        <p:txBody>
          <a:bodyPr lIns="0" tIns="0" rIns="0" bIns="0" anchor="ctr"/>
          <a:lstStyle/>
          <a:p>
            <a:pPr algn="ctr">
              <a:defRPr b="0" spc="0">
                <a:solidFill>
                  <a:srgbClr val="FFFFFF"/>
                </a:solidFill>
                <a:latin typeface="Helvetica Neue Medium"/>
                <a:ea typeface="Helvetica Neue Medium"/>
                <a:cs typeface="Helvetica Neue Medium"/>
                <a:sym typeface="Helvetica Neue Medium"/>
              </a:defRPr>
            </a:pPr>
            <a:endParaRPr sz="800"/>
          </a:p>
        </p:txBody>
      </p:sp>
      <p:sp>
        <p:nvSpPr>
          <p:cNvPr id="27" name="Joined in past 3 months…">
            <a:extLst>
              <a:ext uri="{FF2B5EF4-FFF2-40B4-BE49-F238E27FC236}">
                <a16:creationId xmlns:a16="http://schemas.microsoft.com/office/drawing/2014/main" id="{44C52E7C-3A07-6AB4-E973-38941B3A0F88}"/>
              </a:ext>
            </a:extLst>
          </p:cNvPr>
          <p:cNvSpPr txBox="1"/>
          <p:nvPr/>
        </p:nvSpPr>
        <p:spPr>
          <a:xfrm>
            <a:off x="881324" y="4651352"/>
            <a:ext cx="4443030" cy="42062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nchor="t">
            <a:spAutoFit/>
          </a:bodyPr>
          <a:lstStyle/>
          <a:p>
            <a:pPr>
              <a:spcBef>
                <a:spcPts val="2250"/>
              </a:spcBef>
              <a:defRPr sz="2800" b="0" spc="0">
                <a:solidFill>
                  <a:srgbClr val="000000"/>
                </a:solidFill>
              </a:defRPr>
            </a:pPr>
            <a:r>
              <a:rPr lang="en-US" sz="2400" b="1">
                <a:solidFill>
                  <a:schemeClr val="accent3"/>
                </a:solidFill>
                <a:latin typeface="Helvetica for Target"/>
              </a:rPr>
              <a:t>Time Management</a:t>
            </a:r>
            <a:endParaRPr lang="en-US" sz="2400">
              <a:solidFill>
                <a:schemeClr val="accent3"/>
              </a:solidFill>
              <a:latin typeface="Helvetica for Target"/>
            </a:endParaRPr>
          </a:p>
        </p:txBody>
      </p:sp>
      <p:sp>
        <p:nvSpPr>
          <p:cNvPr id="28" name="TextBox 27">
            <a:extLst>
              <a:ext uri="{FF2B5EF4-FFF2-40B4-BE49-F238E27FC236}">
                <a16:creationId xmlns:a16="http://schemas.microsoft.com/office/drawing/2014/main" id="{30D4F611-1722-CE69-203A-6BB65C78D5D4}"/>
              </a:ext>
            </a:extLst>
          </p:cNvPr>
          <p:cNvSpPr txBox="1"/>
          <p:nvPr/>
        </p:nvSpPr>
        <p:spPr>
          <a:xfrm>
            <a:off x="842283" y="5098492"/>
            <a:ext cx="4585501"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latin typeface="Helvetica for Target"/>
                <a:cs typeface="Calibri"/>
              </a:rPr>
              <a:t>Is challenging as a leader, and daily workload planning is a clear example when leaders want to take the time to make strong, data-informed decisions but are being pulled in many directions. It is challenging to lead at the right level when there is not enough time to get a full picture of the daily workload.</a:t>
            </a:r>
          </a:p>
        </p:txBody>
      </p:sp>
      <p:sp>
        <p:nvSpPr>
          <p:cNvPr id="29" name="Rounded Rectangle">
            <a:extLst>
              <a:ext uri="{FF2B5EF4-FFF2-40B4-BE49-F238E27FC236}">
                <a16:creationId xmlns:a16="http://schemas.microsoft.com/office/drawing/2014/main" id="{7C505A5A-C58A-358D-58C1-1E6F3680DF3E}"/>
              </a:ext>
              <a:ext uri="{C183D7F6-B498-43B3-948B-1728B52AA6E4}">
                <adec:decorative xmlns:adec="http://schemas.microsoft.com/office/drawing/2017/decorative" val="1"/>
              </a:ext>
            </a:extLst>
          </p:cNvPr>
          <p:cNvSpPr/>
          <p:nvPr/>
        </p:nvSpPr>
        <p:spPr>
          <a:xfrm>
            <a:off x="5675760" y="2280308"/>
            <a:ext cx="5949311" cy="1977026"/>
          </a:xfrm>
          <a:prstGeom prst="roundRect">
            <a:avLst>
              <a:gd name="adj" fmla="val 2832"/>
            </a:avLst>
          </a:prstGeom>
          <a:solidFill>
            <a:schemeClr val="bg1">
              <a:lumMod val="95000"/>
            </a:schemeClr>
          </a:solidFill>
          <a:ln w="12700">
            <a:miter lim="400000"/>
          </a:ln>
        </p:spPr>
        <p:txBody>
          <a:bodyPr lIns="0" tIns="0" rIns="0" bIns="0" anchor="ctr"/>
          <a:lstStyle/>
          <a:p>
            <a:pPr algn="ctr">
              <a:defRPr b="0" spc="0">
                <a:solidFill>
                  <a:srgbClr val="FFFFFF"/>
                </a:solidFill>
                <a:latin typeface="Helvetica Neue Medium"/>
                <a:ea typeface="Helvetica Neue Medium"/>
                <a:cs typeface="Helvetica Neue Medium"/>
                <a:sym typeface="Helvetica Neue Medium"/>
              </a:defRPr>
            </a:pPr>
            <a:endParaRPr sz="800"/>
          </a:p>
        </p:txBody>
      </p:sp>
      <p:sp>
        <p:nvSpPr>
          <p:cNvPr id="30" name="Joined in past 3 months…">
            <a:extLst>
              <a:ext uri="{FF2B5EF4-FFF2-40B4-BE49-F238E27FC236}">
                <a16:creationId xmlns:a16="http://schemas.microsoft.com/office/drawing/2014/main" id="{FF834E11-B57F-94A6-87BD-0A08A3730B27}"/>
              </a:ext>
            </a:extLst>
          </p:cNvPr>
          <p:cNvSpPr txBox="1"/>
          <p:nvPr/>
        </p:nvSpPr>
        <p:spPr>
          <a:xfrm>
            <a:off x="5867465" y="2429099"/>
            <a:ext cx="5634915" cy="42062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nchor="t">
            <a:spAutoFit/>
          </a:bodyPr>
          <a:lstStyle/>
          <a:p>
            <a:pPr>
              <a:spcBef>
                <a:spcPts val="2250"/>
              </a:spcBef>
              <a:defRPr sz="2800" b="0" spc="0">
                <a:solidFill>
                  <a:srgbClr val="000000"/>
                </a:solidFill>
              </a:defRPr>
            </a:pPr>
            <a:r>
              <a:rPr lang="en-US" sz="2400" b="1">
                <a:solidFill>
                  <a:schemeClr val="accent3"/>
                </a:solidFill>
                <a:latin typeface="Helvetica for Target"/>
              </a:rPr>
              <a:t>Navigating Too Many Tools</a:t>
            </a:r>
            <a:endParaRPr lang="en-US" sz="2400">
              <a:solidFill>
                <a:schemeClr val="accent3"/>
              </a:solidFill>
              <a:latin typeface="Helvetica for Target"/>
            </a:endParaRPr>
          </a:p>
        </p:txBody>
      </p:sp>
      <p:sp>
        <p:nvSpPr>
          <p:cNvPr id="31" name="TextBox 30">
            <a:extLst>
              <a:ext uri="{FF2B5EF4-FFF2-40B4-BE49-F238E27FC236}">
                <a16:creationId xmlns:a16="http://schemas.microsoft.com/office/drawing/2014/main" id="{A54D374E-E23C-8BFE-B449-D6585D4B7B5F}"/>
              </a:ext>
            </a:extLst>
          </p:cNvPr>
          <p:cNvSpPr txBox="1"/>
          <p:nvPr/>
        </p:nvSpPr>
        <p:spPr>
          <a:xfrm>
            <a:off x="5828426" y="2876239"/>
            <a:ext cx="5634915" cy="11695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latin typeface="Helvetica for Target"/>
                <a:cs typeface="Calibri"/>
              </a:rPr>
              <a:t>As a leader is not only overwhelming but also takes extra time</a:t>
            </a:r>
            <a:r>
              <a:rPr lang="en-US" sz="1400" dirty="0">
                <a:latin typeface="Helvetica for Target" panose="020B0504020202020204" pitchFamily="34" charset="77"/>
                <a:ea typeface="Helvetica for Target" panose="020B0504020202020204" pitchFamily="34" charset="77"/>
              </a:rPr>
              <a:t> to log-in to separate tools, synthesize all the different data streams, and teach new leaders how to use all the tools. Leaders specifically expressed a desire for a centralized report of all the necessary data and priorities needed for daily workload planning.</a:t>
            </a:r>
            <a:endParaRPr lang="en-US" sz="1400" dirty="0">
              <a:latin typeface="Helvetica for Target"/>
              <a:cs typeface="Calibri"/>
            </a:endParaRPr>
          </a:p>
        </p:txBody>
      </p:sp>
      <p:sp>
        <p:nvSpPr>
          <p:cNvPr id="32" name="Rounded Rectangle">
            <a:extLst>
              <a:ext uri="{FF2B5EF4-FFF2-40B4-BE49-F238E27FC236}">
                <a16:creationId xmlns:a16="http://schemas.microsoft.com/office/drawing/2014/main" id="{22976429-1A13-5D1A-6BC3-2E607F81AD4D}"/>
              </a:ext>
              <a:ext uri="{C183D7F6-B498-43B3-948B-1728B52AA6E4}">
                <adec:decorative xmlns:adec="http://schemas.microsoft.com/office/drawing/2017/decorative" val="1"/>
              </a:ext>
            </a:extLst>
          </p:cNvPr>
          <p:cNvSpPr/>
          <p:nvPr/>
        </p:nvSpPr>
        <p:spPr>
          <a:xfrm>
            <a:off x="5675761" y="4502561"/>
            <a:ext cx="5949310" cy="1977026"/>
          </a:xfrm>
          <a:prstGeom prst="roundRect">
            <a:avLst>
              <a:gd name="adj" fmla="val 2832"/>
            </a:avLst>
          </a:prstGeom>
          <a:solidFill>
            <a:schemeClr val="bg1">
              <a:lumMod val="95000"/>
            </a:schemeClr>
          </a:solidFill>
          <a:ln w="12700">
            <a:miter lim="400000"/>
          </a:ln>
        </p:spPr>
        <p:txBody>
          <a:bodyPr lIns="0" tIns="0" rIns="0" bIns="0" anchor="ctr"/>
          <a:lstStyle/>
          <a:p>
            <a:pPr algn="ctr">
              <a:defRPr b="0" spc="0">
                <a:solidFill>
                  <a:srgbClr val="FFFFFF"/>
                </a:solidFill>
                <a:latin typeface="Helvetica Neue Medium"/>
                <a:ea typeface="Helvetica Neue Medium"/>
                <a:cs typeface="Helvetica Neue Medium"/>
                <a:sym typeface="Helvetica Neue Medium"/>
              </a:defRPr>
            </a:pPr>
            <a:endParaRPr sz="800"/>
          </a:p>
        </p:txBody>
      </p:sp>
      <p:sp>
        <p:nvSpPr>
          <p:cNvPr id="33" name="Joined in past 3 months…">
            <a:extLst>
              <a:ext uri="{FF2B5EF4-FFF2-40B4-BE49-F238E27FC236}">
                <a16:creationId xmlns:a16="http://schemas.microsoft.com/office/drawing/2014/main" id="{217E1B00-472A-C899-FF97-6B6CD391E3D5}"/>
              </a:ext>
            </a:extLst>
          </p:cNvPr>
          <p:cNvSpPr txBox="1"/>
          <p:nvPr/>
        </p:nvSpPr>
        <p:spPr>
          <a:xfrm>
            <a:off x="5867466" y="4651352"/>
            <a:ext cx="5634914" cy="42062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5400" tIns="25400" rIns="25400" bIns="25400" anchor="t">
            <a:spAutoFit/>
          </a:bodyPr>
          <a:lstStyle/>
          <a:p>
            <a:pPr>
              <a:spcBef>
                <a:spcPts val="2250"/>
              </a:spcBef>
              <a:defRPr sz="2800" b="0" spc="0">
                <a:solidFill>
                  <a:srgbClr val="000000"/>
                </a:solidFill>
              </a:defRPr>
            </a:pPr>
            <a:r>
              <a:rPr lang="en-US" sz="2400" b="1">
                <a:solidFill>
                  <a:schemeClr val="accent3"/>
                </a:solidFill>
                <a:latin typeface="Helvetica for Target"/>
              </a:rPr>
              <a:t>Device Inconsistencies</a:t>
            </a:r>
            <a:endParaRPr lang="en-US" sz="2400">
              <a:solidFill>
                <a:schemeClr val="accent3"/>
              </a:solidFill>
              <a:latin typeface="Helvetica for Target"/>
            </a:endParaRPr>
          </a:p>
        </p:txBody>
      </p:sp>
      <p:sp>
        <p:nvSpPr>
          <p:cNvPr id="34" name="TextBox 33">
            <a:extLst>
              <a:ext uri="{FF2B5EF4-FFF2-40B4-BE49-F238E27FC236}">
                <a16:creationId xmlns:a16="http://schemas.microsoft.com/office/drawing/2014/main" id="{65F6722B-634D-B5B6-538B-97A217844757}"/>
              </a:ext>
            </a:extLst>
          </p:cNvPr>
          <p:cNvSpPr txBox="1"/>
          <p:nvPr/>
        </p:nvSpPr>
        <p:spPr>
          <a:xfrm>
            <a:off x="5828425" y="5098492"/>
            <a:ext cx="5787581"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latin typeface="Helvetica for Target"/>
                <a:cs typeface="Calibri"/>
              </a:rPr>
              <a:t>Are another frustrating aspect of the current experience as leaders navigate dashboards on a computer (if they have access to one), data available on their </a:t>
            </a:r>
            <a:r>
              <a:rPr lang="en-US" sz="1400" dirty="0" err="1">
                <a:latin typeface="Helvetica for Target"/>
                <a:cs typeface="Calibri"/>
              </a:rPr>
              <a:t>myDevice</a:t>
            </a:r>
            <a:r>
              <a:rPr lang="en-US" sz="1400" dirty="0">
                <a:latin typeface="Helvetica for Target"/>
                <a:cs typeface="Calibri"/>
              </a:rPr>
              <a:t>, notes and spreadsheets from other leaders, and daily paper assignment sheets. It is especially challenging to make informed decisions and communicate those changes throughout the day given the current devices used.</a:t>
            </a:r>
          </a:p>
        </p:txBody>
      </p:sp>
      <p:sp>
        <p:nvSpPr>
          <p:cNvPr id="3" name="TextBox 2">
            <a:extLst>
              <a:ext uri="{FF2B5EF4-FFF2-40B4-BE49-F238E27FC236}">
                <a16:creationId xmlns:a16="http://schemas.microsoft.com/office/drawing/2014/main" id="{F8E4BAE0-868A-79EA-53D7-2FB0E4B07C9F}"/>
              </a:ext>
            </a:extLst>
          </p:cNvPr>
          <p:cNvSpPr txBox="1"/>
          <p:nvPr/>
        </p:nvSpPr>
        <p:spPr>
          <a:xfrm>
            <a:off x="4166886" y="3960972"/>
            <a:ext cx="1260898"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100" dirty="0">
                <a:latin typeface="Helvetica for Target"/>
                <a:cs typeface="Calibri"/>
              </a:rPr>
              <a:t>73 mentions</a:t>
            </a:r>
          </a:p>
        </p:txBody>
      </p:sp>
      <p:sp>
        <p:nvSpPr>
          <p:cNvPr id="5" name="TextBox 4">
            <a:extLst>
              <a:ext uri="{FF2B5EF4-FFF2-40B4-BE49-F238E27FC236}">
                <a16:creationId xmlns:a16="http://schemas.microsoft.com/office/drawing/2014/main" id="{76F9E643-28DB-541C-AF52-77E60694C2D2}"/>
              </a:ext>
            </a:extLst>
          </p:cNvPr>
          <p:cNvSpPr txBox="1"/>
          <p:nvPr/>
        </p:nvSpPr>
        <p:spPr>
          <a:xfrm>
            <a:off x="10355109" y="3987533"/>
            <a:ext cx="1260898"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100" dirty="0">
                <a:latin typeface="Helvetica for Target"/>
                <a:cs typeface="Calibri"/>
              </a:rPr>
              <a:t>45 mentions</a:t>
            </a:r>
          </a:p>
        </p:txBody>
      </p:sp>
      <p:sp>
        <p:nvSpPr>
          <p:cNvPr id="6" name="TextBox 5">
            <a:extLst>
              <a:ext uri="{FF2B5EF4-FFF2-40B4-BE49-F238E27FC236}">
                <a16:creationId xmlns:a16="http://schemas.microsoft.com/office/drawing/2014/main" id="{7B248FA6-6FA2-E9A4-6B8F-9336C4D3F40F}"/>
              </a:ext>
            </a:extLst>
          </p:cNvPr>
          <p:cNvSpPr txBox="1"/>
          <p:nvPr/>
        </p:nvSpPr>
        <p:spPr>
          <a:xfrm>
            <a:off x="4166886" y="6219927"/>
            <a:ext cx="1260898"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100" dirty="0">
                <a:latin typeface="Helvetica for Target"/>
                <a:cs typeface="Calibri"/>
              </a:rPr>
              <a:t>39 mentions</a:t>
            </a:r>
          </a:p>
        </p:txBody>
      </p:sp>
      <p:sp>
        <p:nvSpPr>
          <p:cNvPr id="7" name="TextBox 6">
            <a:extLst>
              <a:ext uri="{FF2B5EF4-FFF2-40B4-BE49-F238E27FC236}">
                <a16:creationId xmlns:a16="http://schemas.microsoft.com/office/drawing/2014/main" id="{0AD124A5-799C-C002-1515-8E867A30DCDA}"/>
              </a:ext>
            </a:extLst>
          </p:cNvPr>
          <p:cNvSpPr txBox="1"/>
          <p:nvPr/>
        </p:nvSpPr>
        <p:spPr>
          <a:xfrm>
            <a:off x="10355108" y="6217977"/>
            <a:ext cx="1260898"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100" dirty="0">
                <a:latin typeface="Helvetica for Target"/>
                <a:cs typeface="Calibri"/>
              </a:rPr>
              <a:t>27 mentions</a:t>
            </a:r>
          </a:p>
        </p:txBody>
      </p:sp>
    </p:spTree>
    <p:extLst>
      <p:ext uri="{BB962C8B-B14F-4D97-AF65-F5344CB8AC3E}">
        <p14:creationId xmlns:p14="http://schemas.microsoft.com/office/powerpoint/2010/main" val="3306446076"/>
      </p:ext>
    </p:extLst>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C31D8B-65B5-9B89-B678-2EF822C346C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7374B27-5201-6B16-E5D2-4C387D6673D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217570" y="231035"/>
            <a:ext cx="938464" cy="645839"/>
          </a:xfrm>
          <a:prstGeom prst="rect">
            <a:avLst/>
          </a:prstGeom>
        </p:spPr>
      </p:pic>
      <p:sp>
        <p:nvSpPr>
          <p:cNvPr id="9" name="Title 4">
            <a:extLst>
              <a:ext uri="{FF2B5EF4-FFF2-40B4-BE49-F238E27FC236}">
                <a16:creationId xmlns:a16="http://schemas.microsoft.com/office/drawing/2014/main" id="{C99D6C86-E8C6-26B2-E677-442E655394B9}"/>
              </a:ext>
            </a:extLst>
          </p:cNvPr>
          <p:cNvSpPr>
            <a:spLocks noGrp="1"/>
          </p:cNvSpPr>
          <p:nvPr>
            <p:ph type="title"/>
          </p:nvPr>
        </p:nvSpPr>
        <p:spPr>
          <a:xfrm>
            <a:off x="566927" y="1046568"/>
            <a:ext cx="10873011" cy="1307917"/>
          </a:xfrm>
        </p:spPr>
        <p:txBody>
          <a:bodyPr anchor="ctr">
            <a:noAutofit/>
          </a:bodyPr>
          <a:lstStyle/>
          <a:p>
            <a:pPr>
              <a:lnSpc>
                <a:spcPct val="100000"/>
              </a:lnSpc>
            </a:pPr>
            <a:r>
              <a:rPr lang="en-US" sz="3600" b="1" dirty="0">
                <a:latin typeface="Helvetica for Target" panose="020B0504020202020204" pitchFamily="34" charset="77"/>
                <a:ea typeface="Helvetica for Target" panose="020B0504020202020204" pitchFamily="34" charset="77"/>
              </a:rPr>
              <a:t>Working with Incomplete Data</a:t>
            </a:r>
          </a:p>
        </p:txBody>
      </p:sp>
      <p:sp>
        <p:nvSpPr>
          <p:cNvPr id="2" name="Title 4">
            <a:extLst>
              <a:ext uri="{FF2B5EF4-FFF2-40B4-BE49-F238E27FC236}">
                <a16:creationId xmlns:a16="http://schemas.microsoft.com/office/drawing/2014/main" id="{DEA6E3A6-E585-E8C0-999E-DBA1CAE42C57}"/>
              </a:ext>
            </a:extLst>
          </p:cNvPr>
          <p:cNvSpPr txBox="1">
            <a:spLocks/>
          </p:cNvSpPr>
          <p:nvPr/>
        </p:nvSpPr>
        <p:spPr>
          <a:xfrm>
            <a:off x="566927" y="3009419"/>
            <a:ext cx="10873011" cy="361754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a:lnSpc>
                <a:spcPct val="100000"/>
              </a:lnSpc>
            </a:pPr>
            <a:r>
              <a:rPr lang="en-US" sz="1600" b="0" i="0" dirty="0">
                <a:solidFill>
                  <a:srgbClr val="000000"/>
                </a:solidFill>
                <a:effectLst/>
                <a:latin typeface="Helvetica for Target" panose="020B0504020202020204" pitchFamily="34" charset="77"/>
                <a:ea typeface="Helvetica for Target" panose="020B0504020202020204" pitchFamily="34" charset="77"/>
              </a:rPr>
              <a:t>“Numbers don</a:t>
            </a:r>
            <a:r>
              <a:rPr lang="en-US" sz="1600" dirty="0">
                <a:solidFill>
                  <a:srgbClr val="000000"/>
                </a:solidFill>
                <a:latin typeface="Helvetica for Target" panose="020B0504020202020204" pitchFamily="34" charset="77"/>
                <a:ea typeface="Helvetica for Target" panose="020B0504020202020204" pitchFamily="34" charset="77"/>
              </a:rPr>
              <a:t>’</a:t>
            </a:r>
            <a:r>
              <a:rPr lang="en-US" sz="1600" b="0" i="0" dirty="0">
                <a:solidFill>
                  <a:srgbClr val="000000"/>
                </a:solidFill>
                <a:effectLst/>
                <a:latin typeface="Helvetica for Target" panose="020B0504020202020204" pitchFamily="34" charset="77"/>
                <a:ea typeface="Helvetica for Target" panose="020B0504020202020204" pitchFamily="34" charset="77"/>
              </a:rPr>
              <a:t>t match from greenfield and MPM, hard to tell my team (and myself) which one to use. Pricing forecasts are not accurate for all stores, hard to plan. MPM should match greenfield better with titles and grouping of reporting. Everything should be in a one stop shop. Health dashboard is good but could be better, have more on there or links to the side for digging further. Doesn</a:t>
            </a:r>
            <a:r>
              <a:rPr lang="en-US" sz="1600" dirty="0">
                <a:solidFill>
                  <a:srgbClr val="000000"/>
                </a:solidFill>
                <a:latin typeface="Helvetica for Target" panose="020B0504020202020204" pitchFamily="34" charset="77"/>
                <a:ea typeface="Helvetica for Target" panose="020B0504020202020204" pitchFamily="34" charset="77"/>
              </a:rPr>
              <a:t>’</a:t>
            </a:r>
            <a:r>
              <a:rPr lang="en-US" sz="1600" b="0" i="0" dirty="0">
                <a:solidFill>
                  <a:srgbClr val="000000"/>
                </a:solidFill>
                <a:effectLst/>
                <a:latin typeface="Helvetica for Target" panose="020B0504020202020204" pitchFamily="34" charset="77"/>
                <a:ea typeface="Helvetica for Target" panose="020B0504020202020204" pitchFamily="34" charset="77"/>
              </a:rPr>
              <a:t>t go deep enough.”</a:t>
            </a:r>
          </a:p>
          <a:p>
            <a:pPr>
              <a:lnSpc>
                <a:spcPct val="100000"/>
              </a:lnSpc>
            </a:pPr>
            <a:endParaRPr lang="en-US" sz="1600" dirty="0">
              <a:solidFill>
                <a:srgbClr val="000000"/>
              </a:solidFill>
              <a:latin typeface="Helvetica for Target" panose="020B0504020202020204" pitchFamily="34" charset="77"/>
              <a:ea typeface="Helvetica for Target" panose="020B0504020202020204" pitchFamily="34" charset="77"/>
            </a:endParaRPr>
          </a:p>
          <a:p>
            <a:pPr>
              <a:lnSpc>
                <a:spcPct val="100000"/>
              </a:lnSpc>
            </a:pPr>
            <a:r>
              <a:rPr lang="en-US" sz="1600" dirty="0">
                <a:solidFill>
                  <a:srgbClr val="000000"/>
                </a:solidFill>
                <a:latin typeface="Helvetica for Target" panose="020B0504020202020204" pitchFamily="34" charset="77"/>
                <a:ea typeface="Helvetica for Target" panose="020B0504020202020204" pitchFamily="34" charset="77"/>
              </a:rPr>
              <a:t>“Some reports like Priority Fill and Inventory Audits do not populate early. For being GM-based areas, and GM leaders are typically in the building by 6am or earlier, it would be beneficial to have these reports ready for them at 6am. Also, easier access to see truck fill data - and include estimated time when trailer will close if this information is available.”</a:t>
            </a:r>
          </a:p>
          <a:p>
            <a:pPr>
              <a:lnSpc>
                <a:spcPct val="100000"/>
              </a:lnSpc>
            </a:pPr>
            <a:endParaRPr lang="en-US" sz="1600" dirty="0">
              <a:solidFill>
                <a:srgbClr val="000000"/>
              </a:solidFill>
              <a:latin typeface="Helvetica for Target" panose="020B0504020202020204" pitchFamily="34" charset="77"/>
              <a:ea typeface="Helvetica for Target" panose="020B0504020202020204" pitchFamily="34" charset="77"/>
            </a:endParaRPr>
          </a:p>
          <a:p>
            <a:pPr>
              <a:lnSpc>
                <a:spcPct val="100000"/>
              </a:lnSpc>
            </a:pPr>
            <a:r>
              <a:rPr lang="en-US" sz="1600" dirty="0">
                <a:solidFill>
                  <a:srgbClr val="000000"/>
                </a:solidFill>
                <a:latin typeface="Helvetica for Target" panose="020B0504020202020204" pitchFamily="34" charset="77"/>
                <a:ea typeface="Helvetica for Target" panose="020B0504020202020204" pitchFamily="34" charset="77"/>
              </a:rPr>
              <a:t>“The reporting is there, but inaccurate frequently. Trucks will say you are getting 2 repacks for Home, but you get 36. Or you are getting 100 diapers and you get 200. This then makes the push times inaccurate as well. The hours given for workload do not line up either. Price change hours are not reflected. </a:t>
            </a:r>
            <a:r>
              <a:rPr lang="en-US" sz="1600" dirty="0" err="1">
                <a:solidFill>
                  <a:srgbClr val="000000"/>
                </a:solidFill>
                <a:latin typeface="Helvetica for Target" panose="020B0504020202020204" pitchFamily="34" charset="77"/>
                <a:ea typeface="Helvetica for Target" panose="020B0504020202020204" pitchFamily="34" charset="77"/>
              </a:rPr>
              <a:t>Pogs</a:t>
            </a:r>
            <a:r>
              <a:rPr lang="en-US" sz="1600" dirty="0">
                <a:solidFill>
                  <a:srgbClr val="000000"/>
                </a:solidFill>
                <a:latin typeface="Helvetica for Target" panose="020B0504020202020204" pitchFamily="34" charset="77"/>
                <a:ea typeface="Helvetica for Target" panose="020B0504020202020204" pitchFamily="34" charset="77"/>
              </a:rPr>
              <a:t> say they will take 6 hours, but take 20. The hours do not change on inbound if you have 5 or 7 trucks that week.”</a:t>
            </a:r>
          </a:p>
          <a:p>
            <a:pPr>
              <a:lnSpc>
                <a:spcPct val="100000"/>
              </a:lnSpc>
            </a:pPr>
            <a:endParaRPr lang="en-US" sz="1600" dirty="0">
              <a:solidFill>
                <a:srgbClr val="000000"/>
              </a:solidFill>
              <a:latin typeface="Helvetica for Target" panose="020B0504020202020204" pitchFamily="34" charset="77"/>
              <a:ea typeface="Helvetica for Target" panose="020B0504020202020204" pitchFamily="34" charset="77"/>
            </a:endParaRPr>
          </a:p>
          <a:p>
            <a:pPr>
              <a:lnSpc>
                <a:spcPct val="100000"/>
              </a:lnSpc>
            </a:pPr>
            <a:r>
              <a:rPr lang="en-US" sz="1600" dirty="0">
                <a:solidFill>
                  <a:srgbClr val="000000"/>
                </a:solidFill>
                <a:latin typeface="Helvetica for Target" panose="020B0504020202020204" pitchFamily="34" charset="77"/>
                <a:ea typeface="Helvetica for Target" panose="020B0504020202020204" pitchFamily="34" charset="77"/>
              </a:rPr>
              <a:t>“The way </a:t>
            </a:r>
            <a:r>
              <a:rPr lang="en-US" sz="1600" dirty="0" err="1">
                <a:solidFill>
                  <a:srgbClr val="000000"/>
                </a:solidFill>
                <a:latin typeface="Helvetica for Target" panose="020B0504020202020204" pitchFamily="34" charset="77"/>
                <a:ea typeface="Helvetica for Target" panose="020B0504020202020204" pitchFamily="34" charset="77"/>
              </a:rPr>
              <a:t>fullfillment</a:t>
            </a:r>
            <a:r>
              <a:rPr lang="en-US" sz="1600" dirty="0">
                <a:solidFill>
                  <a:srgbClr val="000000"/>
                </a:solidFill>
                <a:latin typeface="Helvetica for Target" panose="020B0504020202020204" pitchFamily="34" charset="77"/>
                <a:ea typeface="Helvetica for Target" panose="020B0504020202020204" pitchFamily="34" charset="77"/>
              </a:rPr>
              <a:t> drops in makes it impossible to plan your daily workload. If the company is behind in orders then you get your workload up front, if the company is caught up, you may not get all your work till after you leave. There needs to be reasonable cut times so you can plan.”</a:t>
            </a:r>
          </a:p>
          <a:p>
            <a:pPr>
              <a:lnSpc>
                <a:spcPct val="100000"/>
              </a:lnSpc>
            </a:pPr>
            <a:endParaRPr lang="en-US" sz="1600" dirty="0">
              <a:latin typeface="Helvetica for Target" panose="020B0504020202020204" pitchFamily="34" charset="77"/>
              <a:ea typeface="Helvetica for Target" panose="020B0504020202020204" pitchFamily="34" charset="77"/>
            </a:endParaRPr>
          </a:p>
          <a:p>
            <a:pPr>
              <a:lnSpc>
                <a:spcPct val="100000"/>
              </a:lnSpc>
            </a:pPr>
            <a:endParaRPr lang="en-US" sz="1600" dirty="0">
              <a:latin typeface="Helvetica for Target" panose="020B0504020202020204" pitchFamily="34" charset="77"/>
              <a:ea typeface="Helvetica for Target" panose="020B0504020202020204" pitchFamily="34" charset="77"/>
            </a:endParaRPr>
          </a:p>
          <a:p>
            <a:pPr>
              <a:lnSpc>
                <a:spcPct val="100000"/>
              </a:lnSpc>
            </a:pPr>
            <a:endParaRPr lang="en-US" sz="1600" dirty="0">
              <a:latin typeface="Helvetica for Target" panose="020B0504020202020204" pitchFamily="34" charset="77"/>
              <a:ea typeface="Helvetica for Target" panose="020B0504020202020204" pitchFamily="34" charset="77"/>
            </a:endParaRPr>
          </a:p>
          <a:p>
            <a:pPr>
              <a:lnSpc>
                <a:spcPct val="100000"/>
              </a:lnSpc>
            </a:pPr>
            <a:endParaRPr lang="en-US" sz="1600" dirty="0">
              <a:latin typeface="Helvetica for Target" panose="020B0504020202020204" pitchFamily="34" charset="77"/>
              <a:ea typeface="Helvetica for Target" panose="020B0504020202020204" pitchFamily="34" charset="77"/>
            </a:endParaRPr>
          </a:p>
        </p:txBody>
      </p:sp>
    </p:spTree>
    <p:extLst>
      <p:ext uri="{BB962C8B-B14F-4D97-AF65-F5344CB8AC3E}">
        <p14:creationId xmlns:p14="http://schemas.microsoft.com/office/powerpoint/2010/main" val="21748224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9841D-41D8-B6EE-5979-6DE1FE54F05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85EBD4A-7DDC-99B4-1148-73A968B8C4F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217570" y="231035"/>
            <a:ext cx="938464" cy="645839"/>
          </a:xfrm>
          <a:prstGeom prst="rect">
            <a:avLst/>
          </a:prstGeom>
        </p:spPr>
      </p:pic>
      <p:sp>
        <p:nvSpPr>
          <p:cNvPr id="9" name="Title 4">
            <a:extLst>
              <a:ext uri="{FF2B5EF4-FFF2-40B4-BE49-F238E27FC236}">
                <a16:creationId xmlns:a16="http://schemas.microsoft.com/office/drawing/2014/main" id="{3C8FCCCF-DD7F-49AB-F218-2E0A06476C21}"/>
              </a:ext>
            </a:extLst>
          </p:cNvPr>
          <p:cNvSpPr>
            <a:spLocks noGrp="1"/>
          </p:cNvSpPr>
          <p:nvPr>
            <p:ph type="title"/>
          </p:nvPr>
        </p:nvSpPr>
        <p:spPr>
          <a:xfrm>
            <a:off x="566927" y="1046568"/>
            <a:ext cx="10873011" cy="1307917"/>
          </a:xfrm>
        </p:spPr>
        <p:txBody>
          <a:bodyPr anchor="ctr">
            <a:noAutofit/>
          </a:bodyPr>
          <a:lstStyle/>
          <a:p>
            <a:pPr>
              <a:lnSpc>
                <a:spcPct val="100000"/>
              </a:lnSpc>
            </a:pPr>
            <a:r>
              <a:rPr lang="en-US" sz="3600" b="1" dirty="0">
                <a:latin typeface="Helvetica for Target" panose="020B0504020202020204" pitchFamily="34" charset="77"/>
                <a:ea typeface="Helvetica for Target" panose="020B0504020202020204" pitchFamily="34" charset="77"/>
              </a:rPr>
              <a:t>Navigating Too Many Tools</a:t>
            </a:r>
          </a:p>
        </p:txBody>
      </p:sp>
      <p:sp>
        <p:nvSpPr>
          <p:cNvPr id="2" name="Title 4">
            <a:extLst>
              <a:ext uri="{FF2B5EF4-FFF2-40B4-BE49-F238E27FC236}">
                <a16:creationId xmlns:a16="http://schemas.microsoft.com/office/drawing/2014/main" id="{3BCE82B3-FF6C-E28C-106E-EC6DBEE61752}"/>
              </a:ext>
            </a:extLst>
          </p:cNvPr>
          <p:cNvSpPr txBox="1">
            <a:spLocks/>
          </p:cNvSpPr>
          <p:nvPr/>
        </p:nvSpPr>
        <p:spPr>
          <a:xfrm>
            <a:off x="566927" y="2354485"/>
            <a:ext cx="10873011" cy="427248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a:lnSpc>
                <a:spcPct val="100000"/>
              </a:lnSpc>
            </a:pPr>
            <a:r>
              <a:rPr lang="en-US" sz="1600" dirty="0">
                <a:latin typeface="Helvetica for Target" panose="020B0504020202020204" pitchFamily="34" charset="77"/>
                <a:ea typeface="Helvetica for Target" panose="020B0504020202020204" pitchFamily="34" charset="77"/>
              </a:rPr>
              <a:t>"Tools provided are usually very helpful, but I have to log into 3 different apps multiple times a day... just troubleshooting why I can't get logged in or having to re-log in...”</a:t>
            </a:r>
          </a:p>
          <a:p>
            <a:pPr>
              <a:lnSpc>
                <a:spcPct val="100000"/>
              </a:lnSpc>
            </a:pPr>
            <a:endParaRPr lang="en-US" sz="1600" dirty="0">
              <a:latin typeface="Helvetica for Target" panose="020B0504020202020204" pitchFamily="34" charset="77"/>
              <a:ea typeface="Helvetica for Target" panose="020B0504020202020204" pitchFamily="34" charset="77"/>
            </a:endParaRPr>
          </a:p>
          <a:p>
            <a:pPr>
              <a:lnSpc>
                <a:spcPct val="100000"/>
              </a:lnSpc>
            </a:pPr>
            <a:r>
              <a:rPr lang="en-US" sz="1600" dirty="0">
                <a:latin typeface="Helvetica for Target" panose="020B0504020202020204" pitchFamily="34" charset="77"/>
                <a:ea typeface="Helvetica for Target" panose="020B0504020202020204" pitchFamily="34" charset="77"/>
              </a:rPr>
              <a:t>"Most data I need to assess business is spread over many different reports... Some reports are not useful for business growth and focus too much on minor metrics.”</a:t>
            </a:r>
          </a:p>
          <a:p>
            <a:pPr>
              <a:lnSpc>
                <a:spcPct val="100000"/>
              </a:lnSpc>
            </a:pPr>
            <a:endParaRPr lang="en-US" sz="1600" dirty="0">
              <a:latin typeface="Helvetica for Target" panose="020B0504020202020204" pitchFamily="34" charset="77"/>
              <a:ea typeface="Helvetica for Target" panose="020B0504020202020204" pitchFamily="34" charset="77"/>
            </a:endParaRPr>
          </a:p>
          <a:p>
            <a:pPr>
              <a:lnSpc>
                <a:spcPct val="100000"/>
              </a:lnSpc>
            </a:pPr>
            <a:r>
              <a:rPr lang="en-US" sz="1600" dirty="0">
                <a:latin typeface="Helvetica for Target" panose="020B0504020202020204" pitchFamily="34" charset="77"/>
                <a:ea typeface="Helvetica for Target" panose="020B0504020202020204" pitchFamily="34" charset="77"/>
              </a:rPr>
              <a:t>"Having a completion trend indicator on the main screen of the 'current work' tab would be extremely helpful in spot checking daily vs weekly performance..."</a:t>
            </a:r>
          </a:p>
          <a:p>
            <a:pPr>
              <a:lnSpc>
                <a:spcPct val="100000"/>
              </a:lnSpc>
            </a:pPr>
            <a:endParaRPr lang="en-US" sz="1600" dirty="0">
              <a:latin typeface="Helvetica for Target" panose="020B0504020202020204" pitchFamily="34" charset="77"/>
              <a:ea typeface="Helvetica for Target" panose="020B0504020202020204" pitchFamily="34" charset="77"/>
            </a:endParaRPr>
          </a:p>
          <a:p>
            <a:pPr>
              <a:lnSpc>
                <a:spcPct val="100000"/>
              </a:lnSpc>
            </a:pPr>
            <a:r>
              <a:rPr lang="en-US" sz="1600" dirty="0">
                <a:latin typeface="Helvetica for Target" panose="020B0504020202020204" pitchFamily="34" charset="77"/>
                <a:ea typeface="Helvetica for Target" panose="020B0504020202020204" pitchFamily="34" charset="77"/>
              </a:rPr>
              <a:t>"We need more data at our fingertips that's easy to glance and digest... the more I can have a quick look that tells me what and how fast my team is doing work, the better.”</a:t>
            </a:r>
          </a:p>
          <a:p>
            <a:pPr>
              <a:lnSpc>
                <a:spcPct val="100000"/>
              </a:lnSpc>
            </a:pPr>
            <a:endParaRPr lang="en-US" sz="1600" dirty="0">
              <a:latin typeface="Helvetica for Target" panose="020B0504020202020204" pitchFamily="34" charset="77"/>
              <a:ea typeface="Helvetica for Target" panose="020B0504020202020204" pitchFamily="34" charset="77"/>
            </a:endParaRPr>
          </a:p>
          <a:p>
            <a:pPr>
              <a:lnSpc>
                <a:spcPct val="100000"/>
              </a:lnSpc>
            </a:pPr>
            <a:r>
              <a:rPr lang="en-US" sz="1600" dirty="0">
                <a:latin typeface="Helvetica for Target" panose="020B0504020202020204" pitchFamily="34" charset="77"/>
                <a:ea typeface="Helvetica for Target" panose="020B0504020202020204" pitchFamily="34" charset="77"/>
              </a:rPr>
              <a:t>"Daily planning requires too many different data sources... Greenfield, MPM, and </a:t>
            </a:r>
            <a:r>
              <a:rPr lang="en-US" sz="1600" dirty="0" err="1">
                <a:latin typeface="Helvetica for Target" panose="020B0504020202020204" pitchFamily="34" charset="77"/>
                <a:ea typeface="Helvetica for Target" panose="020B0504020202020204" pitchFamily="34" charset="77"/>
              </a:rPr>
              <a:t>myDay</a:t>
            </a:r>
            <a:r>
              <a:rPr lang="en-US" sz="1600" dirty="0">
                <a:latin typeface="Helvetica for Target" panose="020B0504020202020204" pitchFamily="34" charset="77"/>
                <a:ea typeface="Helvetica for Target" panose="020B0504020202020204" pitchFamily="34" charset="77"/>
              </a:rPr>
              <a:t> all play a role."</a:t>
            </a:r>
          </a:p>
          <a:p>
            <a:pPr>
              <a:lnSpc>
                <a:spcPct val="100000"/>
              </a:lnSpc>
            </a:pPr>
            <a:endParaRPr lang="en-US" sz="1600" dirty="0">
              <a:latin typeface="Helvetica for Target" panose="020B0504020202020204" pitchFamily="34" charset="77"/>
              <a:ea typeface="Helvetica for Target" panose="020B0504020202020204" pitchFamily="34" charset="77"/>
            </a:endParaRPr>
          </a:p>
          <a:p>
            <a:pPr>
              <a:lnSpc>
                <a:spcPct val="100000"/>
              </a:lnSpc>
            </a:pPr>
            <a:endParaRPr lang="en-US" sz="1600" dirty="0">
              <a:latin typeface="Helvetica for Target" panose="020B0504020202020204" pitchFamily="34" charset="77"/>
              <a:ea typeface="Helvetica for Target" panose="020B0504020202020204" pitchFamily="34" charset="77"/>
            </a:endParaRPr>
          </a:p>
          <a:p>
            <a:pPr>
              <a:lnSpc>
                <a:spcPct val="100000"/>
              </a:lnSpc>
            </a:pPr>
            <a:endParaRPr lang="en-US" sz="1600" dirty="0">
              <a:latin typeface="Helvetica for Target" panose="020B0504020202020204" pitchFamily="34" charset="77"/>
              <a:ea typeface="Helvetica for Target" panose="020B0504020202020204" pitchFamily="34" charset="77"/>
            </a:endParaRPr>
          </a:p>
        </p:txBody>
      </p:sp>
    </p:spTree>
    <p:extLst>
      <p:ext uri="{BB962C8B-B14F-4D97-AF65-F5344CB8AC3E}">
        <p14:creationId xmlns:p14="http://schemas.microsoft.com/office/powerpoint/2010/main" val="3520792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BB3DE-BF2A-BB79-2544-5990CF26604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EF00AE2-25EB-90D7-5CE4-4F01791E0B0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217570" y="231035"/>
            <a:ext cx="938464" cy="645839"/>
          </a:xfrm>
          <a:prstGeom prst="rect">
            <a:avLst/>
          </a:prstGeom>
        </p:spPr>
      </p:pic>
      <p:sp>
        <p:nvSpPr>
          <p:cNvPr id="9" name="Title 4">
            <a:extLst>
              <a:ext uri="{FF2B5EF4-FFF2-40B4-BE49-F238E27FC236}">
                <a16:creationId xmlns:a16="http://schemas.microsoft.com/office/drawing/2014/main" id="{AC191A1F-DFCA-13EA-B344-FE4EC983A678}"/>
              </a:ext>
            </a:extLst>
          </p:cNvPr>
          <p:cNvSpPr>
            <a:spLocks noGrp="1"/>
          </p:cNvSpPr>
          <p:nvPr>
            <p:ph type="title"/>
          </p:nvPr>
        </p:nvSpPr>
        <p:spPr>
          <a:xfrm>
            <a:off x="566927" y="1046568"/>
            <a:ext cx="10873011" cy="1307917"/>
          </a:xfrm>
        </p:spPr>
        <p:txBody>
          <a:bodyPr anchor="ctr">
            <a:noAutofit/>
          </a:bodyPr>
          <a:lstStyle/>
          <a:p>
            <a:pPr>
              <a:lnSpc>
                <a:spcPct val="100000"/>
              </a:lnSpc>
            </a:pPr>
            <a:r>
              <a:rPr lang="en-US" sz="3600" b="1" dirty="0">
                <a:latin typeface="Helvetica for Target" panose="020B0504020202020204" pitchFamily="34" charset="77"/>
                <a:ea typeface="Helvetica for Target" panose="020B0504020202020204" pitchFamily="34" charset="77"/>
              </a:rPr>
              <a:t>Time Management</a:t>
            </a:r>
          </a:p>
        </p:txBody>
      </p:sp>
      <p:sp>
        <p:nvSpPr>
          <p:cNvPr id="2" name="Title 4">
            <a:extLst>
              <a:ext uri="{FF2B5EF4-FFF2-40B4-BE49-F238E27FC236}">
                <a16:creationId xmlns:a16="http://schemas.microsoft.com/office/drawing/2014/main" id="{5CAD04D9-E014-02FF-D163-871752E38FC3}"/>
              </a:ext>
            </a:extLst>
          </p:cNvPr>
          <p:cNvSpPr txBox="1">
            <a:spLocks/>
          </p:cNvSpPr>
          <p:nvPr/>
        </p:nvSpPr>
        <p:spPr>
          <a:xfrm>
            <a:off x="566927" y="2354485"/>
            <a:ext cx="10873011" cy="427248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a:lnSpc>
                <a:spcPct val="100000"/>
              </a:lnSpc>
            </a:pPr>
            <a:endParaRPr lang="en-US" sz="1600" dirty="0">
              <a:latin typeface="Helvetica for Target" panose="020B0504020202020204" pitchFamily="34" charset="77"/>
              <a:ea typeface="Helvetica for Target" panose="020B0504020202020204" pitchFamily="34" charset="77"/>
            </a:endParaRPr>
          </a:p>
          <a:p>
            <a:pPr>
              <a:lnSpc>
                <a:spcPct val="100000"/>
              </a:lnSpc>
            </a:pPr>
            <a:r>
              <a:rPr lang="en-US" sz="1600" dirty="0">
                <a:latin typeface="Helvetica for Target" panose="020B0504020202020204" pitchFamily="34" charset="77"/>
                <a:ea typeface="Helvetica for Target" panose="020B0504020202020204" pitchFamily="34" charset="77"/>
              </a:rPr>
              <a:t>“Team Leaders should be able to have more time away from workload and be able to spend time planning and assessing their business. Team Leaders make the most in the moment/Live decisions for the business as they lead their teams. They should be able to have the time to go through everything they would need to start/finish their days without being a part of the workload.”</a:t>
            </a:r>
          </a:p>
          <a:p>
            <a:pPr>
              <a:lnSpc>
                <a:spcPct val="100000"/>
              </a:lnSpc>
            </a:pPr>
            <a:endParaRPr lang="en-US" sz="1600" dirty="0">
              <a:latin typeface="Helvetica for Target" panose="020B0504020202020204" pitchFamily="34" charset="77"/>
              <a:ea typeface="Helvetica for Target" panose="020B0504020202020204" pitchFamily="34" charset="77"/>
            </a:endParaRPr>
          </a:p>
          <a:p>
            <a:pPr>
              <a:lnSpc>
                <a:spcPct val="100000"/>
              </a:lnSpc>
            </a:pPr>
            <a:r>
              <a:rPr lang="en-US" sz="1600" dirty="0">
                <a:latin typeface="Helvetica for Target" panose="020B0504020202020204" pitchFamily="34" charset="77"/>
                <a:ea typeface="Helvetica for Target" panose="020B0504020202020204" pitchFamily="34" charset="77"/>
              </a:rPr>
              <a:t>"Daily assignment sheets... could be more intuitive. It still feels like a lot of gathering and writing to get to the assessment and plan execution.”</a:t>
            </a:r>
          </a:p>
          <a:p>
            <a:pPr>
              <a:lnSpc>
                <a:spcPct val="100000"/>
              </a:lnSpc>
            </a:pPr>
            <a:endParaRPr lang="en-US" sz="1600" dirty="0">
              <a:latin typeface="Helvetica for Target" panose="020B0504020202020204" pitchFamily="34" charset="77"/>
              <a:ea typeface="Helvetica for Target" panose="020B0504020202020204" pitchFamily="34" charset="77"/>
            </a:endParaRPr>
          </a:p>
          <a:p>
            <a:pPr>
              <a:lnSpc>
                <a:spcPct val="100000"/>
              </a:lnSpc>
            </a:pPr>
            <a:r>
              <a:rPr lang="en-US" sz="1600" dirty="0">
                <a:latin typeface="Helvetica for Target" panose="020B0504020202020204" pitchFamily="34" charset="77"/>
                <a:ea typeface="Helvetica for Target" panose="020B0504020202020204" pitchFamily="34" charset="77"/>
              </a:rPr>
              <a:t>“We get a lot of information - whether from HQ, leadership, or team. It forces the feeling of replying to emails and reading information when not in store to have uninterrupted time to designated to the workload planning process. For example, it is 11:55pm on a Monday night but it was the only time to get through the entirety of my inbox after my kids when to bed and before I go to my store from 7am-5pm.”</a:t>
            </a:r>
          </a:p>
          <a:p>
            <a:pPr>
              <a:lnSpc>
                <a:spcPct val="100000"/>
              </a:lnSpc>
            </a:pPr>
            <a:endParaRPr lang="en-US" sz="1600" dirty="0">
              <a:latin typeface="Helvetica for Target" panose="020B0504020202020204" pitchFamily="34" charset="77"/>
              <a:ea typeface="Helvetica for Target" panose="020B0504020202020204" pitchFamily="34" charset="77"/>
            </a:endParaRPr>
          </a:p>
          <a:p>
            <a:pPr>
              <a:lnSpc>
                <a:spcPct val="100000"/>
              </a:lnSpc>
            </a:pPr>
            <a:r>
              <a:rPr lang="en-US" sz="1600" dirty="0">
                <a:latin typeface="Helvetica for Target" panose="020B0504020202020204" pitchFamily="34" charset="77"/>
                <a:ea typeface="Helvetica for Target" panose="020B0504020202020204" pitchFamily="34" charset="77"/>
              </a:rPr>
              <a:t>“In order to be successful, communication and teaching are paramount. As my Leadership team has improved, my personal time spent daily assessing, </a:t>
            </a:r>
            <a:r>
              <a:rPr lang="en-US" sz="1600" dirty="0" err="1">
                <a:latin typeface="Helvetica for Target" panose="020B0504020202020204" pitchFamily="34" charset="77"/>
                <a:ea typeface="Helvetica for Target" panose="020B0504020202020204" pitchFamily="34" charset="77"/>
              </a:rPr>
              <a:t>etc</a:t>
            </a:r>
            <a:r>
              <a:rPr lang="en-US" sz="1600" dirty="0">
                <a:latin typeface="Helvetica for Target" panose="020B0504020202020204" pitchFamily="34" charset="77"/>
                <a:ea typeface="Helvetica for Target" panose="020B0504020202020204" pitchFamily="34" charset="77"/>
              </a:rPr>
              <a:t> has decreased as they are already a step ahead of me. This allows me to spend more time in personal, professional developmental tasks with the team.”</a:t>
            </a:r>
          </a:p>
          <a:p>
            <a:pPr>
              <a:lnSpc>
                <a:spcPct val="100000"/>
              </a:lnSpc>
            </a:pPr>
            <a:endParaRPr lang="en-US" sz="1600" dirty="0">
              <a:latin typeface="Helvetica for Target" panose="020B0504020202020204" pitchFamily="34" charset="77"/>
              <a:ea typeface="Helvetica for Target" panose="020B0504020202020204" pitchFamily="34" charset="77"/>
            </a:endParaRPr>
          </a:p>
          <a:p>
            <a:pPr>
              <a:lnSpc>
                <a:spcPct val="100000"/>
              </a:lnSpc>
            </a:pPr>
            <a:endParaRPr lang="en-US" sz="1600" dirty="0">
              <a:latin typeface="Helvetica for Target" panose="020B0504020202020204" pitchFamily="34" charset="77"/>
              <a:ea typeface="Helvetica for Target" panose="020B0504020202020204" pitchFamily="34" charset="77"/>
            </a:endParaRPr>
          </a:p>
          <a:p>
            <a:pPr>
              <a:lnSpc>
                <a:spcPct val="100000"/>
              </a:lnSpc>
            </a:pPr>
            <a:endParaRPr lang="en-US" sz="1600" dirty="0">
              <a:latin typeface="Helvetica for Target" panose="020B0504020202020204" pitchFamily="34" charset="77"/>
              <a:ea typeface="Helvetica for Target" panose="020B0504020202020204" pitchFamily="34" charset="77"/>
            </a:endParaRPr>
          </a:p>
        </p:txBody>
      </p:sp>
    </p:spTree>
    <p:extLst>
      <p:ext uri="{BB962C8B-B14F-4D97-AF65-F5344CB8AC3E}">
        <p14:creationId xmlns:p14="http://schemas.microsoft.com/office/powerpoint/2010/main" val="9580062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0E10D-1EE1-2A2B-FB7B-E35BA8C2B2A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B316F70-6107-4E00-5FC4-C3D77222039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217570" y="231035"/>
            <a:ext cx="938464" cy="645839"/>
          </a:xfrm>
          <a:prstGeom prst="rect">
            <a:avLst/>
          </a:prstGeom>
        </p:spPr>
      </p:pic>
      <p:sp>
        <p:nvSpPr>
          <p:cNvPr id="9" name="Title 4">
            <a:extLst>
              <a:ext uri="{FF2B5EF4-FFF2-40B4-BE49-F238E27FC236}">
                <a16:creationId xmlns:a16="http://schemas.microsoft.com/office/drawing/2014/main" id="{57952BBF-B249-38EA-64D0-21351AD9AB94}"/>
              </a:ext>
            </a:extLst>
          </p:cNvPr>
          <p:cNvSpPr>
            <a:spLocks noGrp="1"/>
          </p:cNvSpPr>
          <p:nvPr>
            <p:ph type="title"/>
          </p:nvPr>
        </p:nvSpPr>
        <p:spPr>
          <a:xfrm>
            <a:off x="566927" y="1046568"/>
            <a:ext cx="10873011" cy="1307917"/>
          </a:xfrm>
        </p:spPr>
        <p:txBody>
          <a:bodyPr anchor="ctr">
            <a:noAutofit/>
          </a:bodyPr>
          <a:lstStyle/>
          <a:p>
            <a:pPr>
              <a:lnSpc>
                <a:spcPct val="100000"/>
              </a:lnSpc>
            </a:pPr>
            <a:r>
              <a:rPr lang="en-US" sz="3600" b="1" dirty="0">
                <a:latin typeface="Helvetica for Target" panose="020B0504020202020204" pitchFamily="34" charset="77"/>
                <a:ea typeface="Helvetica for Target" panose="020B0504020202020204" pitchFamily="34" charset="77"/>
              </a:rPr>
              <a:t>Device Inconsistencies</a:t>
            </a:r>
          </a:p>
        </p:txBody>
      </p:sp>
      <p:sp>
        <p:nvSpPr>
          <p:cNvPr id="2" name="Title 4">
            <a:extLst>
              <a:ext uri="{FF2B5EF4-FFF2-40B4-BE49-F238E27FC236}">
                <a16:creationId xmlns:a16="http://schemas.microsoft.com/office/drawing/2014/main" id="{1B95EE30-8A6A-52AF-EF7F-59C5BDFB53E4}"/>
              </a:ext>
            </a:extLst>
          </p:cNvPr>
          <p:cNvSpPr txBox="1">
            <a:spLocks/>
          </p:cNvSpPr>
          <p:nvPr/>
        </p:nvSpPr>
        <p:spPr>
          <a:xfrm>
            <a:off x="566927" y="2974693"/>
            <a:ext cx="10873011" cy="365227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a:lnSpc>
                <a:spcPct val="100000"/>
              </a:lnSpc>
            </a:pPr>
            <a:endParaRPr lang="en-US" sz="1600" dirty="0">
              <a:latin typeface="Helvetica for Target" panose="020B0504020202020204" pitchFamily="34" charset="77"/>
              <a:ea typeface="Helvetica for Target" panose="020B0504020202020204" pitchFamily="34" charset="77"/>
            </a:endParaRPr>
          </a:p>
          <a:p>
            <a:pPr>
              <a:lnSpc>
                <a:spcPct val="100000"/>
              </a:lnSpc>
            </a:pPr>
            <a:r>
              <a:rPr lang="en-US" sz="1600" dirty="0">
                <a:latin typeface="Helvetica for Target" panose="020B0504020202020204" pitchFamily="34" charset="77"/>
                <a:ea typeface="Helvetica for Target" panose="020B0504020202020204" pitchFamily="34" charset="77"/>
              </a:rPr>
              <a:t>"It is literally impossible to put every single thing a TM needs to complete onto an assignment sheet.”</a:t>
            </a:r>
          </a:p>
          <a:p>
            <a:pPr>
              <a:lnSpc>
                <a:spcPct val="100000"/>
              </a:lnSpc>
            </a:pPr>
            <a:endParaRPr lang="en-US" sz="1600" dirty="0">
              <a:latin typeface="Helvetica for Target" panose="020B0504020202020204" pitchFamily="34" charset="77"/>
              <a:ea typeface="Helvetica for Target" panose="020B0504020202020204" pitchFamily="34" charset="77"/>
            </a:endParaRPr>
          </a:p>
          <a:p>
            <a:pPr>
              <a:lnSpc>
                <a:spcPct val="100000"/>
              </a:lnSpc>
            </a:pPr>
            <a:r>
              <a:rPr lang="en-US" sz="1600" dirty="0">
                <a:latin typeface="Helvetica for Target" panose="020B0504020202020204" pitchFamily="34" charset="77"/>
                <a:ea typeface="Helvetica for Target" panose="020B0504020202020204" pitchFamily="34" charset="77"/>
              </a:rPr>
              <a:t>“We need tablets to access Greenfield reports on the go, my devices is to hard to read reports and if you print them takes a lot paper.”</a:t>
            </a:r>
          </a:p>
          <a:p>
            <a:pPr>
              <a:lnSpc>
                <a:spcPct val="100000"/>
              </a:lnSpc>
            </a:pPr>
            <a:endParaRPr lang="en-US" sz="1600" dirty="0">
              <a:latin typeface="Helvetica for Target" panose="020B0504020202020204" pitchFamily="34" charset="77"/>
              <a:ea typeface="Helvetica for Target" panose="020B0504020202020204" pitchFamily="34" charset="77"/>
            </a:endParaRPr>
          </a:p>
          <a:p>
            <a:pPr>
              <a:lnSpc>
                <a:spcPct val="100000"/>
              </a:lnSpc>
            </a:pPr>
            <a:r>
              <a:rPr lang="en-US" sz="1600" dirty="0">
                <a:latin typeface="Helvetica for Target" panose="020B0504020202020204" pitchFamily="34" charset="77"/>
                <a:ea typeface="Helvetica for Target" panose="020B0504020202020204" pitchFamily="34" charset="77"/>
              </a:rPr>
              <a:t>“It would make more sense if there was a way for my day to automatically be associated with the tasks directed for that team member by day. (For example have them only signed into pulls for the area you wanted them to be working.) Or have notes directly in a greeting message for special tasks etc.”</a:t>
            </a:r>
          </a:p>
          <a:p>
            <a:pPr>
              <a:lnSpc>
                <a:spcPct val="100000"/>
              </a:lnSpc>
            </a:pPr>
            <a:endParaRPr lang="en-US" sz="1600" dirty="0">
              <a:latin typeface="Helvetica for Target" panose="020B0504020202020204" pitchFamily="34" charset="77"/>
              <a:ea typeface="Helvetica for Target" panose="020B0504020202020204" pitchFamily="34" charset="77"/>
            </a:endParaRPr>
          </a:p>
          <a:p>
            <a:pPr>
              <a:lnSpc>
                <a:spcPct val="100000"/>
              </a:lnSpc>
            </a:pPr>
            <a:r>
              <a:rPr lang="en-US" sz="1600" dirty="0">
                <a:latin typeface="Helvetica for Target" panose="020B0504020202020204" pitchFamily="34" charset="77"/>
                <a:ea typeface="Helvetica for Target" panose="020B0504020202020204" pitchFamily="34" charset="77"/>
              </a:rPr>
              <a:t>“Wish I had access to all data on my cellphone just like </a:t>
            </a:r>
            <a:r>
              <a:rPr lang="en-US" sz="1600" dirty="0" err="1">
                <a:latin typeface="Helvetica for Target" panose="020B0504020202020204" pitchFamily="34" charset="77"/>
                <a:ea typeface="Helvetica for Target" panose="020B0504020202020204" pitchFamily="34" charset="77"/>
              </a:rPr>
              <a:t>etls</a:t>
            </a:r>
            <a:r>
              <a:rPr lang="en-US" sz="1600" dirty="0">
                <a:latin typeface="Helvetica for Target" panose="020B0504020202020204" pitchFamily="34" charset="77"/>
                <a:ea typeface="Helvetica for Target" panose="020B0504020202020204" pitchFamily="34" charset="77"/>
              </a:rPr>
              <a:t>. It streamlines data and ease of access while I walk the floor to remove hurdles for closing teams.”</a:t>
            </a:r>
          </a:p>
          <a:p>
            <a:pPr>
              <a:lnSpc>
                <a:spcPct val="100000"/>
              </a:lnSpc>
            </a:pPr>
            <a:endParaRPr lang="en-US" sz="1600" dirty="0">
              <a:latin typeface="Helvetica for Target" panose="020B0504020202020204" pitchFamily="34" charset="77"/>
              <a:ea typeface="Helvetica for Target" panose="020B0504020202020204" pitchFamily="34" charset="77"/>
            </a:endParaRPr>
          </a:p>
          <a:p>
            <a:pPr>
              <a:lnSpc>
                <a:spcPct val="100000"/>
              </a:lnSpc>
            </a:pPr>
            <a:r>
              <a:rPr lang="en-US" sz="1600" dirty="0">
                <a:latin typeface="Helvetica for Target" panose="020B0504020202020204" pitchFamily="34" charset="77"/>
                <a:ea typeface="Helvetica for Target" panose="020B0504020202020204" pitchFamily="34" charset="77"/>
              </a:rPr>
              <a:t>“The main dashboard doesn't always load quickly and efficiently throughout the day. I spend a lot of time waiting for pages to load or having to sign out and sign back in in order to get to the page I need faster to compile the information I'll need to get task work done.”</a:t>
            </a:r>
          </a:p>
          <a:p>
            <a:pPr>
              <a:lnSpc>
                <a:spcPct val="100000"/>
              </a:lnSpc>
            </a:pPr>
            <a:br>
              <a:rPr lang="en-US" sz="1600" dirty="0">
                <a:latin typeface="Helvetica for Target" panose="020B0504020202020204" pitchFamily="34" charset="77"/>
                <a:ea typeface="Helvetica for Target" panose="020B0504020202020204" pitchFamily="34" charset="77"/>
              </a:rPr>
            </a:br>
            <a:endParaRPr lang="en-US" sz="1600" dirty="0">
              <a:latin typeface="Helvetica for Target" panose="020B0504020202020204" pitchFamily="34" charset="77"/>
              <a:ea typeface="Helvetica for Target" panose="020B0504020202020204" pitchFamily="34" charset="77"/>
            </a:endParaRPr>
          </a:p>
          <a:p>
            <a:pPr>
              <a:lnSpc>
                <a:spcPct val="100000"/>
              </a:lnSpc>
            </a:pPr>
            <a:endParaRPr lang="en-US" sz="1600" dirty="0">
              <a:latin typeface="Helvetica for Target" panose="020B0504020202020204" pitchFamily="34" charset="77"/>
              <a:ea typeface="Helvetica for Target" panose="020B0504020202020204" pitchFamily="34" charset="77"/>
            </a:endParaRPr>
          </a:p>
          <a:p>
            <a:pPr>
              <a:lnSpc>
                <a:spcPct val="100000"/>
              </a:lnSpc>
            </a:pPr>
            <a:endParaRPr lang="en-US" sz="1600" dirty="0">
              <a:latin typeface="Helvetica for Target" panose="020B0504020202020204" pitchFamily="34" charset="77"/>
              <a:ea typeface="Helvetica for Target" panose="020B0504020202020204" pitchFamily="34" charset="77"/>
            </a:endParaRPr>
          </a:p>
          <a:p>
            <a:pPr>
              <a:lnSpc>
                <a:spcPct val="100000"/>
              </a:lnSpc>
            </a:pPr>
            <a:endParaRPr lang="en-US" sz="1600" dirty="0">
              <a:latin typeface="Helvetica for Target" panose="020B0504020202020204" pitchFamily="34" charset="77"/>
              <a:ea typeface="Helvetica for Target" panose="020B0504020202020204" pitchFamily="34" charset="77"/>
            </a:endParaRPr>
          </a:p>
          <a:p>
            <a:pPr>
              <a:lnSpc>
                <a:spcPct val="100000"/>
              </a:lnSpc>
            </a:pPr>
            <a:endParaRPr lang="en-US" sz="1600" dirty="0">
              <a:latin typeface="Helvetica for Target" panose="020B0504020202020204" pitchFamily="34" charset="77"/>
              <a:ea typeface="Helvetica for Target" panose="020B0504020202020204" pitchFamily="34" charset="77"/>
            </a:endParaRPr>
          </a:p>
        </p:txBody>
      </p:sp>
    </p:spTree>
    <p:extLst>
      <p:ext uri="{BB962C8B-B14F-4D97-AF65-F5344CB8AC3E}">
        <p14:creationId xmlns:p14="http://schemas.microsoft.com/office/powerpoint/2010/main" val="1570704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595D4-7EAF-3ED0-1E67-CA90AE185A9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5C0E698-3334-D1CE-715D-2F27007316A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217570" y="231035"/>
            <a:ext cx="938464" cy="645839"/>
          </a:xfrm>
          <a:prstGeom prst="rect">
            <a:avLst/>
          </a:prstGeom>
        </p:spPr>
      </p:pic>
      <p:sp>
        <p:nvSpPr>
          <p:cNvPr id="2" name="Title 4">
            <a:extLst>
              <a:ext uri="{FF2B5EF4-FFF2-40B4-BE49-F238E27FC236}">
                <a16:creationId xmlns:a16="http://schemas.microsoft.com/office/drawing/2014/main" id="{E9312206-6169-CBDC-2855-28F9853238AA}"/>
              </a:ext>
            </a:extLst>
          </p:cNvPr>
          <p:cNvSpPr txBox="1">
            <a:spLocks/>
          </p:cNvSpPr>
          <p:nvPr/>
        </p:nvSpPr>
        <p:spPr>
          <a:xfrm>
            <a:off x="686802" y="3087757"/>
            <a:ext cx="6231438" cy="353920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a:lnSpc>
                <a:spcPct val="100000"/>
              </a:lnSpc>
            </a:pPr>
            <a:r>
              <a:rPr lang="en-US" sz="1600" dirty="0">
                <a:latin typeface="Helvetica for Target" panose="020B0504020202020204" pitchFamily="34" charset="77"/>
                <a:ea typeface="Helvetica for Target" panose="020B0504020202020204" pitchFamily="34" charset="77"/>
              </a:rPr>
              <a:t>The primary goal of this survey was to establish a baseline for how long leaders are currently spending prioritizing and assessing daily workload and how they feel about their current experience. The findings from this survey give us the first look chainwide at our opportunity for time saved with the new leader dashboard and validates our task management problem statement. </a:t>
            </a:r>
          </a:p>
          <a:p>
            <a:pPr>
              <a:lnSpc>
                <a:spcPct val="100000"/>
              </a:lnSpc>
            </a:pPr>
            <a:endParaRPr lang="en-US" sz="1600" dirty="0">
              <a:latin typeface="Helvetica for Target" panose="020B0504020202020204" pitchFamily="34" charset="77"/>
              <a:ea typeface="Helvetica for Target" panose="020B0504020202020204" pitchFamily="34" charset="77"/>
            </a:endParaRPr>
          </a:p>
          <a:p>
            <a:pPr>
              <a:lnSpc>
                <a:spcPct val="100000"/>
              </a:lnSpc>
            </a:pPr>
            <a:r>
              <a:rPr lang="en-US" sz="1600" dirty="0">
                <a:latin typeface="Helvetica for Target" panose="020B0504020202020204" pitchFamily="34" charset="77"/>
                <a:ea typeface="Helvetica for Target" panose="020B0504020202020204" pitchFamily="34" charset="77"/>
              </a:rPr>
              <a:t>Problem Statement: As a leader, I strive to manage payroll as efficiently as possible, but I lack holistic, real-time insights into both my daily workload and how it aligns with my allocated payroll. This lack of visibility and decision-making support results in inefficiencies, team frustration, and decreased motivation, ultimately leading to poor workload prioritization and missed critical tasks.</a:t>
            </a:r>
          </a:p>
          <a:p>
            <a:pPr>
              <a:lnSpc>
                <a:spcPct val="100000"/>
              </a:lnSpc>
            </a:pPr>
            <a:endParaRPr lang="en-US" sz="1600" dirty="0">
              <a:latin typeface="Helvetica for Target" panose="020B0504020202020204" pitchFamily="34" charset="77"/>
              <a:ea typeface="Helvetica for Target" panose="020B0504020202020204" pitchFamily="34" charset="77"/>
            </a:endParaRPr>
          </a:p>
          <a:p>
            <a:pPr>
              <a:lnSpc>
                <a:spcPct val="100000"/>
              </a:lnSpc>
            </a:pPr>
            <a:r>
              <a:rPr lang="en-US" sz="1600" dirty="0">
                <a:latin typeface="Helvetica for Target" panose="020B0504020202020204" pitchFamily="34" charset="77"/>
                <a:ea typeface="Helvetica for Target" panose="020B0504020202020204" pitchFamily="34" charset="77"/>
              </a:rPr>
              <a:t>The new leader dashboard will be launching to the entire chain on May 7, 2025.</a:t>
            </a:r>
          </a:p>
          <a:p>
            <a:pPr>
              <a:lnSpc>
                <a:spcPct val="100000"/>
              </a:lnSpc>
            </a:pPr>
            <a:br>
              <a:rPr lang="en-US" sz="1600" dirty="0">
                <a:latin typeface="Helvetica for Target" panose="020B0504020202020204" pitchFamily="34" charset="77"/>
                <a:ea typeface="Helvetica for Target" panose="020B0504020202020204" pitchFamily="34" charset="77"/>
              </a:rPr>
            </a:br>
            <a:endParaRPr lang="en-US" sz="1600" dirty="0">
              <a:latin typeface="Helvetica for Target" panose="020B0504020202020204" pitchFamily="34" charset="77"/>
              <a:ea typeface="Helvetica for Target" panose="020B0504020202020204" pitchFamily="34" charset="77"/>
            </a:endParaRPr>
          </a:p>
          <a:p>
            <a:pPr>
              <a:lnSpc>
                <a:spcPct val="100000"/>
              </a:lnSpc>
            </a:pPr>
            <a:endParaRPr lang="en-US" sz="1600" dirty="0">
              <a:latin typeface="Helvetica for Target" panose="020B0504020202020204" pitchFamily="34" charset="77"/>
              <a:ea typeface="Helvetica for Target" panose="020B0504020202020204" pitchFamily="34" charset="77"/>
            </a:endParaRPr>
          </a:p>
          <a:p>
            <a:pPr>
              <a:lnSpc>
                <a:spcPct val="100000"/>
              </a:lnSpc>
            </a:pPr>
            <a:endParaRPr lang="en-US" sz="1600" dirty="0">
              <a:latin typeface="Helvetica for Target" panose="020B0504020202020204" pitchFamily="34" charset="77"/>
              <a:ea typeface="Helvetica for Target" panose="020B0504020202020204" pitchFamily="34" charset="77"/>
            </a:endParaRPr>
          </a:p>
          <a:p>
            <a:pPr>
              <a:lnSpc>
                <a:spcPct val="100000"/>
              </a:lnSpc>
            </a:pPr>
            <a:endParaRPr lang="en-US" sz="1600" dirty="0">
              <a:latin typeface="Helvetica for Target" panose="020B0504020202020204" pitchFamily="34" charset="77"/>
              <a:ea typeface="Helvetica for Target" panose="020B0504020202020204" pitchFamily="34" charset="77"/>
            </a:endParaRPr>
          </a:p>
          <a:p>
            <a:pPr>
              <a:lnSpc>
                <a:spcPct val="100000"/>
              </a:lnSpc>
            </a:pPr>
            <a:endParaRPr lang="en-US" sz="1600" dirty="0">
              <a:latin typeface="Helvetica for Target" panose="020B0504020202020204" pitchFamily="34" charset="77"/>
              <a:ea typeface="Helvetica for Target" panose="020B0504020202020204" pitchFamily="34" charset="77"/>
            </a:endParaRPr>
          </a:p>
        </p:txBody>
      </p:sp>
      <p:sp>
        <p:nvSpPr>
          <p:cNvPr id="4" name="Title 4">
            <a:extLst>
              <a:ext uri="{FF2B5EF4-FFF2-40B4-BE49-F238E27FC236}">
                <a16:creationId xmlns:a16="http://schemas.microsoft.com/office/drawing/2014/main" id="{2BD4E873-5289-0102-A332-98D89F1CA241}"/>
              </a:ext>
            </a:extLst>
          </p:cNvPr>
          <p:cNvSpPr txBox="1">
            <a:spLocks/>
          </p:cNvSpPr>
          <p:nvPr/>
        </p:nvSpPr>
        <p:spPr>
          <a:xfrm>
            <a:off x="686802" y="729391"/>
            <a:ext cx="10873011" cy="130791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a:lnSpc>
                <a:spcPct val="100000"/>
              </a:lnSpc>
            </a:pPr>
            <a:r>
              <a:rPr lang="en-US" sz="3600" b="1" dirty="0">
                <a:latin typeface="Helvetica for Target" panose="020B0504020202020204" pitchFamily="34" charset="77"/>
                <a:ea typeface="Helvetica for Target" panose="020B0504020202020204" pitchFamily="34" charset="77"/>
              </a:rPr>
              <a:t>So what?</a:t>
            </a:r>
          </a:p>
        </p:txBody>
      </p:sp>
      <p:pic>
        <p:nvPicPr>
          <p:cNvPr id="8" name="Picture 7" descr="Screens screenshot of a phone&#10;&#10;AI-generated content may be incorrect.">
            <a:extLst>
              <a:ext uri="{FF2B5EF4-FFF2-40B4-BE49-F238E27FC236}">
                <a16:creationId xmlns:a16="http://schemas.microsoft.com/office/drawing/2014/main" id="{C0AD9B5F-4F20-4D47-D6AD-85270308E68F}"/>
              </a:ext>
            </a:extLst>
          </p:cNvPr>
          <p:cNvPicPr>
            <a:picLocks noChangeAspect="1"/>
          </p:cNvPicPr>
          <p:nvPr/>
        </p:nvPicPr>
        <p:blipFill>
          <a:blip r:embed="rId4">
            <a:extLst>
              <a:ext uri="{28A0092B-C50C-407E-A947-70E740481C1C}">
                <a14:useLocalDpi xmlns:a14="http://schemas.microsoft.com/office/drawing/2010/main" val="0"/>
              </a:ext>
            </a:extLst>
          </a:blip>
          <a:srcRect r="40220" b="15137"/>
          <a:stretch/>
        </p:blipFill>
        <p:spPr>
          <a:xfrm>
            <a:off x="7088708" y="1858617"/>
            <a:ext cx="4940337" cy="3352800"/>
          </a:xfrm>
          <a:prstGeom prst="rect">
            <a:avLst/>
          </a:prstGeom>
        </p:spPr>
      </p:pic>
    </p:spTree>
    <p:extLst>
      <p:ext uri="{BB962C8B-B14F-4D97-AF65-F5344CB8AC3E}">
        <p14:creationId xmlns:p14="http://schemas.microsoft.com/office/powerpoint/2010/main" val="25564682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30C30-D109-89F5-F99B-47256B3FF1A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972C007-DF21-1F63-7C88-7DF2E18AC60C}"/>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217570" y="231035"/>
            <a:ext cx="938464" cy="645839"/>
          </a:xfrm>
          <a:prstGeom prst="rect">
            <a:avLst/>
          </a:prstGeom>
        </p:spPr>
      </p:pic>
      <p:sp>
        <p:nvSpPr>
          <p:cNvPr id="9" name="Title 4">
            <a:extLst>
              <a:ext uri="{FF2B5EF4-FFF2-40B4-BE49-F238E27FC236}">
                <a16:creationId xmlns:a16="http://schemas.microsoft.com/office/drawing/2014/main" id="{E8A6A3C5-BC0A-7CE7-BE59-C797983EBD6E}"/>
              </a:ext>
            </a:extLst>
          </p:cNvPr>
          <p:cNvSpPr>
            <a:spLocks noGrp="1"/>
          </p:cNvSpPr>
          <p:nvPr>
            <p:ph type="title"/>
          </p:nvPr>
        </p:nvSpPr>
        <p:spPr>
          <a:xfrm>
            <a:off x="566927" y="1046568"/>
            <a:ext cx="10873011" cy="1307917"/>
          </a:xfrm>
        </p:spPr>
        <p:txBody>
          <a:bodyPr anchor="ctr">
            <a:noAutofit/>
          </a:bodyPr>
          <a:lstStyle/>
          <a:p>
            <a:pPr>
              <a:lnSpc>
                <a:spcPct val="100000"/>
              </a:lnSpc>
            </a:pPr>
            <a:r>
              <a:rPr lang="en-US" sz="3600" b="1" dirty="0">
                <a:latin typeface="Helvetica for Target" panose="020B0504020202020204" pitchFamily="34" charset="77"/>
                <a:ea typeface="Helvetica for Target" panose="020B0504020202020204" pitchFamily="34" charset="77"/>
              </a:rPr>
              <a:t>What’s next?</a:t>
            </a:r>
          </a:p>
        </p:txBody>
      </p:sp>
      <p:sp>
        <p:nvSpPr>
          <p:cNvPr id="2" name="Title 4">
            <a:extLst>
              <a:ext uri="{FF2B5EF4-FFF2-40B4-BE49-F238E27FC236}">
                <a16:creationId xmlns:a16="http://schemas.microsoft.com/office/drawing/2014/main" id="{2E991D09-B4DB-DB54-8600-2B6446FB66D1}"/>
              </a:ext>
            </a:extLst>
          </p:cNvPr>
          <p:cNvSpPr txBox="1">
            <a:spLocks/>
          </p:cNvSpPr>
          <p:nvPr/>
        </p:nvSpPr>
        <p:spPr>
          <a:xfrm>
            <a:off x="566923" y="2686761"/>
            <a:ext cx="10873011" cy="1884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a:lnSpc>
                <a:spcPct val="100000"/>
              </a:lnSpc>
            </a:pPr>
            <a:endParaRPr lang="en-US" sz="1800" dirty="0">
              <a:latin typeface="Helvetica for Target" panose="020B0504020202020204" pitchFamily="34" charset="77"/>
              <a:ea typeface="Helvetica for Target" panose="020B0504020202020204" pitchFamily="34" charset="77"/>
            </a:endParaRPr>
          </a:p>
          <a:p>
            <a:pPr>
              <a:lnSpc>
                <a:spcPct val="100000"/>
              </a:lnSpc>
            </a:pPr>
            <a:r>
              <a:rPr lang="en-US" sz="1800" dirty="0">
                <a:latin typeface="Helvetica for Target" panose="020B0504020202020204" pitchFamily="34" charset="77"/>
                <a:ea typeface="Helvetica for Target" panose="020B0504020202020204" pitchFamily="34" charset="77"/>
              </a:rPr>
              <a:t>Current proposal is that this same survey would be shared with the same audience in the fall of 2025, after all leaders have access to the new </a:t>
            </a:r>
            <a:r>
              <a:rPr lang="en-US" sz="1800" dirty="0" err="1">
                <a:latin typeface="Helvetica for Target" panose="020B0504020202020204" pitchFamily="34" charset="77"/>
                <a:ea typeface="Helvetica for Target" panose="020B0504020202020204" pitchFamily="34" charset="77"/>
              </a:rPr>
              <a:t>myDay</a:t>
            </a:r>
            <a:r>
              <a:rPr lang="en-US" sz="1800" dirty="0">
                <a:latin typeface="Helvetica for Target" panose="020B0504020202020204" pitchFamily="34" charset="77"/>
                <a:ea typeface="Helvetica for Target" panose="020B0504020202020204" pitchFamily="34" charset="77"/>
              </a:rPr>
              <a:t> leader dashboard, and then potentially again in spring 2026. </a:t>
            </a:r>
          </a:p>
          <a:p>
            <a:pPr>
              <a:lnSpc>
                <a:spcPct val="100000"/>
              </a:lnSpc>
            </a:pPr>
            <a:endParaRPr lang="en-US" sz="1800" dirty="0">
              <a:latin typeface="Helvetica for Target" panose="020B0504020202020204" pitchFamily="34" charset="77"/>
              <a:ea typeface="Helvetica for Target" panose="020B0504020202020204" pitchFamily="34" charset="77"/>
            </a:endParaRPr>
          </a:p>
          <a:p>
            <a:pPr>
              <a:lnSpc>
                <a:spcPct val="100000"/>
              </a:lnSpc>
            </a:pPr>
            <a:r>
              <a:rPr lang="en-US" sz="1800" dirty="0">
                <a:latin typeface="Helvetica for Target" panose="020B0504020202020204" pitchFamily="34" charset="77"/>
                <a:ea typeface="Helvetica for Target" panose="020B0504020202020204" pitchFamily="34" charset="77"/>
              </a:rPr>
              <a:t>We can consider adding a few new questions to the next survey specifically how the new leader dashboard has changed their experience.</a:t>
            </a:r>
          </a:p>
          <a:p>
            <a:pPr>
              <a:lnSpc>
                <a:spcPct val="100000"/>
              </a:lnSpc>
            </a:pPr>
            <a:endParaRPr lang="en-US" sz="1800" dirty="0">
              <a:latin typeface="Helvetica for Target" panose="020B0504020202020204" pitchFamily="34" charset="77"/>
              <a:ea typeface="Helvetica for Target" panose="020B0504020202020204" pitchFamily="34" charset="77"/>
            </a:endParaRPr>
          </a:p>
          <a:p>
            <a:pPr>
              <a:lnSpc>
                <a:spcPct val="100000"/>
              </a:lnSpc>
            </a:pPr>
            <a:r>
              <a:rPr lang="en-US" sz="1800" dirty="0">
                <a:latin typeface="Helvetica for Target" panose="020B0504020202020204" pitchFamily="34" charset="77"/>
                <a:ea typeface="Helvetica for Target" panose="020B0504020202020204" pitchFamily="34" charset="77"/>
              </a:rPr>
              <a:t>We will also continue to collect qualitative feedback directly from store leaders via interviews and feedback calls as well as monitor behavioral usage data.</a:t>
            </a:r>
          </a:p>
          <a:p>
            <a:pPr>
              <a:lnSpc>
                <a:spcPct val="100000"/>
              </a:lnSpc>
            </a:pPr>
            <a:endParaRPr lang="en-US" sz="1800" dirty="0">
              <a:latin typeface="Helvetica for Target" panose="020B0504020202020204" pitchFamily="34" charset="77"/>
              <a:ea typeface="Helvetica for Target" panose="020B0504020202020204" pitchFamily="34" charset="77"/>
            </a:endParaRPr>
          </a:p>
          <a:p>
            <a:pPr>
              <a:lnSpc>
                <a:spcPct val="100000"/>
              </a:lnSpc>
            </a:pPr>
            <a:endParaRPr lang="en-US" sz="1800" dirty="0">
              <a:latin typeface="Helvetica for Target" panose="020B0504020202020204" pitchFamily="34" charset="77"/>
              <a:ea typeface="Helvetica for Target" panose="020B0504020202020204" pitchFamily="34" charset="77"/>
            </a:endParaRPr>
          </a:p>
          <a:p>
            <a:pPr>
              <a:lnSpc>
                <a:spcPct val="100000"/>
              </a:lnSpc>
            </a:pPr>
            <a:endParaRPr lang="en-US" sz="1800" dirty="0">
              <a:latin typeface="Helvetica for Target" panose="020B0504020202020204" pitchFamily="34" charset="77"/>
              <a:ea typeface="Helvetica for Target" panose="020B0504020202020204" pitchFamily="34" charset="77"/>
            </a:endParaRPr>
          </a:p>
        </p:txBody>
      </p:sp>
      <p:sp>
        <p:nvSpPr>
          <p:cNvPr id="4" name="Title 4">
            <a:extLst>
              <a:ext uri="{FF2B5EF4-FFF2-40B4-BE49-F238E27FC236}">
                <a16:creationId xmlns:a16="http://schemas.microsoft.com/office/drawing/2014/main" id="{1E151BCB-F10C-172A-49A2-40B1BE9E35FA}"/>
              </a:ext>
            </a:extLst>
          </p:cNvPr>
          <p:cNvSpPr txBox="1">
            <a:spLocks/>
          </p:cNvSpPr>
          <p:nvPr/>
        </p:nvSpPr>
        <p:spPr>
          <a:xfrm>
            <a:off x="566924" y="4506284"/>
            <a:ext cx="10873011" cy="130791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a:lnSpc>
                <a:spcPct val="100000"/>
              </a:lnSpc>
            </a:pPr>
            <a:r>
              <a:rPr lang="en-US" sz="3600" b="1" dirty="0">
                <a:latin typeface="Helvetica for Target" panose="020B0504020202020204" pitchFamily="34" charset="77"/>
                <a:ea typeface="Helvetica for Target" panose="020B0504020202020204" pitchFamily="34" charset="77"/>
              </a:rPr>
              <a:t>Want more?</a:t>
            </a:r>
          </a:p>
        </p:txBody>
      </p:sp>
      <p:sp>
        <p:nvSpPr>
          <p:cNvPr id="6" name="Title 4">
            <a:extLst>
              <a:ext uri="{FF2B5EF4-FFF2-40B4-BE49-F238E27FC236}">
                <a16:creationId xmlns:a16="http://schemas.microsoft.com/office/drawing/2014/main" id="{B6132F52-DFDC-172D-EE2B-1DE1C7E4F703}"/>
              </a:ext>
            </a:extLst>
          </p:cNvPr>
          <p:cNvSpPr txBox="1">
            <a:spLocks/>
          </p:cNvSpPr>
          <p:nvPr/>
        </p:nvSpPr>
        <p:spPr>
          <a:xfrm>
            <a:off x="566925" y="5443868"/>
            <a:ext cx="10873011" cy="107451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a:lnSpc>
                <a:spcPct val="100000"/>
              </a:lnSpc>
            </a:pPr>
            <a:endParaRPr lang="en-US" sz="1800" dirty="0">
              <a:latin typeface="Helvetica for Target" panose="020B0504020202020204" pitchFamily="34" charset="77"/>
              <a:ea typeface="Helvetica for Target" panose="020B0504020202020204" pitchFamily="34" charset="77"/>
            </a:endParaRPr>
          </a:p>
          <a:p>
            <a:pPr>
              <a:lnSpc>
                <a:spcPct val="100000"/>
              </a:lnSpc>
            </a:pPr>
            <a:r>
              <a:rPr lang="en-US" sz="1800" dirty="0">
                <a:latin typeface="Helvetica for Target" panose="020B0504020202020204" pitchFamily="34" charset="77"/>
                <a:ea typeface="Helvetica for Target" panose="020B0504020202020204" pitchFamily="34" charset="77"/>
                <a:hlinkClick r:id="rId5"/>
              </a:rPr>
              <a:t>Leader Survey Open Ends_April 2025.xlsx</a:t>
            </a:r>
            <a:endParaRPr lang="en-US" sz="1800" dirty="0">
              <a:latin typeface="Helvetica for Target" panose="020B0504020202020204" pitchFamily="34" charset="77"/>
              <a:ea typeface="Helvetica for Target" panose="020B0504020202020204" pitchFamily="34" charset="77"/>
            </a:endParaRPr>
          </a:p>
          <a:p>
            <a:pPr>
              <a:lnSpc>
                <a:spcPct val="100000"/>
              </a:lnSpc>
            </a:pPr>
            <a:endParaRPr lang="en-US" sz="1800" dirty="0">
              <a:latin typeface="Helvetica for Target" panose="020B0504020202020204" pitchFamily="34" charset="77"/>
              <a:ea typeface="Helvetica for Target" panose="020B0504020202020204" pitchFamily="34" charset="77"/>
            </a:endParaRPr>
          </a:p>
          <a:p>
            <a:pPr>
              <a:lnSpc>
                <a:spcPct val="100000"/>
              </a:lnSpc>
            </a:pPr>
            <a:endParaRPr lang="en-US" sz="1800" dirty="0">
              <a:latin typeface="Helvetica for Target" panose="020B0504020202020204" pitchFamily="34" charset="77"/>
              <a:ea typeface="Helvetica for Target" panose="020B0504020202020204" pitchFamily="34" charset="77"/>
            </a:endParaRPr>
          </a:p>
        </p:txBody>
      </p:sp>
    </p:spTree>
    <p:extLst>
      <p:ext uri="{BB962C8B-B14F-4D97-AF65-F5344CB8AC3E}">
        <p14:creationId xmlns:p14="http://schemas.microsoft.com/office/powerpoint/2010/main" val="1084698848"/>
      </p:ext>
    </p:extLst>
  </p:cSld>
  <p:clrMapOvr>
    <a:masterClrMapping/>
  </p:clrMapOvr>
  <p:extLst>
    <p:ext uri="{6950BFC3-D8DA-4A85-94F7-54DA5524770B}">
      <p188:commentRel xmlns:p188="http://schemas.microsoft.com/office/powerpoint/2018/8/main" r:id="rId3"/>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7">
            <a:extLst>
              <a:ext uri="{FF2B5EF4-FFF2-40B4-BE49-F238E27FC236}">
                <a16:creationId xmlns:a16="http://schemas.microsoft.com/office/drawing/2014/main" id="{42FB366F-ED6D-4A94-C6F2-6587004862A3}"/>
              </a:ext>
              <a:ext uri="{C183D7F6-B498-43B3-948B-1728B52AA6E4}">
                <adec:decorative xmlns:adec="http://schemas.microsoft.com/office/drawing/2017/decorative" val="1"/>
              </a:ext>
            </a:extLst>
          </p:cNvPr>
          <p:cNvSpPr/>
          <p:nvPr/>
        </p:nvSpPr>
        <p:spPr>
          <a:xfrm>
            <a:off x="0" y="2184485"/>
            <a:ext cx="9088463" cy="1863465"/>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pic>
        <p:nvPicPr>
          <p:cNvPr id="4" name="Picture 3">
            <a:extLst>
              <a:ext uri="{FF2B5EF4-FFF2-40B4-BE49-F238E27FC236}">
                <a16:creationId xmlns:a16="http://schemas.microsoft.com/office/drawing/2014/main" id="{E8002DBD-4B2C-DD40-3F93-108586EB95B9}"/>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72929" y="231035"/>
            <a:ext cx="938464" cy="645839"/>
          </a:xfrm>
          <a:prstGeom prst="rect">
            <a:avLst/>
          </a:prstGeom>
        </p:spPr>
      </p:pic>
      <p:sp>
        <p:nvSpPr>
          <p:cNvPr id="5" name="TextBox 4">
            <a:extLst>
              <a:ext uri="{FF2B5EF4-FFF2-40B4-BE49-F238E27FC236}">
                <a16:creationId xmlns:a16="http://schemas.microsoft.com/office/drawing/2014/main" id="{502C4E93-FDEC-4294-CDD1-FAF1A5EA04E9}"/>
              </a:ext>
            </a:extLst>
          </p:cNvPr>
          <p:cNvSpPr txBox="1"/>
          <p:nvPr/>
        </p:nvSpPr>
        <p:spPr>
          <a:xfrm>
            <a:off x="621793" y="4276173"/>
            <a:ext cx="10061640" cy="861774"/>
          </a:xfrm>
          <a:prstGeom prst="rect">
            <a:avLst/>
          </a:prstGeom>
          <a:noFill/>
        </p:spPr>
        <p:txBody>
          <a:bodyPr wrap="square" rtlCol="0">
            <a:spAutoFit/>
          </a:bodyPr>
          <a:lstStyle/>
          <a:p>
            <a:r>
              <a:rPr lang="en-US" sz="1600">
                <a:solidFill>
                  <a:schemeClr val="bg1"/>
                </a:solidFill>
                <a:latin typeface="Helvetica for Target Medium" panose="020B0504020202020204" pitchFamily="34" charset="77"/>
                <a:ea typeface="Helvetica for Target Medium" panose="020B0504020202020204" pitchFamily="34" charset="77"/>
              </a:rPr>
              <a:t>Target UX Research</a:t>
            </a:r>
          </a:p>
          <a:p>
            <a:r>
              <a:rPr lang="en-US" sz="1600">
                <a:solidFill>
                  <a:schemeClr val="bg1"/>
                </a:solidFill>
                <a:latin typeface="Helvetica for Target Medium" panose="020B0504020202020204" pitchFamily="34" charset="77"/>
                <a:ea typeface="Helvetica for Target Medium" panose="020B0504020202020204" pitchFamily="34" charset="77"/>
              </a:rPr>
              <a:t>Date (Month / Year)</a:t>
            </a:r>
          </a:p>
          <a:p>
            <a:r>
              <a:rPr lang="en-US" sz="1600">
                <a:solidFill>
                  <a:schemeClr val="bg1"/>
                </a:solidFill>
                <a:latin typeface="Helvetica for Target Medium" panose="020B0504020202020204" pitchFamily="34" charset="77"/>
                <a:ea typeface="Helvetica for Target Medium" panose="020B0504020202020204" pitchFamily="34" charset="77"/>
              </a:rPr>
              <a:t>Team Members</a:t>
            </a:r>
          </a:p>
        </p:txBody>
      </p:sp>
      <p:sp>
        <p:nvSpPr>
          <p:cNvPr id="9" name="Title 1">
            <a:extLst>
              <a:ext uri="{FF2B5EF4-FFF2-40B4-BE49-F238E27FC236}">
                <a16:creationId xmlns:a16="http://schemas.microsoft.com/office/drawing/2014/main" id="{C68088CC-D3E1-F2AC-83DF-7A5E9926B19A}"/>
              </a:ext>
            </a:extLst>
          </p:cNvPr>
          <p:cNvSpPr>
            <a:spLocks noGrp="1"/>
          </p:cNvSpPr>
          <p:nvPr>
            <p:ph type="title"/>
          </p:nvPr>
        </p:nvSpPr>
        <p:spPr>
          <a:xfrm>
            <a:off x="566927" y="2614511"/>
            <a:ext cx="10113265" cy="928789"/>
          </a:xfrm>
        </p:spPr>
        <p:txBody>
          <a:bodyPr anchor="t">
            <a:noAutofit/>
          </a:bodyPr>
          <a:lstStyle/>
          <a:p>
            <a:pPr>
              <a:lnSpc>
                <a:spcPct val="100000"/>
              </a:lnSpc>
            </a:pPr>
            <a:r>
              <a:rPr lang="en-US" sz="6600" b="1" dirty="0">
                <a:solidFill>
                  <a:schemeClr val="bg1"/>
                </a:solidFill>
                <a:latin typeface="Helvetica for Target"/>
                <a:cs typeface="Calibri Light"/>
              </a:rPr>
              <a:t>Appendix</a:t>
            </a:r>
          </a:p>
        </p:txBody>
      </p:sp>
    </p:spTree>
    <p:extLst>
      <p:ext uri="{BB962C8B-B14F-4D97-AF65-F5344CB8AC3E}">
        <p14:creationId xmlns:p14="http://schemas.microsoft.com/office/powerpoint/2010/main" val="42890889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9DF89-E179-637C-35CE-565B0B8D50C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56A623C-D218-A8D3-721E-54E8F9CCBC8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217570" y="231035"/>
            <a:ext cx="938464" cy="645839"/>
          </a:xfrm>
          <a:prstGeom prst="rect">
            <a:avLst/>
          </a:prstGeom>
        </p:spPr>
      </p:pic>
      <p:sp>
        <p:nvSpPr>
          <p:cNvPr id="9" name="Title 4">
            <a:extLst>
              <a:ext uri="{FF2B5EF4-FFF2-40B4-BE49-F238E27FC236}">
                <a16:creationId xmlns:a16="http://schemas.microsoft.com/office/drawing/2014/main" id="{0823A47C-EAE9-A191-9983-A93D9DB861BB}"/>
              </a:ext>
            </a:extLst>
          </p:cNvPr>
          <p:cNvSpPr>
            <a:spLocks noGrp="1"/>
          </p:cNvSpPr>
          <p:nvPr>
            <p:ph type="title"/>
          </p:nvPr>
        </p:nvSpPr>
        <p:spPr>
          <a:xfrm>
            <a:off x="566927" y="1046568"/>
            <a:ext cx="10873011" cy="1307917"/>
          </a:xfrm>
        </p:spPr>
        <p:txBody>
          <a:bodyPr anchor="ctr">
            <a:noAutofit/>
          </a:bodyPr>
          <a:lstStyle/>
          <a:p>
            <a:pPr>
              <a:lnSpc>
                <a:spcPct val="100000"/>
              </a:lnSpc>
            </a:pPr>
            <a:r>
              <a:rPr lang="en-US" sz="3600" b="1" dirty="0">
                <a:latin typeface="Helvetica for Target" panose="020B0504020202020204" pitchFamily="34" charset="77"/>
                <a:ea typeface="Helvetica for Target" panose="020B0504020202020204" pitchFamily="34" charset="77"/>
              </a:rPr>
              <a:t>Research Plan</a:t>
            </a:r>
          </a:p>
        </p:txBody>
      </p:sp>
      <p:sp>
        <p:nvSpPr>
          <p:cNvPr id="2" name="Title 4">
            <a:extLst>
              <a:ext uri="{FF2B5EF4-FFF2-40B4-BE49-F238E27FC236}">
                <a16:creationId xmlns:a16="http://schemas.microsoft.com/office/drawing/2014/main" id="{715892A4-2A64-8721-10F8-2F2E6583C200}"/>
              </a:ext>
            </a:extLst>
          </p:cNvPr>
          <p:cNvSpPr txBox="1">
            <a:spLocks/>
          </p:cNvSpPr>
          <p:nvPr/>
        </p:nvSpPr>
        <p:spPr>
          <a:xfrm>
            <a:off x="566927" y="2127331"/>
            <a:ext cx="10873011" cy="45430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a:lnSpc>
                <a:spcPct val="100000"/>
              </a:lnSpc>
            </a:pPr>
            <a:r>
              <a:rPr lang="en-US" sz="1800" dirty="0">
                <a:latin typeface="Helvetica for Target" panose="020B0504020202020204" pitchFamily="34" charset="77"/>
                <a:ea typeface="Helvetica for Target" panose="020B0504020202020204" pitchFamily="34" charset="77"/>
                <a:hlinkClick r:id="rId4"/>
              </a:rPr>
              <a:t>Task Management Leader Survey.docx</a:t>
            </a:r>
            <a:endParaRPr lang="en-US" sz="1800" dirty="0">
              <a:latin typeface="Helvetica for Target" panose="020B0504020202020204" pitchFamily="34" charset="77"/>
              <a:ea typeface="Helvetica for Target" panose="020B0504020202020204" pitchFamily="34" charset="77"/>
            </a:endParaRPr>
          </a:p>
        </p:txBody>
      </p:sp>
      <p:sp>
        <p:nvSpPr>
          <p:cNvPr id="4" name="TextBox 3">
            <a:extLst>
              <a:ext uri="{FF2B5EF4-FFF2-40B4-BE49-F238E27FC236}">
                <a16:creationId xmlns:a16="http://schemas.microsoft.com/office/drawing/2014/main" id="{D139A5ED-6A30-3796-799C-85D989D41CED}"/>
              </a:ext>
            </a:extLst>
          </p:cNvPr>
          <p:cNvSpPr txBox="1"/>
          <p:nvPr/>
        </p:nvSpPr>
        <p:spPr>
          <a:xfrm>
            <a:off x="566925" y="3662401"/>
            <a:ext cx="8881662" cy="369332"/>
          </a:xfrm>
          <a:prstGeom prst="rect">
            <a:avLst/>
          </a:prstGeom>
          <a:noFill/>
        </p:spPr>
        <p:txBody>
          <a:bodyPr wrap="none" rtlCol="0">
            <a:spAutoFit/>
          </a:bodyPr>
          <a:lstStyle/>
          <a:p>
            <a:r>
              <a:rPr lang="en-US" dirty="0">
                <a:latin typeface="Helvetica for Target" panose="020B0504020202020204" pitchFamily="34" charset="77"/>
                <a:ea typeface="Helvetica for Target" panose="020B0504020202020204" pitchFamily="34" charset="77"/>
                <a:hlinkClick r:id="rId5"/>
              </a:rPr>
              <a:t>2025_04.01 WFM_Task Management Leader Tools Survey Communication Plan.docx</a:t>
            </a:r>
            <a:endParaRPr lang="en-US" dirty="0">
              <a:latin typeface="Helvetica for Target" panose="020B0504020202020204" pitchFamily="34" charset="77"/>
              <a:ea typeface="Helvetica for Target" panose="020B0504020202020204" pitchFamily="34" charset="77"/>
            </a:endParaRPr>
          </a:p>
        </p:txBody>
      </p:sp>
      <p:sp>
        <p:nvSpPr>
          <p:cNvPr id="5" name="Title 4">
            <a:extLst>
              <a:ext uri="{FF2B5EF4-FFF2-40B4-BE49-F238E27FC236}">
                <a16:creationId xmlns:a16="http://schemas.microsoft.com/office/drawing/2014/main" id="{FB08C94E-5FBC-100C-82BB-4D278E6A0613}"/>
              </a:ext>
            </a:extLst>
          </p:cNvPr>
          <p:cNvSpPr txBox="1">
            <a:spLocks/>
          </p:cNvSpPr>
          <p:nvPr/>
        </p:nvSpPr>
        <p:spPr>
          <a:xfrm>
            <a:off x="566926" y="2581638"/>
            <a:ext cx="10873011" cy="130791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a:lnSpc>
                <a:spcPct val="100000"/>
              </a:lnSpc>
            </a:pPr>
            <a:r>
              <a:rPr lang="en-US" sz="3600" b="1" dirty="0">
                <a:latin typeface="Helvetica for Target" panose="020B0504020202020204" pitchFamily="34" charset="77"/>
                <a:ea typeface="Helvetica for Target" panose="020B0504020202020204" pitchFamily="34" charset="77"/>
              </a:rPr>
              <a:t>Communication Plan</a:t>
            </a:r>
          </a:p>
        </p:txBody>
      </p:sp>
    </p:spTree>
    <p:extLst>
      <p:ext uri="{BB962C8B-B14F-4D97-AF65-F5344CB8AC3E}">
        <p14:creationId xmlns:p14="http://schemas.microsoft.com/office/powerpoint/2010/main" val="32847939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45e528e3-51e6-4d4d-b791-9a3fffa92327" xsi:nil="true"/>
    <Notes xmlns="a7a7e902-546f-45c8-a7b6-9613eb680e4e" xsi:nil="true"/>
    <Recommendedread_x003f_ xmlns="a7a7e902-546f-45c8-a7b6-9613eb680e4e" xsi:nil="true"/>
    <QuarterofCompletion xmlns="a7a7e902-546f-45c8-a7b6-9613eb680e4e" xsi:nil="true"/>
    <lcf76f155ced4ddcb4097134ff3c332f xmlns="a7a7e902-546f-45c8-a7b6-9613eb680e4e">
      <Terms xmlns="http://schemas.microsoft.com/office/infopath/2007/PartnerControls"/>
    </lcf76f155ced4ddcb4097134ff3c332f>
    <emow xmlns="a7a7e902-546f-45c8-a7b6-9613eb680e4e">
      <UserInfo>
        <DisplayName/>
        <AccountId xsi:nil="true"/>
        <AccountType/>
      </UserInfo>
    </emow>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B8B60C0F3980346BAEE716BBCB27833" ma:contentTypeVersion="27" ma:contentTypeDescription="Create a new document." ma:contentTypeScope="" ma:versionID="fdc7dcf9fd9e746b8993f2873497ddaa">
  <xsd:schema xmlns:xsd="http://www.w3.org/2001/XMLSchema" xmlns:xs="http://www.w3.org/2001/XMLSchema" xmlns:p="http://schemas.microsoft.com/office/2006/metadata/properties" xmlns:ns2="a7a7e902-546f-45c8-a7b6-9613eb680e4e" xmlns:ns3="45e528e3-51e6-4d4d-b791-9a3fffa92327" targetNamespace="http://schemas.microsoft.com/office/2006/metadata/properties" ma:root="true" ma:fieldsID="8c55768958496328ed6695fd41e3d2ce" ns2:_="" ns3:_="">
    <xsd:import namespace="a7a7e902-546f-45c8-a7b6-9613eb680e4e"/>
    <xsd:import namespace="45e528e3-51e6-4d4d-b791-9a3fffa92327"/>
    <xsd:element name="properties">
      <xsd:complexType>
        <xsd:sequence>
          <xsd:element name="documentManagement">
            <xsd:complexType>
              <xsd:all>
                <xsd:element ref="ns2:emow" minOccurs="0"/>
                <xsd:element ref="ns2:Notes" minOccurs="0"/>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3:SharedWithUsers" minOccurs="0"/>
                <xsd:element ref="ns3:SharedWithDetails" minOccurs="0"/>
                <xsd:element ref="ns2:MediaLengthInSeconds" minOccurs="0"/>
                <xsd:element ref="ns2:Recommendedread_x003f_" minOccurs="0"/>
                <xsd:element ref="ns2:lcf76f155ced4ddcb4097134ff3c332f" minOccurs="0"/>
                <xsd:element ref="ns3:TaxCatchAll" minOccurs="0"/>
                <xsd:element ref="ns2:QuarterofComple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7a7e902-546f-45c8-a7b6-9613eb680e4e" elementFormDefault="qualified">
    <xsd:import namespace="http://schemas.microsoft.com/office/2006/documentManagement/types"/>
    <xsd:import namespace="http://schemas.microsoft.com/office/infopath/2007/PartnerControls"/>
    <xsd:element name="emow" ma:index="2" nillable="true" ma:displayName="Number" ma:list="UserInfo" ma:internalName="emow"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Notes" ma:index="3" nillable="true" ma:displayName="Notes" ma:format="Dropdown" ma:internalName="Notes" ma:readOnly="false">
      <xsd:simpleType>
        <xsd:restriction base="dms:Note">
          <xsd:maxLength value="255"/>
        </xsd:restriction>
      </xsd:simple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hidden="true" ma:internalName="MediaServiceKeyPoints" ma:readOnly="true">
      <xsd:simpleType>
        <xsd:restriction base="dms:Note"/>
      </xsd:simpleType>
    </xsd:element>
    <xsd:element name="MediaServiceAutoTags" ma:index="12" nillable="true" ma:displayName="Tags" ma:hidden="true" ma:internalName="MediaServiceAutoTags" ma:readOnly="true">
      <xsd:simpleType>
        <xsd:restriction base="dms:Text"/>
      </xsd:simpleType>
    </xsd:element>
    <xsd:element name="MediaServiceOCR" ma:index="13" nillable="true" ma:displayName="Extracted Text" ma:hidden="true" ma:internalName="MediaServiceOCR"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hidden="true" ma:internalName="MediaServiceLocation" ma:readOnly="true">
      <xsd:simpleType>
        <xsd:restriction base="dms:Text"/>
      </xsd:simpleType>
    </xsd:element>
    <xsd:element name="MediaLengthInSeconds" ma:index="22" nillable="true" ma:displayName="Length (seconds)" ma:hidden="true" ma:internalName="MediaLengthInSeconds" ma:readOnly="true">
      <xsd:simpleType>
        <xsd:restriction base="dms:Unknown"/>
      </xsd:simpleType>
    </xsd:element>
    <xsd:element name="Recommendedread_x003f_" ma:index="23" nillable="true" ma:displayName="Recommended read?" ma:format="Dropdown" ma:internalName="Recommendedread_x003f_">
      <xsd:simpleType>
        <xsd:restriction base="dms:Text">
          <xsd:maxLength value="255"/>
        </xsd:restriction>
      </xsd:simpleType>
    </xsd:element>
    <xsd:element name="lcf76f155ced4ddcb4097134ff3c332f" ma:index="25" nillable="true" ma:taxonomy="true" ma:internalName="lcf76f155ced4ddcb4097134ff3c332f" ma:taxonomyFieldName="MediaServiceImageTags" ma:displayName="Image Tags" ma:readOnly="false" ma:fieldId="{5cf76f15-5ced-4ddc-b409-7134ff3c332f}" ma:taxonomyMulti="true" ma:sspId="c1efadb4-afc5-4cc6-8b8c-2b1d29ec773e" ma:termSetId="09814cd3-568e-fe90-9814-8d621ff8fb84" ma:anchorId="fba54fb3-c3e1-fe81-a776-ca4b69148c4d" ma:open="true" ma:isKeyword="false">
      <xsd:complexType>
        <xsd:sequence>
          <xsd:element ref="pc:Terms" minOccurs="0" maxOccurs="1"/>
        </xsd:sequence>
      </xsd:complexType>
    </xsd:element>
    <xsd:element name="QuarterofCompletion" ma:index="27" nillable="true" ma:displayName="Quarter of Completion" ma:format="Dropdown" ma:internalName="QuarterofCompletion">
      <xsd:simpleType>
        <xsd:restriction base="dms:Text">
          <xsd:maxLength value="255"/>
        </xsd:restriction>
      </xsd:simpleType>
    </xsd:element>
    <xsd:element name="MediaServiceObjectDetectorVersions" ma:index="28" nillable="true" ma:displayName="MediaServiceObjectDetectorVersions" ma:hidden="true" ma:indexed="true" ma:internalName="MediaServiceObjectDetectorVersions" ma:readOnly="true">
      <xsd:simpleType>
        <xsd:restriction base="dms:Text"/>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BillingMetadata" ma:index="30"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5e528e3-51e6-4d4d-b791-9a3fffa92327" elementFormDefault="qualified">
    <xsd:import namespace="http://schemas.microsoft.com/office/2006/documentManagement/types"/>
    <xsd:import namespace="http://schemas.microsoft.com/office/infopath/2007/PartnerControls"/>
    <xsd:element name="SharedWithUsers" ma:index="18"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hidden="true" ma:internalName="SharedWithDetails" ma:readOnly="true">
      <xsd:simpleType>
        <xsd:restriction base="dms:Note"/>
      </xsd:simpleType>
    </xsd:element>
    <xsd:element name="TaxCatchAll" ma:index="26" nillable="true" ma:displayName="Taxonomy Catch All Column" ma:hidden="true" ma:list="{9294eef8-7289-4c4b-af76-502fb3d6f919}" ma:internalName="TaxCatchAll" ma:showField="CatchAllData" ma:web="45e528e3-51e6-4d4d-b791-9a3fffa9232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A24F8A8-047D-4D2C-9A86-5FA9BBC151A3}">
  <ds:schemaRefs>
    <ds:schemaRef ds:uri="http://schemas.microsoft.com/sharepoint/v3/contenttype/forms"/>
  </ds:schemaRefs>
</ds:datastoreItem>
</file>

<file path=customXml/itemProps2.xml><?xml version="1.0" encoding="utf-8"?>
<ds:datastoreItem xmlns:ds="http://schemas.openxmlformats.org/officeDocument/2006/customXml" ds:itemID="{743B5C29-C0A1-4F09-B8B3-B65EABF852B1}">
  <ds:schemaRefs>
    <ds:schemaRef ds:uri="http://purl.org/dc/elements/1.1/"/>
    <ds:schemaRef ds:uri="http://schemas.microsoft.com/office/2006/documentManagement/types"/>
    <ds:schemaRef ds:uri="http://schemas.openxmlformats.org/package/2006/metadata/core-properties"/>
    <ds:schemaRef ds:uri="http://schemas.microsoft.com/office/infopath/2007/PartnerControls"/>
    <ds:schemaRef ds:uri="http://schemas.microsoft.com/office/2006/metadata/properties"/>
    <ds:schemaRef ds:uri="http://purl.org/dc/terms/"/>
    <ds:schemaRef ds:uri="45e528e3-51e6-4d4d-b791-9a3fffa92327"/>
    <ds:schemaRef ds:uri="a7a7e902-546f-45c8-a7b6-9613eb680e4e"/>
    <ds:schemaRef ds:uri="http://www.w3.org/XML/1998/namespace"/>
    <ds:schemaRef ds:uri="http://purl.org/dc/dcmitype/"/>
  </ds:schemaRefs>
</ds:datastoreItem>
</file>

<file path=customXml/itemProps3.xml><?xml version="1.0" encoding="utf-8"?>
<ds:datastoreItem xmlns:ds="http://schemas.openxmlformats.org/officeDocument/2006/customXml" ds:itemID="{D45605EB-E658-4C47-84F4-5133B5EE8CF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7a7e902-546f-45c8-a7b6-9613eb680e4e"/>
    <ds:schemaRef ds:uri="45e528e3-51e6-4d4d-b791-9a3fffa9232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13868</TotalTime>
  <Words>2199</Words>
  <Application>Microsoft Office PowerPoint</Application>
  <PresentationFormat>Widescreen</PresentationFormat>
  <Paragraphs>168</Paragraphs>
  <Slides>18</Slides>
  <Notes>15</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Store Leader  Daily Workload Management</vt:lpstr>
      <vt:lpstr>Survey Overview</vt:lpstr>
      <vt:lpstr>694 Store Leaders Represented</vt:lpstr>
      <vt:lpstr>For this survey, when we say “assessing and prioritizing daily workload” we mean the time you spend assessing and prioritizing what needs to be done by the team on the floor and/or the backroom on any given day.  This could mean assessing store brand, looking at trailer break out, writing daily assignment sheets, reading closing notes, reviewing relevant dashboards and reports, etc. when you arrive or throughout the day. This does not include tasks like weekly workload planning, writing work schedules, etc.</vt:lpstr>
      <vt:lpstr>Store Leaders currently spend on average  87 minutes a day  assessing and prioritizing daily workload. </vt:lpstr>
      <vt:lpstr>Store Leaders currently spend on average  9.2 hours a week assessing and prioritizing daily workload. </vt:lpstr>
      <vt:lpstr>The current process for assessing and prioritizing daily workload is effective and meets my needs.</vt:lpstr>
      <vt:lpstr>I can easily see all the necessary information I need to assess and prioritize my daily workload.</vt:lpstr>
      <vt:lpstr>I am confident in the decisions I make when assessing and prioritizing daily workload.</vt:lpstr>
      <vt:lpstr>What else, if anything, would you like to share with us about daily workload planning?</vt:lpstr>
      <vt:lpstr>Working with Incomplete Data</vt:lpstr>
      <vt:lpstr>Navigating Too Many Tools</vt:lpstr>
      <vt:lpstr>Time Management</vt:lpstr>
      <vt:lpstr>Device Inconsistencies</vt:lpstr>
      <vt:lpstr>PowerPoint Presentation</vt:lpstr>
      <vt:lpstr>What’s next?</vt:lpstr>
      <vt:lpstr>Appendix</vt:lpstr>
      <vt:lpstr>Research Plan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Julie.Coffman</cp:lastModifiedBy>
  <cp:revision>3</cp:revision>
  <dcterms:created xsi:type="dcterms:W3CDTF">2025-04-14T15:28:28Z</dcterms:created>
  <dcterms:modified xsi:type="dcterms:W3CDTF">2025-05-15T14:24:27Z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0x0101002B8B60C0F3980346BAEE716BBCB27833</vt:lpwstr>
  </property>
  <property fmtid="{D5CDD505-2E9C-101B-9397-08002B2CF9AE}" pid="3" name="MediaServiceImageTags">
    <vt:lpwstr/>
  </property>
</Properties>
</file>