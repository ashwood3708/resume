
<file path=[Content_Types].xml><?xml version="1.0" encoding="utf-8"?>
<Types xmlns="http://schemas.openxmlformats.org/package/2006/content-types">
  <Default Extension="mov" ContentType="video/quicktime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sldIdLst>
    <p:sldId id="712" r:id="rId5"/>
    <p:sldId id="717" r:id="rId6"/>
    <p:sldId id="722" r:id="rId7"/>
    <p:sldId id="724" r:id="rId8"/>
    <p:sldId id="725" r:id="rId9"/>
    <p:sldId id="723" r:id="rId10"/>
    <p:sldId id="6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515"/>
    <a:srgbClr val="F7F7F7"/>
    <a:srgbClr val="D6D6D6"/>
    <a:srgbClr val="333333"/>
    <a:srgbClr val="404040"/>
    <a:srgbClr val="CC0000"/>
    <a:srgbClr val="D5302F"/>
    <a:srgbClr val="A61E1E"/>
    <a:srgbClr val="E544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5066F3-0FDA-B444-B6EA-9809121EF191}" v="68" dt="2026-01-13T16:04:27.7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8"/>
    <p:restoredTop sz="95171"/>
  </p:normalViewPr>
  <p:slideViewPr>
    <p:cSldViewPr snapToGrid="0">
      <p:cViewPr varScale="1">
        <p:scale>
          <a:sx n="136" d="100"/>
          <a:sy n="136" d="100"/>
        </p:scale>
        <p:origin x="6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pil.Gangwal2" userId="d383e0fa-2a5a-4a69-966c-57df1820682c" providerId="ADAL" clId="{83F98760-0DA3-5888-AE7B-2BB928841195}"/>
    <pc:docChg chg="undo custSel modSld sldOrd">
      <pc:chgData name="Kapil.Gangwal2" userId="d383e0fa-2a5a-4a69-966c-57df1820682c" providerId="ADAL" clId="{83F98760-0DA3-5888-AE7B-2BB928841195}" dt="2026-01-13T16:04:54.251" v="217" actId="20577"/>
      <pc:docMkLst>
        <pc:docMk/>
      </pc:docMkLst>
      <pc:sldChg chg="modSp mod">
        <pc:chgData name="Kapil.Gangwal2" userId="d383e0fa-2a5a-4a69-966c-57df1820682c" providerId="ADAL" clId="{83F98760-0DA3-5888-AE7B-2BB928841195}" dt="2026-01-12T19:16:52.355" v="170" actId="1076"/>
        <pc:sldMkLst>
          <pc:docMk/>
          <pc:sldMk cId="2996832522" sldId="722"/>
        </pc:sldMkLst>
        <pc:spChg chg="mod">
          <ac:chgData name="Kapil.Gangwal2" userId="d383e0fa-2a5a-4a69-966c-57df1820682c" providerId="ADAL" clId="{83F98760-0DA3-5888-AE7B-2BB928841195}" dt="2026-01-12T19:16:52.355" v="170" actId="1076"/>
          <ac:spMkLst>
            <pc:docMk/>
            <pc:sldMk cId="2996832522" sldId="722"/>
            <ac:spMk id="6" creationId="{D868D034-2597-2088-9791-6B891019865D}"/>
          </ac:spMkLst>
        </pc:spChg>
      </pc:sldChg>
      <pc:sldChg chg="modSp mod">
        <pc:chgData name="Kapil.Gangwal2" userId="d383e0fa-2a5a-4a69-966c-57df1820682c" providerId="ADAL" clId="{83F98760-0DA3-5888-AE7B-2BB928841195}" dt="2026-01-13T16:04:54.251" v="217" actId="20577"/>
        <pc:sldMkLst>
          <pc:docMk/>
          <pc:sldMk cId="2886171379" sldId="723"/>
        </pc:sldMkLst>
        <pc:spChg chg="mod">
          <ac:chgData name="Kapil.Gangwal2" userId="d383e0fa-2a5a-4a69-966c-57df1820682c" providerId="ADAL" clId="{83F98760-0DA3-5888-AE7B-2BB928841195}" dt="2026-01-13T16:04:54.251" v="217" actId="20577"/>
          <ac:spMkLst>
            <pc:docMk/>
            <pc:sldMk cId="2886171379" sldId="723"/>
            <ac:spMk id="2" creationId="{16278CEB-D5BD-A6C4-6C4C-DDA05C18C08D}"/>
          </ac:spMkLst>
        </pc:spChg>
      </pc:sldChg>
      <pc:sldChg chg="ord">
        <pc:chgData name="Kapil.Gangwal2" userId="d383e0fa-2a5a-4a69-966c-57df1820682c" providerId="ADAL" clId="{83F98760-0DA3-5888-AE7B-2BB928841195}" dt="2026-01-12T19:20:36.772" v="171" actId="20578"/>
        <pc:sldMkLst>
          <pc:docMk/>
          <pc:sldMk cId="560349283" sldId="72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37BBFF-EAD1-4E39-91A3-2835AA69057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0A742-8B44-4536-BB43-5342A6A70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56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0A742-8B44-4536-BB43-5342A6A70E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04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FCFAE-F1F3-72A2-E35A-F420A2659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C9BDED-3C2B-FF94-B170-17EBCCC1B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1EE7E9-1878-1A5C-5464-45615D2B8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CD52D-830F-DE76-6970-B9D1EEBE5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0A742-8B44-4536-BB43-5342A6A70E1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307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48212-8C18-C31C-88A4-02F64B2B5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1221AA-9AF1-3687-919B-7B128A109A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87B788-05E2-0B5E-8829-C1E018A5C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14299-E612-5994-7B5C-6BB41CD859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0A742-8B44-4536-BB43-5342A6A70E1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657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6A72D-36A2-AC35-ECC1-DB97DD67B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F82FCF-7948-8858-689E-88A64FB0E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C25305-D7C2-FA84-42E9-E2F2AECE4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8ECEF-7AD2-C65A-94DE-D4E7E6D283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0A742-8B44-4536-BB43-5342A6A70E1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338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2DDB9-688B-E24F-D4C7-C10E6FB61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BB3E27-F426-1ACE-9F8C-8D0FA0E71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D9185C-3308-A257-A22D-6C93325F1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71476-1907-B7D6-DB2B-8CEDDEF04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0A742-8B44-4536-BB43-5342A6A70E1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42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15EC71-90FF-E1AB-0F47-5008817EB8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1B79766-9A6C-F17C-F4C6-1A7288819C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93585" y="6266458"/>
            <a:ext cx="495767" cy="49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47371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15EC71-90FF-E1AB-0F47-5008817EB8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85E58521-933F-889A-DC22-C9EAC305BB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93585" y="6266458"/>
            <a:ext cx="495767" cy="49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92076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C21D116B-A930-BCC9-285E-B9899C316B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593585" y="6266458"/>
            <a:ext cx="495767" cy="49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014165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"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8D4B72B-720C-B529-FB08-1CD207A667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93585" y="6266458"/>
            <a:ext cx="495767" cy="49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28102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IW25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468600-AE9A-9E08-1EC2-91CA7DA166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83001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409721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2656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93" r:id="rId2"/>
    <p:sldLayoutId id="2147483684" r:id="rId3"/>
    <p:sldLayoutId id="2147483691" r:id="rId4"/>
    <p:sldLayoutId id="2147483692" r:id="rId5"/>
    <p:sldLayoutId id="2147483694" r:id="rId6"/>
  </p:sldLayoutIdLst>
  <p:transition spd="med"/>
  <p:txStyles>
    <p:titleStyle>
      <a:lvl1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6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2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8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4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30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6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2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8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317500" marR="0" indent="-317500" algn="l" defTabSz="41275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635000" marR="0" indent="-317500" algn="l" defTabSz="41275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952500" marR="0" indent="-317500" algn="l" defTabSz="41275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270000" marR="0" indent="-317500" algn="l" defTabSz="41275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1587500" marR="0" indent="-317500" algn="l" defTabSz="41275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1905000" marR="0" indent="-317500" algn="l" defTabSz="41275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2222500" marR="0" indent="-317500" algn="l" defTabSz="41275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2540000" marR="0" indent="-317500" algn="l" defTabSz="41275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2857500" marR="0" indent="-317500" algn="l" defTabSz="41275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target.enterprise.slack.com/archives/C0A1EAH1WSG" TargetMode="External"/><Relationship Id="rId4" Type="http://schemas.openxmlformats.org/officeDocument/2006/relationships/hyperlink" Target="mailto:kapil.gangwal2@targe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A0666-57E7-3117-EC3D-4122E0891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E3B1E0-0C0F-2DDE-D843-CF04100AAAE2}"/>
              </a:ext>
            </a:extLst>
          </p:cNvPr>
          <p:cNvSpPr txBox="1"/>
          <p:nvPr/>
        </p:nvSpPr>
        <p:spPr>
          <a:xfrm>
            <a:off x="442027" y="1254955"/>
            <a:ext cx="5445940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 hangingPunct="0"/>
            <a:r>
              <a:rPr lang="en-US" sz="4000"/>
              <a:t>Dynamic Batching</a:t>
            </a:r>
            <a:endParaRPr lang="en-US" sz="4000" b="1">
              <a:solidFill>
                <a:srgbClr val="000000"/>
              </a:solidFill>
              <a:latin typeface="Helvetica for Target" panose="020B0504020202020204" pitchFamily="34" charset="77"/>
              <a:ea typeface="Helvetica for Target" panose="020B0504020202020204" pitchFamily="34" charset="77"/>
              <a:cs typeface="Helvetica Neue"/>
              <a:sym typeface="Helvetica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3D2EB1-001B-00FB-7FF3-89D27F0F16EB}"/>
              </a:ext>
            </a:extLst>
          </p:cNvPr>
          <p:cNvSpPr txBox="1"/>
          <p:nvPr/>
        </p:nvSpPr>
        <p:spPr>
          <a:xfrm>
            <a:off x="442027" y="4643119"/>
            <a:ext cx="5445940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 hangingPunct="0"/>
            <a:r>
              <a:rPr lang="en-US" sz="2000">
                <a:solidFill>
                  <a:srgbClr val="000000"/>
                </a:solidFill>
                <a:latin typeface="Helvetica for Target Light" panose="020B0304020202020204" pitchFamily="34" charset="77"/>
                <a:ea typeface="Helvetica for Target Light" panose="020B0304020202020204" pitchFamily="34" charset="77"/>
                <a:cs typeface="Helvetica Neue"/>
                <a:sym typeface="Helvetica Neue"/>
              </a:rPr>
              <a:t>Stores and Properties Innovation Week 2025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98E8EDC-1F3D-B33C-4E3F-A1C2647E2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80599" y="358117"/>
            <a:ext cx="1955800" cy="1955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E56DD0-B539-FC75-2591-D77FEFF25C35}"/>
              </a:ext>
            </a:extLst>
          </p:cNvPr>
          <p:cNvSpPr txBox="1"/>
          <p:nvPr/>
        </p:nvSpPr>
        <p:spPr>
          <a:xfrm>
            <a:off x="442027" y="2012233"/>
            <a:ext cx="5445940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 hangingPunct="0"/>
            <a:r>
              <a:rPr lang="en-US" sz="2000" b="1"/>
              <a:t>Idea Owner</a:t>
            </a:r>
            <a:r>
              <a:rPr lang="en-US" sz="2000" i="1"/>
              <a:t>: Kapil Gangwal</a:t>
            </a:r>
            <a:endParaRPr lang="en-US" sz="2000">
              <a:solidFill>
                <a:srgbClr val="000000"/>
              </a:solidFill>
              <a:latin typeface="Helvetica for Target Light" panose="020B0304020202020204" pitchFamily="34" charset="77"/>
              <a:ea typeface="Helvetica for Target Light" panose="020B0304020202020204" pitchFamily="34" charset="77"/>
              <a:cs typeface="Helvetica Neue"/>
              <a:sym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361380-C118-F156-A03F-1DE5C478F7EC}"/>
              </a:ext>
            </a:extLst>
          </p:cNvPr>
          <p:cNvSpPr txBox="1"/>
          <p:nvPr/>
        </p:nvSpPr>
        <p:spPr>
          <a:xfrm>
            <a:off x="442027" y="2859919"/>
            <a:ext cx="5445940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 hangingPunct="0"/>
            <a:r>
              <a:rPr lang="en-US" sz="2000" b="1" dirty="0"/>
              <a:t>Collaborators</a:t>
            </a:r>
            <a:r>
              <a:rPr lang="en-US" sz="2000" dirty="0"/>
              <a:t>:</a:t>
            </a:r>
          </a:p>
          <a:p>
            <a:pPr marL="342900" indent="-342900" defTabSz="825500" hangingPunct="0">
              <a:buFont typeface="Arial" panose="020B0604020202020204" pitchFamily="34" charset="0"/>
              <a:buChar char="•"/>
            </a:pPr>
            <a:r>
              <a:rPr lang="en-US" sz="2000" dirty="0"/>
              <a:t>Grant Nafziger </a:t>
            </a:r>
            <a:r>
              <a:rPr lang="en-US" sz="2000"/>
              <a:t>(Betamax)</a:t>
            </a:r>
            <a:endParaRPr lang="en-US" sz="2000" dirty="0"/>
          </a:p>
          <a:p>
            <a:pPr marL="342900" indent="-342900" defTabSz="825500" hangingPunct="0">
              <a:buFont typeface="Arial" panose="020B0604020202020204" pitchFamily="34" charset="0"/>
              <a:buChar char="•"/>
            </a:pPr>
            <a:r>
              <a:rPr lang="en-US" sz="2000" dirty="0"/>
              <a:t>Matthew Witte (WOPr)</a:t>
            </a:r>
          </a:p>
          <a:p>
            <a:pPr marL="342900" indent="-342900" defTabSz="825500" hangingPunct="0">
              <a:buFont typeface="Arial" panose="020B0604020202020204" pitchFamily="34" charset="0"/>
              <a:buChar char="•"/>
            </a:pPr>
            <a:r>
              <a:rPr lang="en-US" sz="2000" dirty="0"/>
              <a:t>Kapil Gangwal (WOPr)</a:t>
            </a:r>
          </a:p>
        </p:txBody>
      </p:sp>
    </p:spTree>
    <p:extLst>
      <p:ext uri="{BB962C8B-B14F-4D97-AF65-F5344CB8AC3E}">
        <p14:creationId xmlns:p14="http://schemas.microsoft.com/office/powerpoint/2010/main" val="308923178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95578-1869-43FF-9475-875714F9B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693613-0454-0C1C-1327-17D57D55F460}"/>
              </a:ext>
            </a:extLst>
          </p:cNvPr>
          <p:cNvSpPr txBox="1"/>
          <p:nvPr/>
        </p:nvSpPr>
        <p:spPr>
          <a:xfrm>
            <a:off x="450119" y="437063"/>
            <a:ext cx="10397990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 hangingPunct="0"/>
            <a:r>
              <a:rPr lang="en-US" sz="2800"/>
              <a:t>What Is Batching &amp; What Problem Are We Solving?</a:t>
            </a:r>
            <a:endParaRPr kumimoji="0" lang="en-US" sz="28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for Target" panose="020B0504020202020204" pitchFamily="34" charset="77"/>
              <a:ea typeface="Helvetica for Target" panose="020B0504020202020204" pitchFamily="34" charset="77"/>
              <a:cs typeface="Helvetica Neue"/>
              <a:sym typeface="Helvetica Neue"/>
            </a:endParaRPr>
          </a:p>
        </p:txBody>
      </p:sp>
      <p:sp>
        <p:nvSpPr>
          <p:cNvPr id="7" name="Rectangle: Rounded Corners 38">
            <a:extLst>
              <a:ext uri="{FF2B5EF4-FFF2-40B4-BE49-F238E27FC236}">
                <a16:creationId xmlns:a16="http://schemas.microsoft.com/office/drawing/2014/main" id="{4E9D7FCA-D830-979D-51F4-B362889F39BA}"/>
              </a:ext>
            </a:extLst>
          </p:cNvPr>
          <p:cNvSpPr/>
          <p:nvPr/>
        </p:nvSpPr>
        <p:spPr>
          <a:xfrm>
            <a:off x="1806301" y="1865784"/>
            <a:ext cx="3603832" cy="4074132"/>
          </a:xfrm>
          <a:prstGeom prst="roundRect">
            <a:avLst>
              <a:gd name="adj" fmla="val 10353"/>
            </a:avLst>
          </a:prstGeom>
          <a:solidFill>
            <a:srgbClr val="F7F7F7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0" rIns="91440" bIns="0" numCol="1" spcCol="38100" rtlCol="0" anchor="t">
            <a:noAutofit/>
          </a:bodyPr>
          <a:lstStyle/>
          <a:p>
            <a:pPr algn="ctr" defTabSz="825500" hangingPunct="0">
              <a:spcBef>
                <a:spcPts val="1200"/>
              </a:spcBef>
            </a:pPr>
            <a:r>
              <a:rPr lang="en-US" sz="2000" b="1" dirty="0"/>
              <a:t>What is a Batching?</a:t>
            </a:r>
          </a:p>
          <a:p>
            <a:pPr algn="ctr" defTabSz="825500" hangingPunct="0">
              <a:spcBef>
                <a:spcPts val="1200"/>
              </a:spcBef>
            </a:pPr>
            <a:endParaRPr lang="en-US" sz="2000" dirty="0"/>
          </a:p>
          <a:p>
            <a:pPr marL="171450" indent="-171450" algn="just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Batching groups guest order items into optimized sets — called batches — based on rules like max orders, items, weight, volume etc.</a:t>
            </a:r>
          </a:p>
          <a:p>
            <a:pPr marL="171450" indent="-171450" algn="just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WOPr creates and prioritizes these batches, and TMs pick them using </a:t>
            </a:r>
            <a:r>
              <a:rPr lang="en-US" sz="1200" spc="3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ePick</a:t>
            </a: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 app.</a:t>
            </a:r>
          </a:p>
          <a:p>
            <a:pPr marL="171450" indent="-171450" algn="just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Goal: Reduce walking trips, More dense batches to improve pick efficiency.</a:t>
            </a:r>
          </a:p>
        </p:txBody>
      </p:sp>
      <p:sp>
        <p:nvSpPr>
          <p:cNvPr id="2" name="Rectangle: Rounded Corners 38">
            <a:extLst>
              <a:ext uri="{FF2B5EF4-FFF2-40B4-BE49-F238E27FC236}">
                <a16:creationId xmlns:a16="http://schemas.microsoft.com/office/drawing/2014/main" id="{1E023BE8-3D16-F7C0-DDC1-A7D1FF182808}"/>
              </a:ext>
            </a:extLst>
          </p:cNvPr>
          <p:cNvSpPr/>
          <p:nvPr/>
        </p:nvSpPr>
        <p:spPr>
          <a:xfrm>
            <a:off x="6781867" y="1710930"/>
            <a:ext cx="3603832" cy="4074132"/>
          </a:xfrm>
          <a:prstGeom prst="roundRect">
            <a:avLst>
              <a:gd name="adj" fmla="val 10353"/>
            </a:avLst>
          </a:prstGeom>
          <a:solidFill>
            <a:srgbClr val="F7F7F7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0" rIns="91440" bIns="0" numCol="1" spcCol="38100" rtlCol="0" anchor="t">
            <a:noAutofit/>
          </a:bodyPr>
          <a:lstStyle/>
          <a:p>
            <a:pPr algn="ctr" defTabSz="825500" hangingPunct="0">
              <a:spcBef>
                <a:spcPts val="1200"/>
              </a:spcBef>
            </a:pPr>
            <a:r>
              <a:rPr lang="en-US" sz="2000" b="1" spc="30">
                <a:latin typeface="Helvetica for Target" panose="020B0504020202020204" pitchFamily="34" charset="77"/>
                <a:ea typeface="Helvetica for Target" panose="020B0504020202020204" pitchFamily="34" charset="77"/>
                <a:sym typeface="Helvetica Neue Medium"/>
              </a:rPr>
              <a:t>The Problem</a:t>
            </a:r>
          </a:p>
          <a:p>
            <a:pPr algn="ctr" defTabSz="825500" hangingPunct="0">
              <a:spcBef>
                <a:spcPts val="1200"/>
              </a:spcBef>
            </a:pPr>
            <a:endParaRPr lang="en-US" sz="2000" spc="30">
              <a:latin typeface="Helvetica for Target" panose="020B0504020202020204" pitchFamily="34" charset="77"/>
              <a:ea typeface="Helvetica for Target" panose="020B0504020202020204" pitchFamily="34" charset="77"/>
              <a:sym typeface="Helvetica Neue Medium"/>
            </a:endParaRPr>
          </a:p>
          <a:p>
            <a:pPr marL="171450" indent="-17145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Once a TM claims a batch, no additional items can be added, even if there’s still cart space and plenty of time before SLA.</a:t>
            </a:r>
          </a:p>
          <a:p>
            <a:pPr marL="171450" indent="-17145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This forces TMs to: </a:t>
            </a:r>
          </a:p>
          <a:p>
            <a:pPr marL="628650" lvl="1" indent="-17145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Return to PTH/SHIP </a:t>
            </a:r>
          </a:p>
          <a:p>
            <a:pPr marL="628650" lvl="1" indent="-17145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Claim a brand-new batch </a:t>
            </a:r>
          </a:p>
          <a:p>
            <a:pPr marL="628650" lvl="1" indent="-17145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Walk the floor again for items they could have picked in the same trip</a:t>
            </a:r>
          </a:p>
          <a:p>
            <a:pPr marL="171450" indent="-17145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Result: Extra travel, Underutilized carts, and Lost efficiency. </a:t>
            </a:r>
          </a:p>
        </p:txBody>
      </p:sp>
      <p:pic>
        <p:nvPicPr>
          <p:cNvPr id="11" name="Picture 10" descr="A red shopping cart with food items on it&#10;&#10;AI-generated content may be incorrect.">
            <a:extLst>
              <a:ext uri="{FF2B5EF4-FFF2-40B4-BE49-F238E27FC236}">
                <a16:creationId xmlns:a16="http://schemas.microsoft.com/office/drawing/2014/main" id="{33D1EC2C-0BD5-741F-CB63-B7F9D337EC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20335">
            <a:off x="828893" y="1051142"/>
            <a:ext cx="1429758" cy="14297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803AE6-0324-FB8D-1CE3-45417464F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3822" y="1131713"/>
            <a:ext cx="1134566" cy="113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4079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06E3E-7DCB-3E53-F9D6-9108D0AC1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8B744C-FE60-124D-5751-5716D70F0594}"/>
              </a:ext>
            </a:extLst>
          </p:cNvPr>
          <p:cNvSpPr txBox="1"/>
          <p:nvPr/>
        </p:nvSpPr>
        <p:spPr>
          <a:xfrm>
            <a:off x="450118" y="437062"/>
            <a:ext cx="9734405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2800"/>
              <a:t>The Dynamic Batching Idea</a:t>
            </a:r>
          </a:p>
        </p:txBody>
      </p:sp>
      <p:sp>
        <p:nvSpPr>
          <p:cNvPr id="7" name="Rectangle: Rounded Corners 38">
            <a:extLst>
              <a:ext uri="{FF2B5EF4-FFF2-40B4-BE49-F238E27FC236}">
                <a16:creationId xmlns:a16="http://schemas.microsoft.com/office/drawing/2014/main" id="{2F950FAF-B793-4470-60FB-D4F0E54324D6}"/>
              </a:ext>
            </a:extLst>
          </p:cNvPr>
          <p:cNvSpPr/>
          <p:nvPr/>
        </p:nvSpPr>
        <p:spPr>
          <a:xfrm>
            <a:off x="1790561" y="1334482"/>
            <a:ext cx="8051939" cy="4877747"/>
          </a:xfrm>
          <a:prstGeom prst="roundRect">
            <a:avLst>
              <a:gd name="adj" fmla="val 10353"/>
            </a:avLst>
          </a:prstGeom>
          <a:solidFill>
            <a:srgbClr val="F7F7F7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0" rIns="91440" bIns="0" numCol="1" spcCol="38100" rtlCol="0" anchor="t">
            <a:noAutofit/>
          </a:bodyPr>
          <a:lstStyle/>
          <a:p>
            <a:pPr defTabSz="825500" hangingPunct="0">
              <a:spcBef>
                <a:spcPts val="1200"/>
              </a:spcBef>
            </a:pPr>
            <a:r>
              <a:rPr lang="en-US" sz="1600" dirty="0"/>
              <a:t>The Concept</a:t>
            </a:r>
          </a:p>
          <a:p>
            <a:pPr defTabSz="825500" hangingPunct="0">
              <a:spcBef>
                <a:spcPts val="1200"/>
              </a:spcBef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Give TMs a simple, optional way to pick a few more nearby items while they’re already on the floor.</a:t>
            </a:r>
          </a:p>
          <a:p>
            <a:pPr defTabSz="825500" hangingPunct="0">
              <a:spcBef>
                <a:spcPts val="1200"/>
              </a:spcBef>
            </a:pPr>
            <a:r>
              <a:rPr lang="en-US" sz="1600" dirty="0"/>
              <a:t>How It Works</a:t>
            </a:r>
          </a:p>
          <a:p>
            <a:pPr marL="171450" indent="-17145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When a TM finishes picking a batch, A new button appears asking TM: “Can you pick more items?”</a:t>
            </a:r>
          </a:p>
          <a:p>
            <a:pPr marL="171450" indent="-17145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TM can say Yes or No — full flexibility.</a:t>
            </a:r>
          </a:p>
          <a:p>
            <a:pPr marL="228600" indent="-22860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If TM selects Yes → </a:t>
            </a:r>
          </a:p>
          <a:p>
            <a:pPr marL="685800" lvl="1" indent="-22860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WOPr provides a small set of additional items.</a:t>
            </a:r>
          </a:p>
          <a:p>
            <a:pPr lvl="1" defTabSz="825500" hangingPunct="0">
              <a:spcBef>
                <a:spcPts val="1200"/>
              </a:spcBef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	(for prototype we used </a:t>
            </a:r>
            <a:r>
              <a:rPr lang="en-US" sz="1200" spc="3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WOPr’s</a:t>
            </a: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 existing claim endpoints)</a:t>
            </a:r>
          </a:p>
          <a:p>
            <a:pPr marL="685800" lvl="1" indent="-22860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TM picks those items into the same cart, in the same trip.</a:t>
            </a:r>
          </a:p>
          <a:p>
            <a:pPr marL="685800" lvl="1" indent="-22860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In the same flow TM can select more items or end.</a:t>
            </a:r>
            <a:endParaRPr lang="en-US" sz="1600" dirty="0"/>
          </a:p>
          <a:p>
            <a:pPr defTabSz="825500" hangingPunct="0">
              <a:spcBef>
                <a:spcPts val="1200"/>
              </a:spcBef>
            </a:pPr>
            <a:endParaRPr lang="en-US" sz="1200" b="1" spc="30" dirty="0">
              <a:solidFill>
                <a:schemeClr val="tx1">
                  <a:lumMod val="75000"/>
                  <a:lumOff val="25000"/>
                </a:schemeClr>
              </a:solidFill>
              <a:latin typeface="Helvetica for Target Thin" panose="020B0404020202020204" pitchFamily="34" charset="0"/>
              <a:ea typeface="Helvetica for Target Thin" panose="020B0404020202020204" pitchFamily="34" charset="0"/>
            </a:endParaRPr>
          </a:p>
        </p:txBody>
      </p:sp>
      <p:pic>
        <p:nvPicPr>
          <p:cNvPr id="4" name="Picture 3" descr="A black and red light bulb with white text&#10;&#10;Description automatically generated">
            <a:extLst>
              <a:ext uri="{FF2B5EF4-FFF2-40B4-BE49-F238E27FC236}">
                <a16:creationId xmlns:a16="http://schemas.microsoft.com/office/drawing/2014/main" id="{966FBB3C-548D-7D4D-377A-45FEEEF9D4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3641"/>
          <a:stretch/>
        </p:blipFill>
        <p:spPr>
          <a:xfrm rot="9585378" flipV="1">
            <a:off x="714462" y="1204727"/>
            <a:ext cx="1110880" cy="1726252"/>
          </a:xfrm>
          <a:prstGeom prst="rect">
            <a:avLst/>
          </a:prstGeom>
          <a:noFill/>
        </p:spPr>
      </p:pic>
      <p:sp>
        <p:nvSpPr>
          <p:cNvPr id="6" name="Rectangle: Rounded Corners 38">
            <a:extLst>
              <a:ext uri="{FF2B5EF4-FFF2-40B4-BE49-F238E27FC236}">
                <a16:creationId xmlns:a16="http://schemas.microsoft.com/office/drawing/2014/main" id="{D868D034-2597-2088-9791-6B891019865D}"/>
              </a:ext>
            </a:extLst>
          </p:cNvPr>
          <p:cNvSpPr/>
          <p:nvPr/>
        </p:nvSpPr>
        <p:spPr>
          <a:xfrm>
            <a:off x="7799387" y="3205190"/>
            <a:ext cx="3044826" cy="2195485"/>
          </a:xfrm>
          <a:prstGeom prst="roundRect">
            <a:avLst>
              <a:gd name="adj" fmla="val 10353"/>
            </a:avLst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0" rIns="91440" bIns="0" numCol="1" spcCol="38100" rtlCol="0" anchor="t">
            <a:noAutofit/>
          </a:bodyPr>
          <a:lstStyle/>
          <a:p>
            <a:pPr defTabSz="825500" hangingPunct="0">
              <a:spcBef>
                <a:spcPts val="1200"/>
              </a:spcBef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WOPr provides a small set of additional items that:</a:t>
            </a:r>
          </a:p>
          <a:p>
            <a:pPr marL="171450" indent="-17145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Do not exceed cart weight/volume limits</a:t>
            </a:r>
          </a:p>
          <a:p>
            <a:pPr marL="171450" indent="-17145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Do not risk SLA performance</a:t>
            </a:r>
          </a:p>
          <a:p>
            <a:pPr marL="171450" indent="-17145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Are close to the TM’s current location (using existing item coordinates)</a:t>
            </a:r>
          </a:p>
          <a:p>
            <a:pPr defTabSz="825500" hangingPunct="0">
              <a:spcBef>
                <a:spcPts val="1200"/>
              </a:spcBef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9683252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873F4-E2C1-47E1-6B4E-90927FA36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B09B00-6EA4-127D-FF33-E4802D2AA555}"/>
              </a:ext>
            </a:extLst>
          </p:cNvPr>
          <p:cNvSpPr txBox="1"/>
          <p:nvPr/>
        </p:nvSpPr>
        <p:spPr>
          <a:xfrm>
            <a:off x="450118" y="221618"/>
            <a:ext cx="4384641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2800"/>
              <a:t>Prototype Demo </a:t>
            </a:r>
          </a:p>
          <a:p>
            <a:r>
              <a:rPr lang="en-US" sz="2800"/>
              <a:t>(Innovation Week Build)</a:t>
            </a:r>
          </a:p>
        </p:txBody>
      </p:sp>
      <p:sp>
        <p:nvSpPr>
          <p:cNvPr id="7" name="Rectangle: Rounded Corners 38">
            <a:extLst>
              <a:ext uri="{FF2B5EF4-FFF2-40B4-BE49-F238E27FC236}">
                <a16:creationId xmlns:a16="http://schemas.microsoft.com/office/drawing/2014/main" id="{A2D2FC06-AC42-B06C-026E-14846285F880}"/>
              </a:ext>
            </a:extLst>
          </p:cNvPr>
          <p:cNvSpPr/>
          <p:nvPr/>
        </p:nvSpPr>
        <p:spPr>
          <a:xfrm>
            <a:off x="1339155" y="2426578"/>
            <a:ext cx="2606565" cy="3541382"/>
          </a:xfrm>
          <a:prstGeom prst="roundRect">
            <a:avLst>
              <a:gd name="adj" fmla="val 10353"/>
            </a:avLst>
          </a:prstGeom>
          <a:solidFill>
            <a:srgbClr val="F7F7F7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0" rIns="91440" bIns="0" numCol="1" spcCol="38100" rtlCol="0" anchor="t">
            <a:noAutofit/>
          </a:bodyPr>
          <a:lstStyle/>
          <a:p>
            <a:pPr defTabSz="825500" hangingPunct="0">
              <a:spcBef>
                <a:spcPts val="1200"/>
              </a:spcBef>
            </a:pPr>
            <a:r>
              <a:rPr lang="en-US" sz="1600" dirty="0"/>
              <a:t>What You’ll See</a:t>
            </a:r>
          </a:p>
          <a:p>
            <a:pPr marL="228600" indent="-22860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A quick walkthrough of our Innovation Week prototype showing how the “Do more work right now?” flow works end-to-end.</a:t>
            </a:r>
          </a:p>
          <a:p>
            <a:pPr marL="228600" indent="-22860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This version is not polished and needs refinement before any real store testing — but it proves the core concept and shows how Dynamic Batching could work in practice.</a:t>
            </a:r>
          </a:p>
          <a:p>
            <a:pPr marL="228600" indent="-228600" defTabSz="825500" hangingPunct="0">
              <a:spcBef>
                <a:spcPts val="1200"/>
              </a:spcBef>
              <a:buFont typeface="+mj-lt"/>
              <a:buAutoNum type="arabicPeriod"/>
            </a:pPr>
            <a:endParaRPr lang="en-US" sz="1200" b="1" spc="30" dirty="0">
              <a:solidFill>
                <a:schemeClr val="tx1">
                  <a:lumMod val="75000"/>
                  <a:lumOff val="25000"/>
                </a:schemeClr>
              </a:solidFill>
              <a:latin typeface="Helvetica for Target Thin" panose="020B0404020202020204" pitchFamily="34" charset="0"/>
              <a:ea typeface="Helvetica for Target Thin" panose="020B0404020202020204" pitchFamily="34" charset="0"/>
            </a:endParaRPr>
          </a:p>
          <a:p>
            <a:pPr defTabSz="825500" hangingPunct="0">
              <a:spcBef>
                <a:spcPts val="1200"/>
              </a:spcBef>
            </a:pPr>
            <a:endParaRPr lang="en-US" sz="1200" b="1" spc="30" dirty="0">
              <a:solidFill>
                <a:schemeClr val="tx1">
                  <a:lumMod val="75000"/>
                  <a:lumOff val="25000"/>
                </a:schemeClr>
              </a:solidFill>
              <a:latin typeface="Helvetica for Target Thin" panose="020B0404020202020204" pitchFamily="34" charset="0"/>
              <a:ea typeface="Helvetica for Target Thin" panose="020B0404020202020204" pitchFamily="34" charset="0"/>
            </a:endParaRPr>
          </a:p>
        </p:txBody>
      </p:sp>
      <p:pic>
        <p:nvPicPr>
          <p:cNvPr id="2" name="Picture 1" descr="A hand holding a phone&#10;&#10;AI-generated content may be incorrect.">
            <a:extLst>
              <a:ext uri="{FF2B5EF4-FFF2-40B4-BE49-F238E27FC236}">
                <a16:creationId xmlns:a16="http://schemas.microsoft.com/office/drawing/2014/main" id="{B76139E8-F65C-5A44-27E0-0840F57FA4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11" y="1575727"/>
            <a:ext cx="1128972" cy="1206451"/>
          </a:xfrm>
          <a:prstGeom prst="rect">
            <a:avLst/>
          </a:prstGeom>
        </p:spPr>
      </p:pic>
      <p:pic>
        <p:nvPicPr>
          <p:cNvPr id="3" name="Dynamic Batching Flow.mov">
            <a:hlinkClick r:id="" action="ppaction://media"/>
            <a:extLst>
              <a:ext uri="{FF2B5EF4-FFF2-40B4-BE49-F238E27FC236}">
                <a16:creationId xmlns:a16="http://schemas.microsoft.com/office/drawing/2014/main" id="{CFA41B34-30CD-C72D-4FD1-47BFD50F8D6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369270" y="45717"/>
            <a:ext cx="4088524" cy="643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3492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65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3E5F0-9369-E911-1E49-F3599C898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C3EAF1-1EA6-2B16-3210-A067EF3BB1E9}"/>
              </a:ext>
            </a:extLst>
          </p:cNvPr>
          <p:cNvSpPr txBox="1"/>
          <p:nvPr/>
        </p:nvSpPr>
        <p:spPr>
          <a:xfrm>
            <a:off x="450118" y="437062"/>
            <a:ext cx="9734405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2800"/>
              <a:t>Benefits of Dynamic Batching</a:t>
            </a:r>
          </a:p>
        </p:txBody>
      </p:sp>
      <p:sp>
        <p:nvSpPr>
          <p:cNvPr id="2" name="Rectangle: Rounded Corners 38">
            <a:extLst>
              <a:ext uri="{FF2B5EF4-FFF2-40B4-BE49-F238E27FC236}">
                <a16:creationId xmlns:a16="http://schemas.microsoft.com/office/drawing/2014/main" id="{C37AD1C7-D2F8-3D85-488E-CC511BBECAEC}"/>
              </a:ext>
            </a:extLst>
          </p:cNvPr>
          <p:cNvSpPr/>
          <p:nvPr/>
        </p:nvSpPr>
        <p:spPr>
          <a:xfrm>
            <a:off x="1855812" y="1237280"/>
            <a:ext cx="8807670" cy="4956505"/>
          </a:xfrm>
          <a:prstGeom prst="roundRect">
            <a:avLst>
              <a:gd name="adj" fmla="val 10353"/>
            </a:avLst>
          </a:prstGeom>
          <a:solidFill>
            <a:srgbClr val="F7F7F7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0" rIns="91440" bIns="0" numCol="1" spcCol="38100" rtlCol="0" anchor="t">
            <a:noAutofit/>
          </a:bodyPr>
          <a:lstStyle/>
          <a:p>
            <a:pPr defTabSz="825500" hangingPunct="0">
              <a:spcBef>
                <a:spcPts val="1200"/>
              </a:spcBef>
            </a:pPr>
            <a:r>
              <a:rPr lang="en-US" sz="1600" dirty="0"/>
              <a:t>Increased Efficiency</a:t>
            </a:r>
          </a:p>
          <a:p>
            <a:pPr marL="171450" indent="-17145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TMs can pick more items while already on the floor → fewer total trips.</a:t>
            </a:r>
          </a:p>
          <a:p>
            <a:pPr marL="171450" indent="-17145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This creates a human-in-the-loop enhancement to maximize batching efficiency.</a:t>
            </a:r>
          </a:p>
          <a:p>
            <a:pPr defTabSz="825500" hangingPunct="0">
              <a:spcBef>
                <a:spcPts val="1200"/>
              </a:spcBef>
            </a:pPr>
            <a:r>
              <a:rPr lang="en-US" sz="1600" dirty="0"/>
              <a:t>Optimized Resource Utilization</a:t>
            </a:r>
          </a:p>
          <a:p>
            <a:pPr marL="171450" indent="-17145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Better use of cart space, TM time, and existing workflows.</a:t>
            </a:r>
          </a:p>
          <a:p>
            <a:pPr defTabSz="825500" hangingPunct="0">
              <a:spcBef>
                <a:spcPts val="1200"/>
              </a:spcBef>
            </a:pPr>
            <a:r>
              <a:rPr lang="en-US" sz="1600" dirty="0"/>
              <a:t>Enhanced Flexibility</a:t>
            </a:r>
          </a:p>
          <a:p>
            <a:pPr marL="171450" indent="-17145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TMs can choose when to take more work, based on body load, cart space, and comfort.</a:t>
            </a:r>
          </a:p>
          <a:p>
            <a:pPr marL="171450" indent="-17145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Optional flow ensures safety and SLA protections remain intact.</a:t>
            </a:r>
          </a:p>
          <a:p>
            <a:pPr defTabSz="825500" hangingPunct="0">
              <a:spcBef>
                <a:spcPts val="1200"/>
              </a:spcBef>
            </a:pPr>
            <a:r>
              <a:rPr lang="en-US" sz="1600" dirty="0"/>
              <a:t>Fills the Technology Gap</a:t>
            </a:r>
          </a:p>
          <a:p>
            <a:pPr marL="171450" indent="-17145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Technology can’t perfectly optimize every scenario — but TMs can safely fill the remaining gap using real-time judgment.</a:t>
            </a:r>
          </a:p>
          <a:p>
            <a:pPr defTabSz="825500" hangingPunct="0">
              <a:spcBef>
                <a:spcPts val="1200"/>
              </a:spcBef>
            </a:pPr>
            <a:r>
              <a:rPr lang="en-US" sz="1600" dirty="0"/>
              <a:t>Improves TM Experience with Batch Size</a:t>
            </a:r>
          </a:p>
          <a:p>
            <a:pPr marL="171450" indent="-17145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Stores often share that batch sizes feel too big or too small for their needs.</a:t>
            </a:r>
            <a:b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</a:b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 Thin" panose="020B0404020202020204" pitchFamily="34" charset="0"/>
                <a:ea typeface="Helvetica for Target Thin" panose="020B0404020202020204" pitchFamily="34" charset="0"/>
              </a:rPr>
              <a:t>Dynamic Batching gives TMs more control, allowing them to adjust workload and batch size in the moment to what works best for them and their store.</a:t>
            </a:r>
          </a:p>
          <a:p>
            <a:pPr marL="171450" indent="-17145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1200" b="1" spc="30" dirty="0">
              <a:solidFill>
                <a:schemeClr val="tx1">
                  <a:lumMod val="75000"/>
                  <a:lumOff val="25000"/>
                </a:schemeClr>
              </a:solidFill>
              <a:latin typeface="Helvetica for Target Thin" panose="020B0404020202020204" pitchFamily="34" charset="0"/>
              <a:ea typeface="Helvetica for Target Thin" panose="020B0404020202020204" pitchFamily="34" charset="0"/>
            </a:endParaRPr>
          </a:p>
        </p:txBody>
      </p:sp>
      <p:pic>
        <p:nvPicPr>
          <p:cNvPr id="3" name="Picture 2" descr="A cartoon dog with a target and wings&#10;&#10;AI-generated content may be incorrect.">
            <a:extLst>
              <a:ext uri="{FF2B5EF4-FFF2-40B4-BE49-F238E27FC236}">
                <a16:creationId xmlns:a16="http://schemas.microsoft.com/office/drawing/2014/main" id="{F308D66A-F32F-A862-0411-23A37DABC9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09" y="664215"/>
            <a:ext cx="2252161" cy="225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1848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4723D-E2CB-5FEE-74E3-62C293537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572B19-7886-32B9-4C3F-C6465338470B}"/>
              </a:ext>
            </a:extLst>
          </p:cNvPr>
          <p:cNvSpPr txBox="1"/>
          <p:nvPr/>
        </p:nvSpPr>
        <p:spPr>
          <a:xfrm>
            <a:off x="450118" y="437062"/>
            <a:ext cx="9734405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2800"/>
              <a:t>Supporting Metrics (Shows Huge Potential)</a:t>
            </a:r>
          </a:p>
        </p:txBody>
      </p:sp>
      <p:sp>
        <p:nvSpPr>
          <p:cNvPr id="2" name="Rectangle: Rounded Corners 38">
            <a:extLst>
              <a:ext uri="{FF2B5EF4-FFF2-40B4-BE49-F238E27FC236}">
                <a16:creationId xmlns:a16="http://schemas.microsoft.com/office/drawing/2014/main" id="{16278CEB-D5BD-A6C4-6C4C-DDA05C18C08D}"/>
              </a:ext>
            </a:extLst>
          </p:cNvPr>
          <p:cNvSpPr/>
          <p:nvPr/>
        </p:nvSpPr>
        <p:spPr>
          <a:xfrm>
            <a:off x="1902373" y="1312812"/>
            <a:ext cx="8387253" cy="5224622"/>
          </a:xfrm>
          <a:prstGeom prst="roundRect">
            <a:avLst>
              <a:gd name="adj" fmla="val 10353"/>
            </a:avLst>
          </a:prstGeom>
          <a:solidFill>
            <a:srgbClr val="F7F7F7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0" rIns="91440" bIns="0" numCol="1" spcCol="38100" rtlCol="0" anchor="t">
            <a:noAutofit/>
          </a:bodyPr>
          <a:lstStyle/>
          <a:p>
            <a:pPr defTabSz="825500">
              <a:spcBef>
                <a:spcPts val="1200"/>
              </a:spcBef>
            </a:pPr>
            <a:r>
              <a:rPr lang="en-US" sz="1600" b="1" dirty="0">
                <a:latin typeface="Helvetica for Target"/>
                <a:cs typeface="Arial"/>
              </a:rPr>
              <a:t>Under-Filled Carts</a:t>
            </a:r>
          </a:p>
          <a:p>
            <a:pPr marL="171450" indent="-171450" defTabSz="825500">
              <a:spcBef>
                <a:spcPts val="1200"/>
              </a:spcBef>
              <a:buFont typeface="Arial,Sans-Serif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"/>
              </a:rPr>
              <a:t>~65% of GM (OPU) and Standard (SFS) batches are full and only ~38% of Grocery (OPU) batches are “full”</a:t>
            </a:r>
          </a:p>
          <a:p>
            <a:pPr defTabSz="825500">
              <a:spcBef>
                <a:spcPts val="1200"/>
              </a:spcBef>
            </a:pPr>
            <a:r>
              <a:rPr lang="en-US" sz="1600" b="1" dirty="0">
                <a:latin typeface="Helvetica for Target"/>
                <a:cs typeface="Arial"/>
              </a:rPr>
              <a:t>“Full” Doesn’t Mean Full</a:t>
            </a:r>
          </a:p>
          <a:p>
            <a:pPr marL="171450" indent="-171450" defTabSz="825500">
              <a:spcBef>
                <a:spcPts val="1200"/>
              </a:spcBef>
              <a:buFont typeface="Arial,Sans-Serif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"/>
              </a:rPr>
              <a:t>Most “full” batches hit business caps (orders/TCINs/units)</a:t>
            </a:r>
          </a:p>
          <a:p>
            <a:pPr marL="171450" indent="-171450" defTabSz="825500">
              <a:spcBef>
                <a:spcPts val="1200"/>
              </a:spcBef>
              <a:buFont typeface="Arial,Sans-Serif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"/>
              </a:rPr>
              <a:t>These caps do not reflect actual cart capacity</a:t>
            </a:r>
          </a:p>
          <a:p>
            <a:pPr defTabSz="825500">
              <a:spcBef>
                <a:spcPts val="1200"/>
              </a:spcBef>
            </a:pPr>
            <a:r>
              <a:rPr lang="en-US" sz="1600" b="1" dirty="0">
                <a:latin typeface="Helvetica for Target"/>
              </a:rPr>
              <a:t>Safety Capacity Still Available</a:t>
            </a:r>
          </a:p>
          <a:p>
            <a:pPr marL="171450" indent="-17145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"/>
                <a:ea typeface="Helvetica for Target Thin" panose="020B0404020202020204" pitchFamily="34" charset="0"/>
              </a:rPr>
              <a:t>~85% of all batches have space left under weight and volume limits</a:t>
            </a:r>
          </a:p>
          <a:p>
            <a:pPr marL="171450" indent="-17145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"/>
                <a:ea typeface="Helvetica for Target Thin" panose="020B0404020202020204" pitchFamily="34" charset="0"/>
              </a:rPr>
              <a:t>Indicates strong potential to safely add more items</a:t>
            </a:r>
          </a:p>
          <a:p>
            <a:pPr defTabSz="825500" hangingPunct="0">
              <a:spcBef>
                <a:spcPts val="1200"/>
              </a:spcBef>
            </a:pPr>
            <a:r>
              <a:rPr lang="en-US" sz="1600" b="1" dirty="0">
                <a:latin typeface="Helvetica for Target"/>
              </a:rPr>
              <a:t>Time Left to Pick</a:t>
            </a:r>
          </a:p>
          <a:p>
            <a:pPr marL="171450" indent="-17145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"/>
                <a:ea typeface="Helvetica for Target Thin" panose="020B0404020202020204" pitchFamily="34" charset="0"/>
              </a:rPr>
              <a:t>~57% times GM batches finish 11+ minutes early &amp; ~95% times Standard batches start 2</a:t>
            </a:r>
            <a:r>
              <a:rPr lang="en-US" sz="1200" spc="3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"/>
                <a:ea typeface="Helvetica for Target Thin" panose="020B0404020202020204" pitchFamily="34" charset="0"/>
              </a:rPr>
              <a:t>+ hours.</a:t>
            </a:r>
            <a:endParaRPr lang="en-US" sz="1200" spc="30" dirty="0">
              <a:solidFill>
                <a:schemeClr val="tx1">
                  <a:lumMod val="75000"/>
                  <a:lumOff val="25000"/>
                </a:schemeClr>
              </a:solidFill>
              <a:latin typeface="Helvetica for Target"/>
              <a:ea typeface="Helvetica for Target Thin" panose="020B0404020202020204" pitchFamily="34" charset="0"/>
            </a:endParaRPr>
          </a:p>
          <a:p>
            <a:pPr defTabSz="825500" hangingPunct="0">
              <a:spcBef>
                <a:spcPts val="1200"/>
              </a:spcBef>
            </a:pPr>
            <a:r>
              <a:rPr lang="en-US" sz="1600" b="1" dirty="0">
                <a:latin typeface="Helvetica for Target"/>
              </a:rPr>
              <a:t>What These Metrics Indicate?</a:t>
            </a:r>
          </a:p>
          <a:p>
            <a:pPr marL="171450" indent="-17145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"/>
                <a:ea typeface="Helvetica for Target Thin" panose="020B0404020202020204" pitchFamily="34" charset="0"/>
              </a:rPr>
              <a:t>These are clear indicators of huge batches have space + time remaining</a:t>
            </a:r>
          </a:p>
          <a:p>
            <a:pPr marL="171450" indent="-171450" defTabSz="825500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spc="3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for Target"/>
                <a:ea typeface="Helvetica for Target Thin" panose="020B0404020202020204" pitchFamily="34" charset="0"/>
              </a:rPr>
              <a:t>Clear opportunity to improve efficiency with Dynamic Batching</a:t>
            </a:r>
          </a:p>
        </p:txBody>
      </p:sp>
      <p:pic>
        <p:nvPicPr>
          <p:cNvPr id="6" name="Picture 5" descr="A green dollar bills on a black background&#10;&#10;AI-generated content may be incorrect.">
            <a:extLst>
              <a:ext uri="{FF2B5EF4-FFF2-40B4-BE49-F238E27FC236}">
                <a16:creationId xmlns:a16="http://schemas.microsoft.com/office/drawing/2014/main" id="{AECBCC88-78A3-8CBA-9593-3AE7687BE7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43658">
            <a:off x="188594" y="1440384"/>
            <a:ext cx="1662909" cy="107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17137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779EF60-5B5C-D4E8-1A43-D65DDF89D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51081" y="176646"/>
            <a:ext cx="1905000" cy="1905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5AFDD3-702C-836A-31AB-18073FEB8B2C}"/>
              </a:ext>
            </a:extLst>
          </p:cNvPr>
          <p:cNvSpPr txBox="1"/>
          <p:nvPr/>
        </p:nvSpPr>
        <p:spPr>
          <a:xfrm>
            <a:off x="2582554" y="1722573"/>
            <a:ext cx="5445940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for Target" panose="020B0504020202020204" pitchFamily="34" charset="77"/>
                <a:ea typeface="Helvetica for Target" panose="020B0504020202020204" pitchFamily="34" charset="77"/>
                <a:cs typeface="Helvetica Neue"/>
                <a:sym typeface="Helvetica Neue"/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3B787D-4860-0C01-AA35-1FB2FC87AFCC}"/>
              </a:ext>
            </a:extLst>
          </p:cNvPr>
          <p:cNvSpPr txBox="1"/>
          <p:nvPr/>
        </p:nvSpPr>
        <p:spPr>
          <a:xfrm>
            <a:off x="1865581" y="2999264"/>
            <a:ext cx="5445940" cy="19492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 hangingPunct="0"/>
            <a:r>
              <a:rPr kumimoji="0" lang="en-US" sz="20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for Target Light" panose="020B0304020202020204" pitchFamily="34" charset="77"/>
                <a:ea typeface="Helvetica for Target Light" panose="020B0304020202020204" pitchFamily="34" charset="77"/>
                <a:cs typeface="Helvetica Neue"/>
                <a:sym typeface="Helvetica Neue"/>
              </a:rPr>
              <a:t>For Questions</a:t>
            </a:r>
            <a:r>
              <a:rPr lang="en-US" sz="2000" dirty="0">
                <a:solidFill>
                  <a:srgbClr val="000000"/>
                </a:solidFill>
                <a:latin typeface="Helvetica for Target Light" panose="020B0304020202020204" pitchFamily="34" charset="77"/>
                <a:ea typeface="Helvetica for Target Light" panose="020B0304020202020204" pitchFamily="34" charset="77"/>
                <a:cs typeface="Helvetica Neue"/>
                <a:sym typeface="Helvetica Neue"/>
              </a:rPr>
              <a:t>, </a:t>
            </a:r>
            <a:r>
              <a:rPr kumimoji="0" lang="en-US" sz="20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for Target Light" panose="020B0304020202020204" pitchFamily="34" charset="77"/>
                <a:ea typeface="Helvetica for Target Light" panose="020B0304020202020204" pitchFamily="34" charset="77"/>
                <a:cs typeface="Helvetica Neue"/>
                <a:sym typeface="Helvetica Neue"/>
              </a:rPr>
              <a:t>Reach out:</a:t>
            </a:r>
          </a:p>
          <a:p>
            <a:pPr defTabSz="825500" hangingPunct="0"/>
            <a:endParaRPr kumimoji="0" lang="en-US" sz="20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for Target Light" panose="020B0304020202020204" pitchFamily="34" charset="77"/>
              <a:ea typeface="Helvetica for Target Light" panose="020B0304020202020204" pitchFamily="34" charset="77"/>
              <a:cs typeface="Helvetica Neue"/>
              <a:sym typeface="Helvetica Neue"/>
            </a:endParaRPr>
          </a:p>
          <a:p>
            <a:pPr defTabSz="825500" hangingPunct="0"/>
            <a:r>
              <a:rPr kumimoji="0" lang="en-US" sz="2000" b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for Target Light" panose="020B0304020202020204" pitchFamily="34" charset="77"/>
                <a:ea typeface="Helvetica for Target Light" panose="020B0304020202020204" pitchFamily="34" charset="77"/>
                <a:cs typeface="Helvetica Neue"/>
                <a:sym typeface="Helvetica Neue"/>
              </a:rPr>
              <a:t>Kapil Gangwal</a:t>
            </a:r>
          </a:p>
          <a:p>
            <a:pPr defTabSz="825500" hangingPunct="0"/>
            <a:r>
              <a:rPr kumimoji="0" lang="en-US" sz="20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for Target Light" panose="020B0304020202020204" pitchFamily="34" charset="77"/>
                <a:ea typeface="Helvetica for Target Light" panose="020B0304020202020204" pitchFamily="34" charset="77"/>
                <a:cs typeface="Helvetica Neue"/>
                <a:sym typeface="Helvetica Neue"/>
                <a:hlinkClick r:id="rId4"/>
              </a:rPr>
              <a:t>kapil.gangwal2@target.com</a:t>
            </a:r>
            <a:endParaRPr kumimoji="0" lang="en-US" sz="20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for Target Light" panose="020B0304020202020204" pitchFamily="34" charset="77"/>
              <a:ea typeface="Helvetica for Target Light" panose="020B0304020202020204" pitchFamily="34" charset="77"/>
              <a:cs typeface="Helvetica Neue"/>
              <a:sym typeface="Helvetica Neue"/>
            </a:endParaRPr>
          </a:p>
          <a:p>
            <a:pPr defTabSz="825500" hangingPunct="0"/>
            <a:r>
              <a:rPr lang="en-US" sz="2000" dirty="0">
                <a:hlinkClick r:id="rId5"/>
              </a:rPr>
              <a:t>#iw25-dynamic-batching</a:t>
            </a:r>
            <a:endParaRPr kumimoji="0" lang="en-US" sz="20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for Target Light" panose="020B0304020202020204" pitchFamily="34" charset="77"/>
              <a:ea typeface="Helvetica for Target Light" panose="020B0304020202020204" pitchFamily="34" charset="77"/>
              <a:cs typeface="Helvetica Neue"/>
              <a:sym typeface="Helvetica Neue"/>
            </a:endParaRPr>
          </a:p>
          <a:p>
            <a:pPr defTabSz="825500" hangingPunct="0"/>
            <a:endParaRPr kumimoji="0" lang="en-US" sz="20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for Target Light" panose="020B0304020202020204" pitchFamily="34" charset="77"/>
              <a:ea typeface="Helvetica for Target Light" panose="020B0304020202020204" pitchFamily="34" charset="77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7642764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nnovation Week 2025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e5e696e-425a-4c30-9273-afe6ad376683">
      <Terms xmlns="http://schemas.microsoft.com/office/infopath/2007/PartnerControls"/>
    </lcf76f155ced4ddcb4097134ff3c332f>
    <TaxCatchAll xmlns="4a3b00a9-e15d-4980-97a3-07b1cb78482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21D9A16A39D7459C3162435D62CDEA" ma:contentTypeVersion="12" ma:contentTypeDescription="Create a new document." ma:contentTypeScope="" ma:versionID="5147ca6a3ef3c294e251112446c28657">
  <xsd:schema xmlns:xsd="http://www.w3.org/2001/XMLSchema" xmlns:xs="http://www.w3.org/2001/XMLSchema" xmlns:p="http://schemas.microsoft.com/office/2006/metadata/properties" xmlns:ns2="4e5e696e-425a-4c30-9273-afe6ad376683" xmlns:ns3="4a3b00a9-e15d-4980-97a3-07b1cb784828" targetNamespace="http://schemas.microsoft.com/office/2006/metadata/properties" ma:root="true" ma:fieldsID="bc1aa93d915be9b613cf7061ef10bcb2" ns2:_="" ns3:_="">
    <xsd:import namespace="4e5e696e-425a-4c30-9273-afe6ad376683"/>
    <xsd:import namespace="4a3b00a9-e15d-4980-97a3-07b1cb78482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e696e-425a-4c30-9273-afe6ad3766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1efadb4-afc5-4cc6-8b8c-2b1d29ec773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b00a9-e15d-4980-97a3-07b1cb78482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1c7447f-1ae1-4ebf-b6b6-7bc1edab9ff4}" ma:internalName="TaxCatchAll" ma:showField="CatchAllData" ma:web="4a3b00a9-e15d-4980-97a3-07b1cb7848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CAD3BB8-4094-4A73-AC7A-6BE45100C05C}">
  <ds:schemaRefs>
    <ds:schemaRef ds:uri="http://schemas.microsoft.com/office/infopath/2007/PartnerControls"/>
    <ds:schemaRef ds:uri="http://www.w3.org/XML/1998/namespace"/>
    <ds:schemaRef ds:uri="4a3b00a9-e15d-4980-97a3-07b1cb784828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4e5e696e-425a-4c30-9273-afe6ad376683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865EB5D2-29EA-4437-862C-3060E8AB620A}">
  <ds:schemaRefs>
    <ds:schemaRef ds:uri="4a3b00a9-e15d-4980-97a3-07b1cb784828"/>
    <ds:schemaRef ds:uri="4e5e696e-425a-4c30-9273-afe6ad37668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1C06792-16F3-4066-B197-14C601D9A82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705</Words>
  <Application>Microsoft Macintosh PowerPoint</Application>
  <PresentationFormat>Widescreen</PresentationFormat>
  <Paragraphs>79</Paragraphs>
  <Slides>7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Arial,Sans-Serif</vt:lpstr>
      <vt:lpstr>Calibri</vt:lpstr>
      <vt:lpstr>Helvetica for Target</vt:lpstr>
      <vt:lpstr>Helvetica for Target Light</vt:lpstr>
      <vt:lpstr>Helvetica for Target Thin</vt:lpstr>
      <vt:lpstr>Helvetica Neue</vt:lpstr>
      <vt:lpstr>Innovation Week 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Target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Matthew.Tollefsrud</dc:creator>
  <cp:lastModifiedBy>Kapil.Gangwal2</cp:lastModifiedBy>
  <cp:revision>3</cp:revision>
  <dcterms:created xsi:type="dcterms:W3CDTF">2023-08-21T20:27:37Z</dcterms:created>
  <dcterms:modified xsi:type="dcterms:W3CDTF">2026-01-13T16:04:54Z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0x010100A121D9A16A39D7459C3162435D62CDEA</vt:lpwstr>
  </property>
  <property fmtid="{D5CDD505-2E9C-101B-9397-08002B2CF9AE}" pid="3" name="MediaServiceImageTags">
    <vt:lpwstr/>
  </property>
</Properties>
</file>